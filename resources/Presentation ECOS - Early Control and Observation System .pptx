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0" b="1" i="0">
                <a:solidFill>
                  <a:srgbClr val="F4E7E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1" i="0">
                <a:solidFill>
                  <a:srgbClr val="F4E7E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7B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490165" y="3117748"/>
            <a:ext cx="4755515" cy="963294"/>
          </a:xfrm>
          <a:custGeom>
            <a:avLst/>
            <a:gdLst/>
            <a:ahLst/>
            <a:cxnLst/>
            <a:rect l="l" t="t" r="r" b="b"/>
            <a:pathLst>
              <a:path w="4755515" h="963295">
                <a:moveTo>
                  <a:pt x="4279882" y="963066"/>
                </a:moveTo>
                <a:lnTo>
                  <a:pt x="476249" y="963066"/>
                </a:lnTo>
                <a:lnTo>
                  <a:pt x="427556" y="960607"/>
                </a:lnTo>
                <a:lnTo>
                  <a:pt x="380268" y="953390"/>
                </a:lnTo>
                <a:lnTo>
                  <a:pt x="334627" y="941655"/>
                </a:lnTo>
                <a:lnTo>
                  <a:pt x="290872" y="925640"/>
                </a:lnTo>
                <a:lnTo>
                  <a:pt x="249240" y="905585"/>
                </a:lnTo>
                <a:lnTo>
                  <a:pt x="209974" y="881730"/>
                </a:lnTo>
                <a:lnTo>
                  <a:pt x="173310" y="854313"/>
                </a:lnTo>
                <a:lnTo>
                  <a:pt x="139490" y="823575"/>
                </a:lnTo>
                <a:lnTo>
                  <a:pt x="108752" y="789755"/>
                </a:lnTo>
                <a:lnTo>
                  <a:pt x="81336" y="753092"/>
                </a:lnTo>
                <a:lnTo>
                  <a:pt x="57480" y="713825"/>
                </a:lnTo>
                <a:lnTo>
                  <a:pt x="37426" y="672194"/>
                </a:lnTo>
                <a:lnTo>
                  <a:pt x="21411" y="628438"/>
                </a:lnTo>
                <a:lnTo>
                  <a:pt x="9675" y="582797"/>
                </a:lnTo>
                <a:lnTo>
                  <a:pt x="2458" y="535510"/>
                </a:lnTo>
                <a:lnTo>
                  <a:pt x="0" y="486816"/>
                </a:lnTo>
                <a:lnTo>
                  <a:pt x="0" y="476250"/>
                </a:lnTo>
                <a:lnTo>
                  <a:pt x="2458" y="427556"/>
                </a:lnTo>
                <a:lnTo>
                  <a:pt x="9675" y="380269"/>
                </a:lnTo>
                <a:lnTo>
                  <a:pt x="21411" y="334627"/>
                </a:lnTo>
                <a:lnTo>
                  <a:pt x="37426" y="290872"/>
                </a:lnTo>
                <a:lnTo>
                  <a:pt x="57480" y="249241"/>
                </a:lnTo>
                <a:lnTo>
                  <a:pt x="81336" y="209974"/>
                </a:lnTo>
                <a:lnTo>
                  <a:pt x="108752" y="173310"/>
                </a:lnTo>
                <a:lnTo>
                  <a:pt x="139490" y="139490"/>
                </a:lnTo>
                <a:lnTo>
                  <a:pt x="173310" y="108752"/>
                </a:lnTo>
                <a:lnTo>
                  <a:pt x="209974" y="81336"/>
                </a:lnTo>
                <a:lnTo>
                  <a:pt x="249240" y="57480"/>
                </a:lnTo>
                <a:lnTo>
                  <a:pt x="290872" y="37426"/>
                </a:lnTo>
                <a:lnTo>
                  <a:pt x="334627" y="21411"/>
                </a:lnTo>
                <a:lnTo>
                  <a:pt x="380268" y="9675"/>
                </a:lnTo>
                <a:lnTo>
                  <a:pt x="427556" y="2458"/>
                </a:lnTo>
                <a:lnTo>
                  <a:pt x="476249" y="0"/>
                </a:lnTo>
                <a:lnTo>
                  <a:pt x="4279882" y="0"/>
                </a:lnTo>
                <a:lnTo>
                  <a:pt x="4328576" y="2458"/>
                </a:lnTo>
                <a:lnTo>
                  <a:pt x="4375863" y="9675"/>
                </a:lnTo>
                <a:lnTo>
                  <a:pt x="4421505" y="21411"/>
                </a:lnTo>
                <a:lnTo>
                  <a:pt x="4465261" y="37426"/>
                </a:lnTo>
                <a:lnTo>
                  <a:pt x="4506892" y="57480"/>
                </a:lnTo>
                <a:lnTo>
                  <a:pt x="4546158" y="81336"/>
                </a:lnTo>
                <a:lnTo>
                  <a:pt x="4582822" y="108752"/>
                </a:lnTo>
                <a:lnTo>
                  <a:pt x="4616642" y="139490"/>
                </a:lnTo>
                <a:lnTo>
                  <a:pt x="4647380" y="173310"/>
                </a:lnTo>
                <a:lnTo>
                  <a:pt x="4674797" y="209974"/>
                </a:lnTo>
                <a:lnTo>
                  <a:pt x="4698652" y="249241"/>
                </a:lnTo>
                <a:lnTo>
                  <a:pt x="4718707" y="290872"/>
                </a:lnTo>
                <a:lnTo>
                  <a:pt x="4734721" y="334627"/>
                </a:lnTo>
                <a:lnTo>
                  <a:pt x="4746457" y="380269"/>
                </a:lnTo>
                <a:lnTo>
                  <a:pt x="4753674" y="427556"/>
                </a:lnTo>
                <a:lnTo>
                  <a:pt x="4755139" y="456579"/>
                </a:lnTo>
                <a:lnTo>
                  <a:pt x="4755139" y="506486"/>
                </a:lnTo>
                <a:lnTo>
                  <a:pt x="4746457" y="582797"/>
                </a:lnTo>
                <a:lnTo>
                  <a:pt x="4734721" y="628438"/>
                </a:lnTo>
                <a:lnTo>
                  <a:pt x="4718707" y="672194"/>
                </a:lnTo>
                <a:lnTo>
                  <a:pt x="4698652" y="713825"/>
                </a:lnTo>
                <a:lnTo>
                  <a:pt x="4674797" y="753092"/>
                </a:lnTo>
                <a:lnTo>
                  <a:pt x="4647380" y="789755"/>
                </a:lnTo>
                <a:lnTo>
                  <a:pt x="4616642" y="823575"/>
                </a:lnTo>
                <a:lnTo>
                  <a:pt x="4582822" y="854313"/>
                </a:lnTo>
                <a:lnTo>
                  <a:pt x="4546158" y="881730"/>
                </a:lnTo>
                <a:lnTo>
                  <a:pt x="4506892" y="905585"/>
                </a:lnTo>
                <a:lnTo>
                  <a:pt x="4465261" y="925640"/>
                </a:lnTo>
                <a:lnTo>
                  <a:pt x="4421505" y="941655"/>
                </a:lnTo>
                <a:lnTo>
                  <a:pt x="4375863" y="953390"/>
                </a:lnTo>
                <a:lnTo>
                  <a:pt x="4328576" y="960607"/>
                </a:lnTo>
                <a:lnTo>
                  <a:pt x="4279882" y="963066"/>
                </a:lnTo>
                <a:close/>
              </a:path>
            </a:pathLst>
          </a:custGeom>
          <a:solidFill>
            <a:srgbClr val="F4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1" i="0">
                <a:solidFill>
                  <a:srgbClr val="F4E7E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1" i="0">
                <a:solidFill>
                  <a:srgbClr val="F4E7E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7B181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3386" y="0"/>
            <a:ext cx="10324614" cy="1028308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8869560" y="718822"/>
            <a:ext cx="8561705" cy="8742045"/>
          </a:xfrm>
          <a:custGeom>
            <a:avLst/>
            <a:gdLst/>
            <a:ahLst/>
            <a:cxnLst/>
            <a:rect l="l" t="t" r="r" b="b"/>
            <a:pathLst>
              <a:path w="8561705" h="8742045">
                <a:moveTo>
                  <a:pt x="8279018" y="8741491"/>
                </a:moveTo>
                <a:lnTo>
                  <a:pt x="285750" y="8741491"/>
                </a:lnTo>
                <a:lnTo>
                  <a:pt x="240779" y="8737931"/>
                </a:lnTo>
                <a:lnTo>
                  <a:pt x="197320" y="8727464"/>
                </a:lnTo>
                <a:lnTo>
                  <a:pt x="156142" y="8710407"/>
                </a:lnTo>
                <a:lnTo>
                  <a:pt x="118010" y="8687079"/>
                </a:lnTo>
                <a:lnTo>
                  <a:pt x="83694" y="8657796"/>
                </a:lnTo>
                <a:lnTo>
                  <a:pt x="54412" y="8623480"/>
                </a:lnTo>
                <a:lnTo>
                  <a:pt x="31083" y="8585349"/>
                </a:lnTo>
                <a:lnTo>
                  <a:pt x="14026" y="8544170"/>
                </a:lnTo>
                <a:lnTo>
                  <a:pt x="3559" y="8500712"/>
                </a:lnTo>
                <a:lnTo>
                  <a:pt x="0" y="8455741"/>
                </a:lnTo>
                <a:lnTo>
                  <a:pt x="0" y="285749"/>
                </a:lnTo>
                <a:lnTo>
                  <a:pt x="3559" y="240779"/>
                </a:lnTo>
                <a:lnTo>
                  <a:pt x="14026" y="197320"/>
                </a:lnTo>
                <a:lnTo>
                  <a:pt x="31083" y="156141"/>
                </a:lnTo>
                <a:lnTo>
                  <a:pt x="54412" y="118010"/>
                </a:lnTo>
                <a:lnTo>
                  <a:pt x="83694" y="83694"/>
                </a:lnTo>
                <a:lnTo>
                  <a:pt x="118010" y="54412"/>
                </a:lnTo>
                <a:lnTo>
                  <a:pt x="156142" y="31083"/>
                </a:lnTo>
                <a:lnTo>
                  <a:pt x="197320" y="14026"/>
                </a:lnTo>
                <a:lnTo>
                  <a:pt x="240779" y="3559"/>
                </a:lnTo>
                <a:lnTo>
                  <a:pt x="285750" y="0"/>
                </a:lnTo>
                <a:lnTo>
                  <a:pt x="8279018" y="0"/>
                </a:lnTo>
                <a:lnTo>
                  <a:pt x="8323988" y="3559"/>
                </a:lnTo>
                <a:lnTo>
                  <a:pt x="8367447" y="14026"/>
                </a:lnTo>
                <a:lnTo>
                  <a:pt x="8408626" y="31083"/>
                </a:lnTo>
                <a:lnTo>
                  <a:pt x="8446757" y="54412"/>
                </a:lnTo>
                <a:lnTo>
                  <a:pt x="8481074" y="83694"/>
                </a:lnTo>
                <a:lnTo>
                  <a:pt x="8510356" y="118010"/>
                </a:lnTo>
                <a:lnTo>
                  <a:pt x="8533683" y="156141"/>
                </a:lnTo>
                <a:lnTo>
                  <a:pt x="8550740" y="197320"/>
                </a:lnTo>
                <a:lnTo>
                  <a:pt x="8561207" y="240779"/>
                </a:lnTo>
                <a:lnTo>
                  <a:pt x="8561695" y="246951"/>
                </a:lnTo>
                <a:lnTo>
                  <a:pt x="8561695" y="8494539"/>
                </a:lnTo>
                <a:lnTo>
                  <a:pt x="8550740" y="8544170"/>
                </a:lnTo>
                <a:lnTo>
                  <a:pt x="8533683" y="8585349"/>
                </a:lnTo>
                <a:lnTo>
                  <a:pt x="8510356" y="8623480"/>
                </a:lnTo>
                <a:lnTo>
                  <a:pt x="8481074" y="8657796"/>
                </a:lnTo>
                <a:lnTo>
                  <a:pt x="8446757" y="8687079"/>
                </a:lnTo>
                <a:lnTo>
                  <a:pt x="8408626" y="8710407"/>
                </a:lnTo>
                <a:lnTo>
                  <a:pt x="8367447" y="8727464"/>
                </a:lnTo>
                <a:lnTo>
                  <a:pt x="8323988" y="8737931"/>
                </a:lnTo>
                <a:lnTo>
                  <a:pt x="8279018" y="8741491"/>
                </a:lnTo>
                <a:close/>
              </a:path>
            </a:pathLst>
          </a:custGeom>
          <a:solidFill>
            <a:srgbClr val="F4E7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67300" y="873125"/>
            <a:ext cx="11290935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0" b="1" i="0">
                <a:solidFill>
                  <a:srgbClr val="F4E7E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12093" y="3984184"/>
            <a:ext cx="7329170" cy="3482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3" Type="http://schemas.openxmlformats.org/officeDocument/2006/relationships/hyperlink" Target="https://github.com/Nicolas-12000/ECOS.git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806" y="-12157"/>
            <a:ext cx="18291175" cy="10299700"/>
            <a:chOff x="-2806" y="-12157"/>
            <a:chExt cx="18291175" cy="10299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2806" y="-12157"/>
              <a:ext cx="12819308" cy="62217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7629" y="2497760"/>
              <a:ext cx="11930369" cy="77892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3256" y="4829315"/>
              <a:ext cx="6038578" cy="137357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760158" y="867312"/>
            <a:ext cx="14767560" cy="3723004"/>
          </a:xfrm>
          <a:prstGeom prst="rect"/>
        </p:spPr>
        <p:txBody>
          <a:bodyPr wrap="square" lIns="0" tIns="250190" rIns="0" bIns="0" rtlCol="0" vert="horz">
            <a:spAutoFit/>
          </a:bodyPr>
          <a:lstStyle/>
          <a:p>
            <a:pPr algn="ctr" marL="12065" marR="5080">
              <a:lnSpc>
                <a:spcPts val="9080"/>
              </a:lnSpc>
              <a:spcBef>
                <a:spcPts val="1970"/>
              </a:spcBef>
            </a:pPr>
            <a:r>
              <a:rPr dirty="0" sz="9100" spc="70"/>
              <a:t>ECOS</a:t>
            </a:r>
            <a:r>
              <a:rPr dirty="0" sz="9100" spc="-405"/>
              <a:t> </a:t>
            </a:r>
            <a:r>
              <a:rPr dirty="0" sz="9100" spc="-1914"/>
              <a:t>—</a:t>
            </a:r>
            <a:r>
              <a:rPr dirty="0" sz="9100" spc="-220"/>
              <a:t> </a:t>
            </a:r>
            <a:r>
              <a:rPr dirty="0" sz="9100" spc="-120"/>
              <a:t>EARLY</a:t>
            </a:r>
            <a:r>
              <a:rPr dirty="0" sz="9100" spc="-310"/>
              <a:t> </a:t>
            </a:r>
            <a:r>
              <a:rPr dirty="0" sz="9100" spc="-10"/>
              <a:t>CONTROL </a:t>
            </a:r>
            <a:r>
              <a:rPr dirty="0" sz="9100" spc="235"/>
              <a:t>AND</a:t>
            </a:r>
            <a:r>
              <a:rPr dirty="0" sz="9100" spc="-215"/>
              <a:t> </a:t>
            </a:r>
            <a:r>
              <a:rPr dirty="0" sz="9100" spc="250"/>
              <a:t>OBSERVATION </a:t>
            </a:r>
            <a:r>
              <a:rPr dirty="0" sz="9100" spc="200"/>
              <a:t>SYSTEM</a:t>
            </a:r>
            <a:endParaRPr sz="9100"/>
          </a:p>
        </p:txBody>
      </p:sp>
      <p:sp>
        <p:nvSpPr>
          <p:cNvPr id="7" name="object 7"/>
          <p:cNvSpPr txBox="1"/>
          <p:nvPr/>
        </p:nvSpPr>
        <p:spPr>
          <a:xfrm>
            <a:off x="1839328" y="8031176"/>
            <a:ext cx="8479790" cy="901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9080" marR="5080" indent="-1517015">
              <a:lnSpc>
                <a:spcPct val="114999"/>
              </a:lnSpc>
              <a:spcBef>
                <a:spcPts val="100"/>
              </a:spcBef>
            </a:pPr>
            <a:r>
              <a:rPr dirty="0" sz="2500" spc="65">
                <a:solidFill>
                  <a:srgbClr val="F4E7E7"/>
                </a:solidFill>
                <a:latin typeface="Trebuchet MS"/>
                <a:cs typeface="Trebuchet MS"/>
              </a:rPr>
              <a:t>Concurso:</a:t>
            </a:r>
            <a:r>
              <a:rPr dirty="0" sz="2500" spc="-9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 spc="110">
                <a:solidFill>
                  <a:srgbClr val="F4E7E7"/>
                </a:solidFill>
                <a:latin typeface="Trebuchet MS"/>
                <a:cs typeface="Trebuchet MS"/>
              </a:rPr>
              <a:t>Datos</a:t>
            </a:r>
            <a:r>
              <a:rPr dirty="0" sz="2500" spc="-9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F4E7E7"/>
                </a:solidFill>
                <a:latin typeface="Trebuchet MS"/>
                <a:cs typeface="Trebuchet MS"/>
              </a:rPr>
              <a:t>al</a:t>
            </a:r>
            <a:r>
              <a:rPr dirty="0" sz="2500" spc="-9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 spc="60">
                <a:solidFill>
                  <a:srgbClr val="F4E7E7"/>
                </a:solidFill>
                <a:latin typeface="Trebuchet MS"/>
                <a:cs typeface="Trebuchet MS"/>
              </a:rPr>
              <a:t>Ecosistema</a:t>
            </a:r>
            <a:r>
              <a:rPr dirty="0" sz="2500" spc="-9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 spc="100">
                <a:solidFill>
                  <a:srgbClr val="F4E7E7"/>
                </a:solidFill>
                <a:latin typeface="Trebuchet MS"/>
                <a:cs typeface="Trebuchet MS"/>
              </a:rPr>
              <a:t>2026</a:t>
            </a:r>
            <a:r>
              <a:rPr dirty="0" sz="2500" spc="-9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 spc="325">
                <a:solidFill>
                  <a:srgbClr val="F4E7E7"/>
                </a:solidFill>
                <a:latin typeface="Trebuchet MS"/>
                <a:cs typeface="Trebuchet MS"/>
              </a:rPr>
              <a:t>–</a:t>
            </a:r>
            <a:r>
              <a:rPr dirty="0" sz="2500" spc="-9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F4E7E7"/>
                </a:solidFill>
                <a:latin typeface="Trebuchet MS"/>
                <a:cs typeface="Trebuchet MS"/>
              </a:rPr>
              <a:t>IA</a:t>
            </a:r>
            <a:r>
              <a:rPr dirty="0" sz="2500" spc="-9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 spc="70">
                <a:solidFill>
                  <a:srgbClr val="F4E7E7"/>
                </a:solidFill>
                <a:latin typeface="Trebuchet MS"/>
                <a:cs typeface="Trebuchet MS"/>
              </a:rPr>
              <a:t>para</a:t>
            </a:r>
            <a:r>
              <a:rPr dirty="0" sz="2500" spc="-9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 spc="75">
                <a:solidFill>
                  <a:srgbClr val="F4E7E7"/>
                </a:solidFill>
                <a:latin typeface="Trebuchet MS"/>
                <a:cs typeface="Trebuchet MS"/>
              </a:rPr>
              <a:t>Colombia</a:t>
            </a:r>
            <a:r>
              <a:rPr dirty="0" sz="2500" spc="-9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F4E7E7"/>
                </a:solidFill>
                <a:latin typeface="Trebuchet MS"/>
                <a:cs typeface="Trebuchet MS"/>
              </a:rPr>
              <a:t>| Categoría</a:t>
            </a:r>
            <a:r>
              <a:rPr dirty="0" sz="2500" spc="-2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 spc="50">
                <a:solidFill>
                  <a:srgbClr val="F4E7E7"/>
                </a:solidFill>
                <a:latin typeface="Trebuchet MS"/>
                <a:cs typeface="Trebuchet MS"/>
              </a:rPr>
              <a:t>|</a:t>
            </a:r>
            <a:r>
              <a:rPr dirty="0" sz="2500" spc="-2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F4E7E7"/>
                </a:solidFill>
                <a:latin typeface="Trebuchet MS"/>
                <a:cs typeface="Trebuchet MS"/>
              </a:rPr>
              <a:t>Reto</a:t>
            </a:r>
            <a:r>
              <a:rPr dirty="0" sz="2500" spc="-2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 spc="-80">
                <a:solidFill>
                  <a:srgbClr val="F4E7E7"/>
                </a:solidFill>
                <a:latin typeface="Trebuchet MS"/>
                <a:cs typeface="Trebuchet MS"/>
              </a:rPr>
              <a:t>1:</a:t>
            </a:r>
            <a:r>
              <a:rPr dirty="0" sz="2500" spc="-2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 spc="80">
                <a:solidFill>
                  <a:srgbClr val="F4E7E7"/>
                </a:solidFill>
                <a:latin typeface="Trebuchet MS"/>
                <a:cs typeface="Trebuchet MS"/>
              </a:rPr>
              <a:t>Salud</a:t>
            </a:r>
            <a:r>
              <a:rPr dirty="0" sz="2500" spc="-2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F4E7E7"/>
                </a:solidFill>
                <a:latin typeface="Trebuchet MS"/>
                <a:cs typeface="Trebuchet MS"/>
              </a:rPr>
              <a:t>y</a:t>
            </a:r>
            <a:r>
              <a:rPr dirty="0" sz="2500" spc="-2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 spc="40">
                <a:solidFill>
                  <a:srgbClr val="F4E7E7"/>
                </a:solidFill>
                <a:latin typeface="Trebuchet MS"/>
                <a:cs typeface="Trebuchet MS"/>
              </a:rPr>
              <a:t>Bienestar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50963" y="7752868"/>
            <a:ext cx="3633470" cy="1778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4999"/>
              </a:lnSpc>
              <a:spcBef>
                <a:spcPts val="100"/>
              </a:spcBef>
            </a:pPr>
            <a:r>
              <a:rPr dirty="0" sz="2500" spc="55">
                <a:solidFill>
                  <a:srgbClr val="F4E7E7"/>
                </a:solidFill>
                <a:latin typeface="Trebuchet MS"/>
                <a:cs typeface="Trebuchet MS"/>
              </a:rPr>
              <a:t>Nicolás</a:t>
            </a:r>
            <a:r>
              <a:rPr dirty="0" sz="2500" spc="4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F4E7E7"/>
                </a:solidFill>
                <a:latin typeface="Trebuchet MS"/>
                <a:cs typeface="Trebuchet MS"/>
              </a:rPr>
              <a:t>Alejandro</a:t>
            </a:r>
            <a:r>
              <a:rPr dirty="0" sz="2500" spc="4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F4E7E7"/>
                </a:solidFill>
                <a:latin typeface="Trebuchet MS"/>
                <a:cs typeface="Trebuchet MS"/>
              </a:rPr>
              <a:t>García </a:t>
            </a:r>
            <a:r>
              <a:rPr dirty="0" sz="2500" spc="-20">
                <a:solidFill>
                  <a:srgbClr val="F4E7E7"/>
                </a:solidFill>
                <a:latin typeface="Trebuchet MS"/>
                <a:cs typeface="Trebuchet MS"/>
              </a:rPr>
              <a:t>Juan</a:t>
            </a:r>
            <a:r>
              <a:rPr dirty="0" sz="2500" spc="-13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 spc="55">
                <a:solidFill>
                  <a:srgbClr val="F4E7E7"/>
                </a:solidFill>
                <a:latin typeface="Trebuchet MS"/>
                <a:cs typeface="Trebuchet MS"/>
              </a:rPr>
              <a:t>Camilo</a:t>
            </a:r>
            <a:r>
              <a:rPr dirty="0" sz="2500" spc="-13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 spc="55">
                <a:solidFill>
                  <a:srgbClr val="F4E7E7"/>
                </a:solidFill>
                <a:latin typeface="Trebuchet MS"/>
                <a:cs typeface="Trebuchet MS"/>
              </a:rPr>
              <a:t>Martínez </a:t>
            </a:r>
            <a:r>
              <a:rPr dirty="0" sz="2500" spc="105">
                <a:solidFill>
                  <a:srgbClr val="F4E7E7"/>
                </a:solidFill>
                <a:latin typeface="Trebuchet MS"/>
                <a:cs typeface="Trebuchet MS"/>
              </a:rPr>
              <a:t>María</a:t>
            </a:r>
            <a:r>
              <a:rPr dirty="0" sz="2500" spc="-13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F4E7E7"/>
                </a:solidFill>
                <a:latin typeface="Trebuchet MS"/>
                <a:cs typeface="Trebuchet MS"/>
              </a:rPr>
              <a:t>Victoria</a:t>
            </a:r>
            <a:r>
              <a:rPr dirty="0" sz="2500" spc="-13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F4E7E7"/>
                </a:solidFill>
                <a:latin typeface="Trebuchet MS"/>
                <a:cs typeface="Trebuchet MS"/>
              </a:rPr>
              <a:t>Arteaga </a:t>
            </a:r>
            <a:r>
              <a:rPr dirty="0" sz="2500" spc="-20">
                <a:solidFill>
                  <a:srgbClr val="F4E7E7"/>
                </a:solidFill>
                <a:latin typeface="Trebuchet MS"/>
                <a:cs typeface="Trebuchet MS"/>
              </a:rPr>
              <a:t>Juan</a:t>
            </a:r>
            <a:r>
              <a:rPr dirty="0" sz="2500" spc="-12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F4E7E7"/>
                </a:solidFill>
                <a:latin typeface="Trebuchet MS"/>
                <a:cs typeface="Trebuchet MS"/>
              </a:rPr>
              <a:t>Rafael</a:t>
            </a:r>
            <a:r>
              <a:rPr dirty="0" sz="2500" spc="-12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F4E7E7"/>
                </a:solidFill>
                <a:latin typeface="Trebuchet MS"/>
                <a:cs typeface="Trebuchet MS"/>
              </a:rPr>
              <a:t>Calzada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0795" y="5427179"/>
            <a:ext cx="14823440" cy="2125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25085" marR="5080" indent="-5113020">
              <a:lnSpc>
                <a:spcPct val="115799"/>
              </a:lnSpc>
              <a:spcBef>
                <a:spcPts val="100"/>
              </a:spcBef>
            </a:pPr>
            <a:r>
              <a:rPr dirty="0" sz="3400" spc="-145">
                <a:solidFill>
                  <a:srgbClr val="F4E7E7"/>
                </a:solidFill>
                <a:latin typeface="Arial Black"/>
                <a:cs typeface="Arial Black"/>
              </a:rPr>
              <a:t>Plataforma</a:t>
            </a:r>
            <a:r>
              <a:rPr dirty="0" sz="3400" spc="-229">
                <a:solidFill>
                  <a:srgbClr val="F4E7E7"/>
                </a:solidFill>
                <a:latin typeface="Arial Black"/>
                <a:cs typeface="Arial Black"/>
              </a:rPr>
              <a:t> </a:t>
            </a:r>
            <a:r>
              <a:rPr dirty="0" sz="3400" spc="-190">
                <a:solidFill>
                  <a:srgbClr val="F4E7E7"/>
                </a:solidFill>
                <a:latin typeface="Arial Black"/>
                <a:cs typeface="Arial Black"/>
              </a:rPr>
              <a:t>Nacional</a:t>
            </a:r>
            <a:r>
              <a:rPr dirty="0" sz="3400" spc="-225">
                <a:solidFill>
                  <a:srgbClr val="F4E7E7"/>
                </a:solidFill>
                <a:latin typeface="Arial Black"/>
                <a:cs typeface="Arial Black"/>
              </a:rPr>
              <a:t> </a:t>
            </a:r>
            <a:r>
              <a:rPr dirty="0" sz="3400" spc="-200">
                <a:solidFill>
                  <a:srgbClr val="F4E7E7"/>
                </a:solidFill>
                <a:latin typeface="Arial Black"/>
                <a:cs typeface="Arial Black"/>
              </a:rPr>
              <a:t>de</a:t>
            </a:r>
            <a:r>
              <a:rPr dirty="0" sz="3400" spc="-225">
                <a:solidFill>
                  <a:srgbClr val="F4E7E7"/>
                </a:solidFill>
                <a:latin typeface="Arial Black"/>
                <a:cs typeface="Arial Black"/>
              </a:rPr>
              <a:t> </a:t>
            </a:r>
            <a:r>
              <a:rPr dirty="0" sz="3400" spc="-160">
                <a:solidFill>
                  <a:srgbClr val="F4E7E7"/>
                </a:solidFill>
                <a:latin typeface="Arial Black"/>
                <a:cs typeface="Arial Black"/>
              </a:rPr>
              <a:t>Alerta</a:t>
            </a:r>
            <a:r>
              <a:rPr dirty="0" sz="3400" spc="-225">
                <a:solidFill>
                  <a:srgbClr val="F4E7E7"/>
                </a:solidFill>
                <a:latin typeface="Arial Black"/>
                <a:cs typeface="Arial Black"/>
              </a:rPr>
              <a:t> </a:t>
            </a:r>
            <a:r>
              <a:rPr dirty="0" sz="3400" spc="-185">
                <a:solidFill>
                  <a:srgbClr val="F4E7E7"/>
                </a:solidFill>
                <a:latin typeface="Arial Black"/>
                <a:cs typeface="Arial Black"/>
              </a:rPr>
              <a:t>Temprana</a:t>
            </a:r>
            <a:r>
              <a:rPr dirty="0" sz="3400" spc="-225">
                <a:solidFill>
                  <a:srgbClr val="F4E7E7"/>
                </a:solidFill>
                <a:latin typeface="Arial Black"/>
                <a:cs typeface="Arial Black"/>
              </a:rPr>
              <a:t> </a:t>
            </a:r>
            <a:r>
              <a:rPr dirty="0" sz="3400" spc="-140">
                <a:solidFill>
                  <a:srgbClr val="F4E7E7"/>
                </a:solidFill>
                <a:latin typeface="Arial Black"/>
                <a:cs typeface="Arial Black"/>
              </a:rPr>
              <a:t>para</a:t>
            </a:r>
            <a:r>
              <a:rPr dirty="0" sz="3400" spc="-225">
                <a:solidFill>
                  <a:srgbClr val="F4E7E7"/>
                </a:solidFill>
                <a:latin typeface="Arial Black"/>
                <a:cs typeface="Arial Black"/>
              </a:rPr>
              <a:t> </a:t>
            </a:r>
            <a:r>
              <a:rPr dirty="0" sz="3400" spc="-204">
                <a:solidFill>
                  <a:srgbClr val="F4E7E7"/>
                </a:solidFill>
                <a:latin typeface="Arial Black"/>
                <a:cs typeface="Arial Black"/>
              </a:rPr>
              <a:t>Enfermedades</a:t>
            </a:r>
            <a:r>
              <a:rPr dirty="0" sz="3400" spc="-225">
                <a:solidFill>
                  <a:srgbClr val="F4E7E7"/>
                </a:solidFill>
                <a:latin typeface="Arial Black"/>
                <a:cs typeface="Arial Black"/>
              </a:rPr>
              <a:t> </a:t>
            </a:r>
            <a:r>
              <a:rPr dirty="0" sz="3400" spc="-200">
                <a:solidFill>
                  <a:srgbClr val="F4E7E7"/>
                </a:solidFill>
                <a:latin typeface="Arial Black"/>
                <a:cs typeface="Arial Black"/>
              </a:rPr>
              <a:t>de</a:t>
            </a:r>
            <a:r>
              <a:rPr dirty="0" sz="3400" spc="-225">
                <a:solidFill>
                  <a:srgbClr val="F4E7E7"/>
                </a:solidFill>
                <a:latin typeface="Arial Black"/>
                <a:cs typeface="Arial Black"/>
              </a:rPr>
              <a:t> </a:t>
            </a:r>
            <a:r>
              <a:rPr dirty="0" sz="3400" spc="-20">
                <a:solidFill>
                  <a:srgbClr val="F4E7E7"/>
                </a:solidFill>
                <a:latin typeface="Arial Black"/>
                <a:cs typeface="Arial Black"/>
              </a:rPr>
              <a:t>Alto </a:t>
            </a:r>
            <a:r>
              <a:rPr dirty="0" sz="3400" spc="-200">
                <a:solidFill>
                  <a:srgbClr val="F4E7E7"/>
                </a:solidFill>
                <a:latin typeface="Arial Black"/>
                <a:cs typeface="Arial Black"/>
              </a:rPr>
              <a:t>Impacto</a:t>
            </a:r>
            <a:r>
              <a:rPr dirty="0" sz="3400" spc="-235">
                <a:solidFill>
                  <a:srgbClr val="F4E7E7"/>
                </a:solidFill>
                <a:latin typeface="Arial Black"/>
                <a:cs typeface="Arial Black"/>
              </a:rPr>
              <a:t> </a:t>
            </a:r>
            <a:r>
              <a:rPr dirty="0" sz="3400" spc="-170">
                <a:solidFill>
                  <a:srgbClr val="F4E7E7"/>
                </a:solidFill>
                <a:latin typeface="Arial Black"/>
                <a:cs typeface="Arial Black"/>
              </a:rPr>
              <a:t>en</a:t>
            </a:r>
            <a:r>
              <a:rPr dirty="0" sz="3400" spc="-229">
                <a:solidFill>
                  <a:srgbClr val="F4E7E7"/>
                </a:solidFill>
                <a:latin typeface="Arial Black"/>
                <a:cs typeface="Arial Black"/>
              </a:rPr>
              <a:t> </a:t>
            </a:r>
            <a:r>
              <a:rPr dirty="0" sz="3400" spc="-55">
                <a:solidFill>
                  <a:srgbClr val="F4E7E7"/>
                </a:solidFill>
                <a:latin typeface="Arial Black"/>
                <a:cs typeface="Arial Black"/>
              </a:rPr>
              <a:t>Colombia</a:t>
            </a:r>
            <a:endParaRPr sz="3400">
              <a:latin typeface="Arial Black"/>
              <a:cs typeface="Arial Black"/>
            </a:endParaRPr>
          </a:p>
          <a:p>
            <a:pPr algn="r" marR="1594485">
              <a:lnSpc>
                <a:spcPct val="100000"/>
              </a:lnSpc>
              <a:spcBef>
                <a:spcPts val="4084"/>
              </a:spcBef>
            </a:pPr>
            <a:r>
              <a:rPr dirty="0" sz="2500" spc="-285">
                <a:solidFill>
                  <a:srgbClr val="F4E7E7"/>
                </a:solidFill>
                <a:latin typeface="Arial Black"/>
                <a:cs typeface="Arial Black"/>
              </a:rPr>
              <a:t>INTEGRANTES:</a:t>
            </a:r>
            <a:endParaRPr sz="25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E7E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6" y="6"/>
            <a:ext cx="18298795" cy="10299700"/>
            <a:chOff x="6" y="6"/>
            <a:chExt cx="18298795" cy="10299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8769" y="6"/>
              <a:ext cx="5279416" cy="636282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" y="3303915"/>
              <a:ext cx="13185578" cy="69957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09141" y="3341582"/>
              <a:ext cx="7734934" cy="4837430"/>
            </a:xfrm>
            <a:custGeom>
              <a:avLst/>
              <a:gdLst/>
              <a:ahLst/>
              <a:cxnLst/>
              <a:rect l="l" t="t" r="r" b="b"/>
              <a:pathLst>
                <a:path w="7734934" h="4837430">
                  <a:moveTo>
                    <a:pt x="7449107" y="4836846"/>
                  </a:moveTo>
                  <a:lnTo>
                    <a:pt x="285749" y="4836846"/>
                  </a:lnTo>
                  <a:lnTo>
                    <a:pt x="240779" y="4833287"/>
                  </a:lnTo>
                  <a:lnTo>
                    <a:pt x="197320" y="4822819"/>
                  </a:lnTo>
                  <a:lnTo>
                    <a:pt x="156141" y="4805763"/>
                  </a:lnTo>
                  <a:lnTo>
                    <a:pt x="118010" y="4782434"/>
                  </a:lnTo>
                  <a:lnTo>
                    <a:pt x="83694" y="4753151"/>
                  </a:lnTo>
                  <a:lnTo>
                    <a:pt x="54412" y="4718835"/>
                  </a:lnTo>
                  <a:lnTo>
                    <a:pt x="31083" y="4680704"/>
                  </a:lnTo>
                  <a:lnTo>
                    <a:pt x="14026" y="4639526"/>
                  </a:lnTo>
                  <a:lnTo>
                    <a:pt x="3559" y="4596067"/>
                  </a:lnTo>
                  <a:lnTo>
                    <a:pt x="0" y="4551096"/>
                  </a:lnTo>
                  <a:lnTo>
                    <a:pt x="0" y="285749"/>
                  </a:lnTo>
                  <a:lnTo>
                    <a:pt x="3559" y="240779"/>
                  </a:lnTo>
                  <a:lnTo>
                    <a:pt x="14026" y="197320"/>
                  </a:lnTo>
                  <a:lnTo>
                    <a:pt x="31083" y="156141"/>
                  </a:lnTo>
                  <a:lnTo>
                    <a:pt x="54412" y="118010"/>
                  </a:lnTo>
                  <a:lnTo>
                    <a:pt x="83694" y="83694"/>
                  </a:lnTo>
                  <a:lnTo>
                    <a:pt x="118010" y="54412"/>
                  </a:lnTo>
                  <a:lnTo>
                    <a:pt x="156141" y="31083"/>
                  </a:lnTo>
                  <a:lnTo>
                    <a:pt x="197320" y="14026"/>
                  </a:lnTo>
                  <a:lnTo>
                    <a:pt x="240779" y="3559"/>
                  </a:lnTo>
                  <a:lnTo>
                    <a:pt x="285749" y="0"/>
                  </a:lnTo>
                  <a:lnTo>
                    <a:pt x="7449107" y="0"/>
                  </a:lnTo>
                  <a:lnTo>
                    <a:pt x="7494078" y="3559"/>
                  </a:lnTo>
                  <a:lnTo>
                    <a:pt x="7537537" y="14026"/>
                  </a:lnTo>
                  <a:lnTo>
                    <a:pt x="7578715" y="31083"/>
                  </a:lnTo>
                  <a:lnTo>
                    <a:pt x="7616847" y="54412"/>
                  </a:lnTo>
                  <a:lnTo>
                    <a:pt x="7651163" y="83694"/>
                  </a:lnTo>
                  <a:lnTo>
                    <a:pt x="7680445" y="118010"/>
                  </a:lnTo>
                  <a:lnTo>
                    <a:pt x="7703774" y="156141"/>
                  </a:lnTo>
                  <a:lnTo>
                    <a:pt x="7720831" y="197320"/>
                  </a:lnTo>
                  <a:lnTo>
                    <a:pt x="7731298" y="240779"/>
                  </a:lnTo>
                  <a:lnTo>
                    <a:pt x="7734857" y="285749"/>
                  </a:lnTo>
                  <a:lnTo>
                    <a:pt x="7734857" y="4551096"/>
                  </a:lnTo>
                  <a:lnTo>
                    <a:pt x="7731298" y="4596067"/>
                  </a:lnTo>
                  <a:lnTo>
                    <a:pt x="7720831" y="4639526"/>
                  </a:lnTo>
                  <a:lnTo>
                    <a:pt x="7703774" y="4680704"/>
                  </a:lnTo>
                  <a:lnTo>
                    <a:pt x="7680445" y="4718835"/>
                  </a:lnTo>
                  <a:lnTo>
                    <a:pt x="7651163" y="4753151"/>
                  </a:lnTo>
                  <a:lnTo>
                    <a:pt x="7616847" y="4782434"/>
                  </a:lnTo>
                  <a:lnTo>
                    <a:pt x="7578715" y="4805763"/>
                  </a:lnTo>
                  <a:lnTo>
                    <a:pt x="7537537" y="4822819"/>
                  </a:lnTo>
                  <a:lnTo>
                    <a:pt x="7494078" y="4833287"/>
                  </a:lnTo>
                  <a:lnTo>
                    <a:pt x="7449107" y="48368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51435" marR="43815">
              <a:lnSpc>
                <a:spcPct val="114599"/>
              </a:lnSpc>
              <a:spcBef>
                <a:spcPts val="100"/>
              </a:spcBef>
            </a:pPr>
            <a:r>
              <a:rPr dirty="0" spc="80"/>
              <a:t>Cuando</a:t>
            </a:r>
            <a:r>
              <a:rPr dirty="0" spc="20"/>
              <a:t> </a:t>
            </a:r>
            <a:r>
              <a:rPr dirty="0" spc="105"/>
              <a:t>un</a:t>
            </a:r>
            <a:r>
              <a:rPr dirty="0" spc="25"/>
              <a:t> </a:t>
            </a:r>
            <a:r>
              <a:rPr dirty="0" spc="60"/>
              <a:t>caso</a:t>
            </a:r>
            <a:r>
              <a:rPr dirty="0" spc="25"/>
              <a:t> </a:t>
            </a:r>
            <a:r>
              <a:rPr dirty="0" spc="55"/>
              <a:t>de</a:t>
            </a:r>
            <a:r>
              <a:rPr dirty="0" spc="20"/>
              <a:t> </a:t>
            </a:r>
            <a:r>
              <a:rPr dirty="0"/>
              <a:t>dengue,</a:t>
            </a:r>
            <a:r>
              <a:rPr dirty="0" spc="25"/>
              <a:t> </a:t>
            </a:r>
            <a:r>
              <a:rPr dirty="0"/>
              <a:t>chikungunya,</a:t>
            </a:r>
            <a:r>
              <a:rPr dirty="0" spc="25"/>
              <a:t> </a:t>
            </a:r>
            <a:r>
              <a:rPr dirty="0"/>
              <a:t>zika</a:t>
            </a:r>
            <a:r>
              <a:rPr dirty="0" spc="20"/>
              <a:t> </a:t>
            </a:r>
            <a:r>
              <a:rPr dirty="0" spc="114"/>
              <a:t>o</a:t>
            </a:r>
            <a:r>
              <a:rPr dirty="0" spc="25"/>
              <a:t> </a:t>
            </a:r>
            <a:r>
              <a:rPr dirty="0"/>
              <a:t>malaria</a:t>
            </a:r>
            <a:r>
              <a:rPr dirty="0" spc="25"/>
              <a:t> </a:t>
            </a:r>
            <a:r>
              <a:rPr dirty="0"/>
              <a:t>ocurre</a:t>
            </a:r>
            <a:r>
              <a:rPr dirty="0" spc="25"/>
              <a:t> </a:t>
            </a:r>
            <a:r>
              <a:rPr dirty="0" spc="35"/>
              <a:t>en </a:t>
            </a:r>
            <a:r>
              <a:rPr dirty="0"/>
              <a:t>Colombia,</a:t>
            </a:r>
            <a:r>
              <a:rPr dirty="0" spc="-40"/>
              <a:t> </a:t>
            </a:r>
            <a:r>
              <a:rPr dirty="0" spc="75"/>
              <a:t>pasa</a:t>
            </a:r>
            <a:r>
              <a:rPr dirty="0" spc="-40"/>
              <a:t> </a:t>
            </a:r>
            <a:r>
              <a:rPr dirty="0" spc="80"/>
              <a:t>por</a:t>
            </a:r>
            <a:r>
              <a:rPr dirty="0" spc="-40"/>
              <a:t> </a:t>
            </a:r>
            <a:r>
              <a:rPr dirty="0" spc="105"/>
              <a:t>un</a:t>
            </a:r>
            <a:r>
              <a:rPr dirty="0" spc="-40"/>
              <a:t> </a:t>
            </a:r>
            <a:r>
              <a:rPr dirty="0" spc="-10"/>
              <a:t>ciclo</a:t>
            </a:r>
            <a:r>
              <a:rPr dirty="0" spc="-35"/>
              <a:t> </a:t>
            </a:r>
            <a:r>
              <a:rPr dirty="0" spc="55"/>
              <a:t>de</a:t>
            </a:r>
            <a:r>
              <a:rPr dirty="0" spc="-40"/>
              <a:t> </a:t>
            </a:r>
            <a:r>
              <a:rPr dirty="0" spc="75"/>
              <a:t>2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 spc="75"/>
              <a:t>4</a:t>
            </a:r>
            <a:r>
              <a:rPr dirty="0" spc="-40"/>
              <a:t> </a:t>
            </a:r>
            <a:r>
              <a:rPr dirty="0" spc="85"/>
              <a:t>semanas</a:t>
            </a:r>
            <a:r>
              <a:rPr dirty="0" spc="-35"/>
              <a:t> </a:t>
            </a:r>
            <a:r>
              <a:rPr dirty="0"/>
              <a:t>antes</a:t>
            </a:r>
            <a:r>
              <a:rPr dirty="0" spc="-40"/>
              <a:t> </a:t>
            </a:r>
            <a:r>
              <a:rPr dirty="0" spc="55"/>
              <a:t>de</a:t>
            </a:r>
            <a:r>
              <a:rPr dirty="0" spc="-40"/>
              <a:t> </a:t>
            </a:r>
            <a:r>
              <a:rPr dirty="0" spc="-10"/>
              <a:t>convertirse </a:t>
            </a:r>
            <a:r>
              <a:rPr dirty="0" spc="60"/>
              <a:t>en</a:t>
            </a:r>
            <a:r>
              <a:rPr dirty="0" spc="-70"/>
              <a:t> </a:t>
            </a:r>
            <a:r>
              <a:rPr dirty="0" spc="80"/>
              <a:t>una</a:t>
            </a:r>
            <a:r>
              <a:rPr dirty="0" spc="-65"/>
              <a:t> </a:t>
            </a:r>
            <a:r>
              <a:rPr dirty="0"/>
              <a:t>alerta</a:t>
            </a:r>
            <a:r>
              <a:rPr dirty="0" spc="-70"/>
              <a:t> </a:t>
            </a:r>
            <a:r>
              <a:rPr dirty="0" spc="-45"/>
              <a:t>oficial:</a:t>
            </a:r>
            <a:r>
              <a:rPr dirty="0" spc="-65"/>
              <a:t> </a:t>
            </a:r>
            <a:r>
              <a:rPr dirty="0" spc="-10"/>
              <a:t>el</a:t>
            </a:r>
            <a:r>
              <a:rPr dirty="0" spc="-70"/>
              <a:t> </a:t>
            </a:r>
            <a:r>
              <a:rPr dirty="0"/>
              <a:t>paciente</a:t>
            </a:r>
            <a:r>
              <a:rPr dirty="0" spc="-65"/>
              <a:t> </a:t>
            </a:r>
            <a:r>
              <a:rPr dirty="0"/>
              <a:t>va</a:t>
            </a:r>
            <a:r>
              <a:rPr dirty="0" spc="-70"/>
              <a:t> </a:t>
            </a:r>
            <a:r>
              <a:rPr dirty="0"/>
              <a:t>al</a:t>
            </a:r>
            <a:r>
              <a:rPr dirty="0" spc="-65"/>
              <a:t> </a:t>
            </a:r>
            <a:r>
              <a:rPr dirty="0"/>
              <a:t>médico,</a:t>
            </a:r>
            <a:r>
              <a:rPr dirty="0" spc="-70"/>
              <a:t> </a:t>
            </a:r>
            <a:r>
              <a:rPr dirty="0" spc="70"/>
              <a:t>se</a:t>
            </a:r>
            <a:r>
              <a:rPr dirty="0" spc="-65"/>
              <a:t> </a:t>
            </a:r>
            <a:r>
              <a:rPr dirty="0"/>
              <a:t>notifica</a:t>
            </a:r>
            <a:r>
              <a:rPr dirty="0" spc="-70"/>
              <a:t> </a:t>
            </a:r>
            <a:r>
              <a:rPr dirty="0" spc="-25"/>
              <a:t>al </a:t>
            </a:r>
            <a:r>
              <a:rPr dirty="0"/>
              <a:t>municipio,</a:t>
            </a:r>
            <a:r>
              <a:rPr dirty="0" spc="15"/>
              <a:t> </a:t>
            </a:r>
            <a:r>
              <a:rPr dirty="0" spc="70"/>
              <a:t>se</a:t>
            </a:r>
            <a:r>
              <a:rPr dirty="0" spc="15"/>
              <a:t> </a:t>
            </a:r>
            <a:r>
              <a:rPr dirty="0" spc="45"/>
              <a:t>consolida</a:t>
            </a:r>
            <a:r>
              <a:rPr dirty="0" spc="15"/>
              <a:t> </a:t>
            </a:r>
            <a:r>
              <a:rPr dirty="0"/>
              <a:t>a</a:t>
            </a:r>
            <a:r>
              <a:rPr dirty="0" spc="20"/>
              <a:t> </a:t>
            </a:r>
            <a:r>
              <a:rPr dirty="0"/>
              <a:t>nivel</a:t>
            </a:r>
            <a:r>
              <a:rPr dirty="0" spc="15"/>
              <a:t> </a:t>
            </a:r>
            <a:r>
              <a:rPr dirty="0"/>
              <a:t>departamental</a:t>
            </a:r>
            <a:r>
              <a:rPr dirty="0" spc="15"/>
              <a:t> </a:t>
            </a:r>
            <a:r>
              <a:rPr dirty="0"/>
              <a:t>y</a:t>
            </a:r>
            <a:r>
              <a:rPr dirty="0" spc="15"/>
              <a:t> </a:t>
            </a:r>
            <a:r>
              <a:rPr dirty="0"/>
              <a:t>finalmente</a:t>
            </a:r>
            <a:r>
              <a:rPr dirty="0" spc="20"/>
              <a:t> </a:t>
            </a:r>
            <a:r>
              <a:rPr dirty="0" spc="-10"/>
              <a:t>SIVIGILA </a:t>
            </a:r>
            <a:r>
              <a:rPr dirty="0"/>
              <a:t>emite</a:t>
            </a:r>
            <a:r>
              <a:rPr dirty="0" spc="-15"/>
              <a:t> </a:t>
            </a:r>
            <a:r>
              <a:rPr dirty="0"/>
              <a:t>la</a:t>
            </a:r>
            <a:r>
              <a:rPr dirty="0" spc="-15"/>
              <a:t> </a:t>
            </a:r>
            <a:r>
              <a:rPr dirty="0" spc="-30"/>
              <a:t>alerta.</a:t>
            </a:r>
            <a:r>
              <a:rPr dirty="0" spc="-10"/>
              <a:t> </a:t>
            </a:r>
            <a:r>
              <a:rPr dirty="0"/>
              <a:t>Para</a:t>
            </a:r>
            <a:r>
              <a:rPr dirty="0" spc="-15"/>
              <a:t> </a:t>
            </a:r>
            <a:r>
              <a:rPr dirty="0"/>
              <a:t>entonces,</a:t>
            </a:r>
            <a:r>
              <a:rPr dirty="0" spc="-10"/>
              <a:t> el</a:t>
            </a:r>
            <a:r>
              <a:rPr dirty="0" spc="-15"/>
              <a:t> </a:t>
            </a:r>
            <a:r>
              <a:rPr dirty="0"/>
              <a:t>brote</a:t>
            </a:r>
            <a:r>
              <a:rPr dirty="0" spc="-10"/>
              <a:t> </a:t>
            </a:r>
            <a:r>
              <a:rPr dirty="0"/>
              <a:t>ya</a:t>
            </a:r>
            <a:r>
              <a:rPr dirty="0" spc="-15"/>
              <a:t> </a:t>
            </a:r>
            <a:r>
              <a:rPr dirty="0"/>
              <a:t>está</a:t>
            </a:r>
            <a:r>
              <a:rPr dirty="0" spc="-10"/>
              <a:t> </a:t>
            </a:r>
            <a:r>
              <a:rPr dirty="0" spc="60"/>
              <a:t>en</a:t>
            </a:r>
            <a:r>
              <a:rPr dirty="0" spc="-15"/>
              <a:t> </a:t>
            </a:r>
            <a:r>
              <a:rPr dirty="0"/>
              <a:t>fase</a:t>
            </a:r>
            <a:r>
              <a:rPr dirty="0" spc="-10"/>
              <a:t> </a:t>
            </a:r>
            <a:r>
              <a:rPr dirty="0" spc="55"/>
              <a:t>de</a:t>
            </a:r>
            <a:r>
              <a:rPr dirty="0" spc="-15"/>
              <a:t> </a:t>
            </a:r>
            <a:r>
              <a:rPr dirty="0" spc="50"/>
              <a:t>expansión </a:t>
            </a:r>
            <a:r>
              <a:rPr dirty="0" spc="-10"/>
              <a:t>comunitaria.</a:t>
            </a:r>
          </a:p>
          <a:p>
            <a:pPr algn="ctr" marL="12700" marR="5080">
              <a:lnSpc>
                <a:spcPct val="114599"/>
              </a:lnSpc>
            </a:pPr>
            <a:r>
              <a:rPr dirty="0" spc="80"/>
              <a:t>Aunque</a:t>
            </a:r>
            <a:r>
              <a:rPr dirty="0" spc="-65"/>
              <a:t> </a:t>
            </a:r>
            <a:r>
              <a:rPr dirty="0" spc="-10"/>
              <a:t>el</a:t>
            </a:r>
            <a:r>
              <a:rPr dirty="0" spc="-65"/>
              <a:t> </a:t>
            </a:r>
            <a:r>
              <a:rPr dirty="0" spc="50"/>
              <a:t>país</a:t>
            </a:r>
            <a:r>
              <a:rPr dirty="0" spc="-65"/>
              <a:t> </a:t>
            </a:r>
            <a:r>
              <a:rPr dirty="0"/>
              <a:t>cuenta</a:t>
            </a:r>
            <a:r>
              <a:rPr dirty="0" spc="-65"/>
              <a:t> </a:t>
            </a:r>
            <a:r>
              <a:rPr dirty="0" spc="60"/>
              <a:t>con</a:t>
            </a:r>
            <a:r>
              <a:rPr dirty="0" spc="-65"/>
              <a:t> </a:t>
            </a:r>
            <a:r>
              <a:rPr dirty="0" spc="110"/>
              <a:t>más</a:t>
            </a:r>
            <a:r>
              <a:rPr dirty="0" spc="-60"/>
              <a:t> </a:t>
            </a:r>
            <a:r>
              <a:rPr dirty="0" spc="55"/>
              <a:t>de</a:t>
            </a:r>
            <a:r>
              <a:rPr dirty="0" spc="-65"/>
              <a:t> </a:t>
            </a:r>
            <a:r>
              <a:rPr dirty="0" spc="70"/>
              <a:t>15</a:t>
            </a:r>
            <a:r>
              <a:rPr dirty="0" spc="-65"/>
              <a:t> </a:t>
            </a:r>
            <a:r>
              <a:rPr dirty="0" spc="95"/>
              <a:t>años</a:t>
            </a:r>
            <a:r>
              <a:rPr dirty="0" spc="-65"/>
              <a:t> </a:t>
            </a:r>
            <a:r>
              <a:rPr dirty="0" spc="55"/>
              <a:t>de</a:t>
            </a:r>
            <a:r>
              <a:rPr dirty="0" spc="-65"/>
              <a:t> </a:t>
            </a:r>
            <a:r>
              <a:rPr dirty="0" spc="60"/>
              <a:t>datos</a:t>
            </a:r>
            <a:r>
              <a:rPr dirty="0" spc="-60"/>
              <a:t> </a:t>
            </a:r>
            <a:r>
              <a:rPr dirty="0" spc="-10"/>
              <a:t>epidemiológicos </a:t>
            </a:r>
            <a:r>
              <a:rPr dirty="0"/>
              <a:t>abiertos</a:t>
            </a:r>
            <a:r>
              <a:rPr dirty="0" spc="20"/>
              <a:t> </a:t>
            </a:r>
            <a:r>
              <a:rPr dirty="0" spc="60"/>
              <a:t>en</a:t>
            </a:r>
            <a:r>
              <a:rPr dirty="0" spc="20"/>
              <a:t> </a:t>
            </a:r>
            <a:r>
              <a:rPr dirty="0"/>
              <a:t>datos.gov.co,</a:t>
            </a:r>
            <a:r>
              <a:rPr dirty="0" spc="20"/>
              <a:t> </a:t>
            </a:r>
            <a:r>
              <a:rPr dirty="0"/>
              <a:t>esta</a:t>
            </a:r>
            <a:r>
              <a:rPr dirty="0" spc="20"/>
              <a:t> </a:t>
            </a:r>
            <a:r>
              <a:rPr dirty="0"/>
              <a:t>información</a:t>
            </a:r>
            <a:r>
              <a:rPr dirty="0" spc="20"/>
              <a:t> </a:t>
            </a:r>
            <a:r>
              <a:rPr dirty="0" spc="105"/>
              <a:t>no</a:t>
            </a:r>
            <a:r>
              <a:rPr dirty="0" spc="20"/>
              <a:t> </a:t>
            </a:r>
            <a:r>
              <a:rPr dirty="0" spc="70"/>
              <a:t>se</a:t>
            </a:r>
            <a:r>
              <a:rPr dirty="0" spc="20"/>
              <a:t> </a:t>
            </a:r>
            <a:r>
              <a:rPr dirty="0" spc="-20"/>
              <a:t>utiliza</a:t>
            </a:r>
            <a:r>
              <a:rPr dirty="0" spc="20"/>
              <a:t> </a:t>
            </a:r>
            <a:r>
              <a:rPr dirty="0" spc="30"/>
              <a:t>para </a:t>
            </a:r>
            <a:r>
              <a:rPr dirty="0"/>
              <a:t>predicción.</a:t>
            </a:r>
            <a:r>
              <a:rPr dirty="0" spc="-30"/>
              <a:t> </a:t>
            </a:r>
            <a:r>
              <a:rPr dirty="0"/>
              <a:t>Integrarla</a:t>
            </a:r>
            <a:r>
              <a:rPr dirty="0" spc="-25"/>
              <a:t> </a:t>
            </a:r>
            <a:r>
              <a:rPr dirty="0" spc="60"/>
              <a:t>en</a:t>
            </a:r>
            <a:r>
              <a:rPr dirty="0" spc="-25"/>
              <a:t> </a:t>
            </a:r>
            <a:r>
              <a:rPr dirty="0" spc="105"/>
              <a:t>un</a:t>
            </a:r>
            <a:r>
              <a:rPr dirty="0" spc="-30"/>
              <a:t> </a:t>
            </a:r>
            <a:r>
              <a:rPr dirty="0" spc="45"/>
              <a:t>sistema</a:t>
            </a:r>
            <a:r>
              <a:rPr dirty="0" spc="-25"/>
              <a:t> </a:t>
            </a:r>
            <a:r>
              <a:rPr dirty="0"/>
              <a:t>predictivo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reducir</a:t>
            </a:r>
            <a:r>
              <a:rPr dirty="0" spc="-25"/>
              <a:t> </a:t>
            </a:r>
            <a:r>
              <a:rPr dirty="0" spc="65"/>
              <a:t>solo</a:t>
            </a:r>
            <a:r>
              <a:rPr dirty="0" spc="-25"/>
              <a:t> </a:t>
            </a:r>
            <a:r>
              <a:rPr dirty="0" spc="-10"/>
              <a:t>el</a:t>
            </a:r>
            <a:r>
              <a:rPr dirty="0" spc="-30"/>
              <a:t> </a:t>
            </a:r>
            <a:r>
              <a:rPr dirty="0" spc="155"/>
              <a:t>10% </a:t>
            </a:r>
            <a:r>
              <a:rPr dirty="0" spc="55"/>
              <a:t>de</a:t>
            </a:r>
            <a:r>
              <a:rPr dirty="0" spc="-20"/>
              <a:t> </a:t>
            </a:r>
            <a:r>
              <a:rPr dirty="0"/>
              <a:t>la</a:t>
            </a:r>
            <a:r>
              <a:rPr dirty="0" spc="-15"/>
              <a:t> </a:t>
            </a:r>
            <a:r>
              <a:rPr dirty="0"/>
              <a:t>incidencia</a:t>
            </a:r>
            <a:r>
              <a:rPr dirty="0" spc="-15"/>
              <a:t> </a:t>
            </a:r>
            <a:r>
              <a:rPr dirty="0" spc="80"/>
              <a:t>por</a:t>
            </a:r>
            <a:r>
              <a:rPr dirty="0" spc="-15"/>
              <a:t> </a:t>
            </a:r>
            <a:r>
              <a:rPr dirty="0" spc="65"/>
              <a:t>dengue</a:t>
            </a:r>
            <a:r>
              <a:rPr dirty="0" spc="-15"/>
              <a:t> </a:t>
            </a:r>
            <a:r>
              <a:rPr dirty="0"/>
              <a:t>ahorraría</a:t>
            </a:r>
            <a:r>
              <a:rPr dirty="0" spc="-15"/>
              <a:t> </a:t>
            </a:r>
            <a:r>
              <a:rPr dirty="0"/>
              <a:t>~50.000</a:t>
            </a:r>
            <a:r>
              <a:rPr dirty="0" spc="-15"/>
              <a:t> </a:t>
            </a:r>
            <a:r>
              <a:rPr dirty="0" spc="75"/>
              <a:t>casos</a:t>
            </a:r>
            <a:r>
              <a:rPr dirty="0" spc="-1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110"/>
              <a:t>más</a:t>
            </a:r>
            <a:r>
              <a:rPr dirty="0" spc="-15"/>
              <a:t> </a:t>
            </a:r>
            <a:r>
              <a:rPr dirty="0" spc="55"/>
              <a:t>de</a:t>
            </a:r>
            <a:r>
              <a:rPr dirty="0" spc="-15"/>
              <a:t> </a:t>
            </a:r>
            <a:r>
              <a:rPr dirty="0" spc="75"/>
              <a:t>COP</a:t>
            </a:r>
          </a:p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dirty="0"/>
              <a:t>$125.000</a:t>
            </a:r>
            <a:r>
              <a:rPr dirty="0" spc="40"/>
              <a:t> </a:t>
            </a:r>
            <a:r>
              <a:rPr dirty="0"/>
              <a:t>millones</a:t>
            </a:r>
            <a:r>
              <a:rPr dirty="0" spc="45"/>
              <a:t> </a:t>
            </a:r>
            <a:r>
              <a:rPr dirty="0" spc="50"/>
              <a:t>anuales</a:t>
            </a:r>
            <a:r>
              <a:rPr dirty="0" spc="45"/>
              <a:t> </a:t>
            </a:r>
            <a:r>
              <a:rPr dirty="0" spc="60"/>
              <a:t>en</a:t>
            </a:r>
            <a:r>
              <a:rPr dirty="0" spc="45"/>
              <a:t> </a:t>
            </a:r>
            <a:r>
              <a:rPr dirty="0" spc="60"/>
              <a:t>costos</a:t>
            </a:r>
            <a:r>
              <a:rPr dirty="0" spc="45"/>
              <a:t> </a:t>
            </a:r>
            <a:r>
              <a:rPr dirty="0" spc="-10"/>
              <a:t>hospitalarios.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80">
                <a:solidFill>
                  <a:srgbClr val="AC2626"/>
                </a:solidFill>
              </a:rPr>
              <a:t>Problema</a:t>
            </a:r>
            <a:r>
              <a:rPr dirty="0" spc="-225">
                <a:solidFill>
                  <a:srgbClr val="AC2626"/>
                </a:solidFill>
              </a:rPr>
              <a:t> </a:t>
            </a:r>
            <a:r>
              <a:rPr dirty="0" spc="200">
                <a:solidFill>
                  <a:srgbClr val="AC2626"/>
                </a:solidFill>
              </a:rPr>
              <a:t>y</a:t>
            </a:r>
            <a:r>
              <a:rPr dirty="0" spc="-220">
                <a:solidFill>
                  <a:srgbClr val="AC2626"/>
                </a:solidFill>
              </a:rPr>
              <a:t> </a:t>
            </a:r>
            <a:r>
              <a:rPr dirty="0" spc="200">
                <a:solidFill>
                  <a:srgbClr val="AC2626"/>
                </a:solidFill>
              </a:rPr>
              <a:t>objetivo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60416" y="2925689"/>
            <a:ext cx="588264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110">
                <a:solidFill>
                  <a:srgbClr val="AC2626"/>
                </a:solidFill>
                <a:latin typeface="Georgia"/>
                <a:cs typeface="Georgia"/>
              </a:rPr>
              <a:t>¿Qué</a:t>
            </a:r>
            <a:r>
              <a:rPr dirty="0" sz="4000" spc="245">
                <a:solidFill>
                  <a:srgbClr val="AC2626"/>
                </a:solidFill>
                <a:latin typeface="Georgia"/>
                <a:cs typeface="Georgia"/>
              </a:rPr>
              <a:t> </a:t>
            </a:r>
            <a:r>
              <a:rPr dirty="0" sz="4000">
                <a:solidFill>
                  <a:srgbClr val="AC2626"/>
                </a:solidFill>
                <a:latin typeface="Georgia"/>
                <a:cs typeface="Georgia"/>
              </a:rPr>
              <a:t>buscamos</a:t>
            </a:r>
            <a:r>
              <a:rPr dirty="0" sz="4000" spc="250">
                <a:solidFill>
                  <a:srgbClr val="AC2626"/>
                </a:solidFill>
                <a:latin typeface="Georgia"/>
                <a:cs typeface="Georgia"/>
              </a:rPr>
              <a:t> </a:t>
            </a:r>
            <a:r>
              <a:rPr dirty="0" sz="4000" spc="-10">
                <a:solidFill>
                  <a:srgbClr val="AC2626"/>
                </a:solidFill>
                <a:latin typeface="Georgia"/>
                <a:cs typeface="Georgia"/>
              </a:rPr>
              <a:t>resolver?</a:t>
            </a:r>
            <a:endParaRPr sz="40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413033" y="5597343"/>
            <a:ext cx="7734934" cy="3323590"/>
          </a:xfrm>
          <a:custGeom>
            <a:avLst/>
            <a:gdLst/>
            <a:ahLst/>
            <a:cxnLst/>
            <a:rect l="l" t="t" r="r" b="b"/>
            <a:pathLst>
              <a:path w="7734934" h="3323590">
                <a:moveTo>
                  <a:pt x="7449109" y="3323460"/>
                </a:moveTo>
                <a:lnTo>
                  <a:pt x="285749" y="3323460"/>
                </a:lnTo>
                <a:lnTo>
                  <a:pt x="240779" y="3319900"/>
                </a:lnTo>
                <a:lnTo>
                  <a:pt x="197320" y="3309433"/>
                </a:lnTo>
                <a:lnTo>
                  <a:pt x="156141" y="3292376"/>
                </a:lnTo>
                <a:lnTo>
                  <a:pt x="118010" y="3269047"/>
                </a:lnTo>
                <a:lnTo>
                  <a:pt x="83694" y="3239765"/>
                </a:lnTo>
                <a:lnTo>
                  <a:pt x="54412" y="3205449"/>
                </a:lnTo>
                <a:lnTo>
                  <a:pt x="31083" y="3167317"/>
                </a:lnTo>
                <a:lnTo>
                  <a:pt x="14026" y="3126139"/>
                </a:lnTo>
                <a:lnTo>
                  <a:pt x="3559" y="3082681"/>
                </a:lnTo>
                <a:lnTo>
                  <a:pt x="0" y="3037710"/>
                </a:lnTo>
                <a:lnTo>
                  <a:pt x="0" y="285749"/>
                </a:lnTo>
                <a:lnTo>
                  <a:pt x="3559" y="240779"/>
                </a:lnTo>
                <a:lnTo>
                  <a:pt x="14026" y="197320"/>
                </a:lnTo>
                <a:lnTo>
                  <a:pt x="31083" y="156141"/>
                </a:lnTo>
                <a:lnTo>
                  <a:pt x="54412" y="118010"/>
                </a:lnTo>
                <a:lnTo>
                  <a:pt x="83694" y="83694"/>
                </a:lnTo>
                <a:lnTo>
                  <a:pt x="118010" y="54411"/>
                </a:lnTo>
                <a:lnTo>
                  <a:pt x="156141" y="31083"/>
                </a:lnTo>
                <a:lnTo>
                  <a:pt x="197320" y="14026"/>
                </a:lnTo>
                <a:lnTo>
                  <a:pt x="240779" y="3559"/>
                </a:lnTo>
                <a:lnTo>
                  <a:pt x="285749" y="0"/>
                </a:lnTo>
                <a:lnTo>
                  <a:pt x="7449109" y="0"/>
                </a:lnTo>
                <a:lnTo>
                  <a:pt x="7494079" y="3559"/>
                </a:lnTo>
                <a:lnTo>
                  <a:pt x="7537538" y="14026"/>
                </a:lnTo>
                <a:lnTo>
                  <a:pt x="7578716" y="31083"/>
                </a:lnTo>
                <a:lnTo>
                  <a:pt x="7616847" y="54411"/>
                </a:lnTo>
                <a:lnTo>
                  <a:pt x="7651164" y="83694"/>
                </a:lnTo>
                <a:lnTo>
                  <a:pt x="7680446" y="118010"/>
                </a:lnTo>
                <a:lnTo>
                  <a:pt x="7703774" y="156141"/>
                </a:lnTo>
                <a:lnTo>
                  <a:pt x="7720831" y="197320"/>
                </a:lnTo>
                <a:lnTo>
                  <a:pt x="7731298" y="240779"/>
                </a:lnTo>
                <a:lnTo>
                  <a:pt x="7734857" y="285749"/>
                </a:lnTo>
                <a:lnTo>
                  <a:pt x="7734857" y="3037710"/>
                </a:lnTo>
                <a:lnTo>
                  <a:pt x="7731298" y="3082681"/>
                </a:lnTo>
                <a:lnTo>
                  <a:pt x="7720831" y="3126139"/>
                </a:lnTo>
                <a:lnTo>
                  <a:pt x="7703774" y="3167317"/>
                </a:lnTo>
                <a:lnTo>
                  <a:pt x="7680446" y="3205449"/>
                </a:lnTo>
                <a:lnTo>
                  <a:pt x="7651164" y="3239765"/>
                </a:lnTo>
                <a:lnTo>
                  <a:pt x="7616847" y="3269047"/>
                </a:lnTo>
                <a:lnTo>
                  <a:pt x="7578716" y="3292376"/>
                </a:lnTo>
                <a:lnTo>
                  <a:pt x="7537538" y="3309433"/>
                </a:lnTo>
                <a:lnTo>
                  <a:pt x="7494079" y="3319900"/>
                </a:lnTo>
                <a:lnTo>
                  <a:pt x="7449109" y="33234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600060" y="6116118"/>
            <a:ext cx="7360920" cy="2225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4599"/>
              </a:lnSpc>
              <a:spcBef>
                <a:spcPts val="100"/>
              </a:spcBef>
            </a:pPr>
            <a:r>
              <a:rPr dirty="0" sz="1800" spc="90">
                <a:latin typeface="Trebuchet MS"/>
                <a:cs typeface="Trebuchet MS"/>
              </a:rPr>
              <a:t>ECOS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invierte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50">
                <a:latin typeface="Trebuchet MS"/>
                <a:cs typeface="Trebuchet MS"/>
              </a:rPr>
              <a:t>ese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-65">
                <a:latin typeface="Trebuchet MS"/>
                <a:cs typeface="Trebuchet MS"/>
              </a:rPr>
              <a:t>flujo: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60">
                <a:latin typeface="Trebuchet MS"/>
                <a:cs typeface="Trebuchet MS"/>
              </a:rPr>
              <a:t>en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vez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de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50">
                <a:latin typeface="Trebuchet MS"/>
                <a:cs typeface="Trebuchet MS"/>
              </a:rPr>
              <a:t>esperar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 spc="70">
                <a:latin typeface="Trebuchet MS"/>
                <a:cs typeface="Trebuchet MS"/>
              </a:rPr>
              <a:t>que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el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60">
                <a:latin typeface="Trebuchet MS"/>
                <a:cs typeface="Trebuchet MS"/>
              </a:rPr>
              <a:t>caso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llegue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al </a:t>
            </a:r>
            <a:r>
              <a:rPr dirty="0" sz="1800">
                <a:latin typeface="Trebuchet MS"/>
                <a:cs typeface="Trebuchet MS"/>
              </a:rPr>
              <a:t>hospital,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capta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50">
                <a:latin typeface="Trebuchet MS"/>
                <a:cs typeface="Trebuchet MS"/>
              </a:rPr>
              <a:t>señales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60">
                <a:latin typeface="Trebuchet MS"/>
                <a:cs typeface="Trebuchet MS"/>
              </a:rPr>
              <a:t>tempranas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65">
                <a:latin typeface="Trebuchet MS"/>
                <a:cs typeface="Trebuchet MS"/>
              </a:rPr>
              <a:t>(búsquedas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60">
                <a:latin typeface="Trebuchet MS"/>
                <a:cs typeface="Trebuchet MS"/>
              </a:rPr>
              <a:t>en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Google,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noticias </a:t>
            </a:r>
            <a:r>
              <a:rPr dirty="0" sz="1800">
                <a:latin typeface="Trebuchet MS"/>
                <a:cs typeface="Trebuchet MS"/>
              </a:rPr>
              <a:t>regionales,</a:t>
            </a:r>
            <a:r>
              <a:rPr dirty="0" sz="1800" spc="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clima</a:t>
            </a:r>
            <a:r>
              <a:rPr dirty="0" sz="1800" spc="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anómalo,</a:t>
            </a:r>
            <a:r>
              <a:rPr dirty="0" sz="1800" spc="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movilidad)</a:t>
            </a:r>
            <a:r>
              <a:rPr dirty="0" sz="1800" spc="15">
                <a:latin typeface="Trebuchet MS"/>
                <a:cs typeface="Trebuchet MS"/>
              </a:rPr>
              <a:t> </a:t>
            </a:r>
            <a:r>
              <a:rPr dirty="0" sz="1800" spc="70">
                <a:latin typeface="Trebuchet MS"/>
                <a:cs typeface="Trebuchet MS"/>
              </a:rPr>
              <a:t>que</a:t>
            </a:r>
            <a:r>
              <a:rPr dirty="0" sz="1800" spc="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llegan</a:t>
            </a:r>
            <a:r>
              <a:rPr dirty="0" sz="1800" spc="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al</a:t>
            </a:r>
            <a:r>
              <a:rPr dirty="0" sz="1800" spc="15">
                <a:latin typeface="Trebuchet MS"/>
                <a:cs typeface="Trebuchet MS"/>
              </a:rPr>
              <a:t> </a:t>
            </a:r>
            <a:r>
              <a:rPr dirty="0" sz="1800" spc="65">
                <a:latin typeface="Trebuchet MS"/>
                <a:cs typeface="Trebuchet MS"/>
              </a:rPr>
              <a:t>modelo</a:t>
            </a:r>
            <a:r>
              <a:rPr dirty="0" sz="1800" spc="1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antes</a:t>
            </a:r>
            <a:r>
              <a:rPr dirty="0" sz="1800" spc="500">
                <a:latin typeface="Trebuchet MS"/>
                <a:cs typeface="Trebuchet MS"/>
              </a:rPr>
              <a:t> </a:t>
            </a:r>
            <a:r>
              <a:rPr dirty="0" sz="1800" spc="70">
                <a:latin typeface="Trebuchet MS"/>
                <a:cs typeface="Trebuchet MS"/>
              </a:rPr>
              <a:t>que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50">
                <a:latin typeface="Trebuchet MS"/>
                <a:cs typeface="Trebuchet MS"/>
              </a:rPr>
              <a:t>los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casos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al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45">
                <a:latin typeface="Trebuchet MS"/>
                <a:cs typeface="Trebuchet MS"/>
              </a:rPr>
              <a:t>sistema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de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salud,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65">
                <a:latin typeface="Trebuchet MS"/>
                <a:cs typeface="Trebuchet MS"/>
              </a:rPr>
              <a:t>generando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alertas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de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riesgo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60">
                <a:latin typeface="Trebuchet MS"/>
                <a:cs typeface="Trebuchet MS"/>
              </a:rPr>
              <a:t>con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25">
                <a:latin typeface="Trebuchet MS"/>
                <a:cs typeface="Trebuchet MS"/>
              </a:rPr>
              <a:t>2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4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 spc="85">
                <a:latin typeface="Trebuchet MS"/>
                <a:cs typeface="Trebuchet MS"/>
              </a:rPr>
              <a:t>semanas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de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anticipación,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visualizadas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 spc="60">
                <a:latin typeface="Trebuchet MS"/>
                <a:cs typeface="Trebuchet MS"/>
              </a:rPr>
              <a:t>en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spc="85">
                <a:latin typeface="Trebuchet MS"/>
                <a:cs typeface="Trebuchet MS"/>
              </a:rPr>
              <a:t>dashboards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interactivos </a:t>
            </a:r>
            <a:r>
              <a:rPr dirty="0" sz="1800" spc="50">
                <a:latin typeface="Trebuchet MS"/>
                <a:cs typeface="Trebuchet MS"/>
              </a:rPr>
              <a:t>para</a:t>
            </a:r>
            <a:r>
              <a:rPr dirty="0" sz="1800" spc="20">
                <a:latin typeface="Trebuchet MS"/>
                <a:cs typeface="Trebuchet MS"/>
              </a:rPr>
              <a:t> </a:t>
            </a:r>
            <a:r>
              <a:rPr dirty="0" sz="1800" spc="50">
                <a:latin typeface="Trebuchet MS"/>
                <a:cs typeface="Trebuchet MS"/>
              </a:rPr>
              <a:t>apoyar</a:t>
            </a:r>
            <a:r>
              <a:rPr dirty="0" sz="1800" spc="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decisiones</a:t>
            </a:r>
            <a:r>
              <a:rPr dirty="0" sz="1800" spc="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del</a:t>
            </a:r>
            <a:r>
              <a:rPr dirty="0" sz="1800" spc="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Ministerio</a:t>
            </a:r>
            <a:r>
              <a:rPr dirty="0" sz="1800" spc="25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de</a:t>
            </a:r>
            <a:r>
              <a:rPr dirty="0" sz="1800" spc="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Salud,</a:t>
            </a:r>
            <a:r>
              <a:rPr dirty="0" sz="1800" spc="2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el</a:t>
            </a:r>
            <a:r>
              <a:rPr dirty="0" sz="1800" spc="20">
                <a:latin typeface="Trebuchet MS"/>
                <a:cs typeface="Trebuchet MS"/>
              </a:rPr>
              <a:t> </a:t>
            </a:r>
            <a:r>
              <a:rPr dirty="0" sz="1800" spc="100">
                <a:latin typeface="Trebuchet MS"/>
                <a:cs typeface="Trebuchet MS"/>
              </a:rPr>
              <a:t>INS</a:t>
            </a:r>
            <a:r>
              <a:rPr dirty="0" sz="1800" spc="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y</a:t>
            </a:r>
            <a:r>
              <a:rPr dirty="0" sz="1800" spc="2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las</a:t>
            </a:r>
            <a:r>
              <a:rPr dirty="0" sz="1800" spc="50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secretarías</a:t>
            </a:r>
            <a:r>
              <a:rPr dirty="0" sz="1800" spc="17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departamentales.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60689" y="8508476"/>
            <a:ext cx="604012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175">
                <a:solidFill>
                  <a:srgbClr val="AC2626"/>
                </a:solidFill>
                <a:latin typeface="Georgia"/>
                <a:cs typeface="Georgia"/>
              </a:rPr>
              <a:t>¿Cuál</a:t>
            </a:r>
            <a:r>
              <a:rPr dirty="0" sz="4000" spc="100">
                <a:solidFill>
                  <a:srgbClr val="AC2626"/>
                </a:solidFill>
                <a:latin typeface="Georgia"/>
                <a:cs typeface="Georgia"/>
              </a:rPr>
              <a:t> </a:t>
            </a:r>
            <a:r>
              <a:rPr dirty="0" sz="4000">
                <a:solidFill>
                  <a:srgbClr val="AC2626"/>
                </a:solidFill>
                <a:latin typeface="Georgia"/>
                <a:cs typeface="Georgia"/>
              </a:rPr>
              <a:t>es</a:t>
            </a:r>
            <a:r>
              <a:rPr dirty="0" sz="4000" spc="100">
                <a:solidFill>
                  <a:srgbClr val="AC2626"/>
                </a:solidFill>
                <a:latin typeface="Georgia"/>
                <a:cs typeface="Georgia"/>
              </a:rPr>
              <a:t> </a:t>
            </a:r>
            <a:r>
              <a:rPr dirty="0" sz="4000" spc="50">
                <a:solidFill>
                  <a:srgbClr val="AC2626"/>
                </a:solidFill>
                <a:latin typeface="Georgia"/>
                <a:cs typeface="Georgia"/>
              </a:rPr>
              <a:t>nuestro</a:t>
            </a:r>
            <a:r>
              <a:rPr dirty="0" sz="4000" spc="100">
                <a:solidFill>
                  <a:srgbClr val="AC2626"/>
                </a:solidFill>
                <a:latin typeface="Georgia"/>
                <a:cs typeface="Georgia"/>
              </a:rPr>
              <a:t> </a:t>
            </a:r>
            <a:r>
              <a:rPr dirty="0" sz="4000" spc="-30">
                <a:solidFill>
                  <a:srgbClr val="AC2626"/>
                </a:solidFill>
                <a:latin typeface="Georgia"/>
                <a:cs typeface="Georgia"/>
              </a:rPr>
              <a:t>objetivo?</a:t>
            </a:r>
            <a:endParaRPr sz="4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1105672"/>
            <a:ext cx="4698365" cy="2540000"/>
          </a:xfrm>
          <a:prstGeom prst="rect">
            <a:avLst/>
          </a:prstGeom>
        </p:spPr>
        <p:txBody>
          <a:bodyPr wrap="square" lIns="0" tIns="241300" rIns="0" bIns="0" rtlCol="0" vert="horz">
            <a:spAutoFit/>
          </a:bodyPr>
          <a:lstStyle/>
          <a:p>
            <a:pPr marL="12700" marR="5080">
              <a:lnSpc>
                <a:spcPts val="9000"/>
              </a:lnSpc>
              <a:spcBef>
                <a:spcPts val="1900"/>
              </a:spcBef>
            </a:pPr>
            <a:r>
              <a:rPr dirty="0" sz="9000" spc="180" b="1">
                <a:solidFill>
                  <a:srgbClr val="F4E7E7"/>
                </a:solidFill>
                <a:latin typeface="Arial"/>
                <a:cs typeface="Arial"/>
              </a:rPr>
              <a:t>Datos </a:t>
            </a:r>
            <a:r>
              <a:rPr dirty="0" sz="9000" spc="195" b="1">
                <a:solidFill>
                  <a:srgbClr val="F4E7E7"/>
                </a:solidFill>
                <a:latin typeface="Arial"/>
                <a:cs typeface="Arial"/>
              </a:rPr>
              <a:t>abiertos</a:t>
            </a:r>
            <a:endParaRPr sz="9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699" y="3777638"/>
            <a:ext cx="4123431" cy="937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44000" y="924340"/>
            <a:ext cx="2311400" cy="1028700"/>
          </a:xfrm>
          <a:prstGeom prst="rect">
            <a:avLst/>
          </a:prstGeom>
          <a:solidFill>
            <a:srgbClr val="7B1818"/>
          </a:solidFill>
        </p:spPr>
        <p:txBody>
          <a:bodyPr wrap="square" lIns="0" tIns="895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5"/>
              </a:spcBef>
            </a:pPr>
            <a:endParaRPr sz="1800">
              <a:latin typeface="Times New Roman"/>
              <a:cs typeface="Times New Roman"/>
            </a:endParaRPr>
          </a:p>
          <a:p>
            <a:pPr marL="720725">
              <a:lnSpc>
                <a:spcPct val="100000"/>
              </a:lnSpc>
            </a:pPr>
            <a:r>
              <a:rPr dirty="0" sz="1800" spc="35" b="1">
                <a:solidFill>
                  <a:srgbClr val="FFFFFF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45899" y="924340"/>
            <a:ext cx="2329180" cy="1028700"/>
          </a:xfrm>
          <a:prstGeom prst="rect">
            <a:avLst/>
          </a:prstGeom>
          <a:solidFill>
            <a:srgbClr val="7B1818"/>
          </a:solidFill>
        </p:spPr>
        <p:txBody>
          <a:bodyPr wrap="square" lIns="0" tIns="10731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44"/>
              </a:spcBef>
            </a:pPr>
            <a:endParaRPr sz="1700">
              <a:latin typeface="Times New Roman"/>
              <a:cs typeface="Times New Roman"/>
            </a:endParaRPr>
          </a:p>
          <a:p>
            <a:pPr marL="756920">
              <a:lnSpc>
                <a:spcPct val="100000"/>
              </a:lnSpc>
            </a:pP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Entidad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64950" y="924340"/>
            <a:ext cx="2915920" cy="1028700"/>
          </a:xfrm>
          <a:prstGeom prst="rect">
            <a:avLst/>
          </a:prstGeom>
          <a:solidFill>
            <a:srgbClr val="7B1818"/>
          </a:solidFill>
        </p:spPr>
        <p:txBody>
          <a:bodyPr wrap="square" lIns="0" tIns="167005" rIns="0" bIns="0" rtlCol="0" vert="horz">
            <a:spAutoFit/>
          </a:bodyPr>
          <a:lstStyle/>
          <a:p>
            <a:pPr marL="1109345" marR="492759" indent="-609600">
              <a:lnSpc>
                <a:spcPct val="113999"/>
              </a:lnSpc>
              <a:spcBef>
                <a:spcPts val="1315"/>
              </a:spcBef>
            </a:pP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r>
              <a:rPr dirty="0" sz="17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clave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5" b="1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aporta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0" y="2143540"/>
            <a:ext cx="2311400" cy="1171575"/>
          </a:xfrm>
          <a:prstGeom prst="rect">
            <a:avLst/>
          </a:prstGeom>
          <a:solidFill>
            <a:srgbClr val="FF9999"/>
          </a:solidFill>
        </p:spPr>
        <p:txBody>
          <a:bodyPr wrap="square" lIns="0" tIns="132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4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400" spc="100" b="1">
                <a:solidFill>
                  <a:srgbClr val="FFFFFF"/>
                </a:solidFill>
                <a:latin typeface="Arial"/>
                <a:cs typeface="Arial"/>
              </a:rPr>
              <a:t>SIVIGILA</a:t>
            </a:r>
            <a:r>
              <a:rPr dirty="0" sz="14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105" b="1">
                <a:solidFill>
                  <a:srgbClr val="FFFFFF"/>
                </a:solidFill>
                <a:latin typeface="Arial"/>
                <a:cs typeface="Arial"/>
              </a:rPr>
              <a:t>2007–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dirty="0" sz="1400" spc="165" b="1">
                <a:solidFill>
                  <a:srgbClr val="FFFFFF"/>
                </a:solidFill>
                <a:latin typeface="Arial"/>
                <a:cs typeface="Arial"/>
              </a:rPr>
              <a:t>2022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45899" y="2143540"/>
            <a:ext cx="2329180" cy="1171575"/>
          </a:xfrm>
          <a:prstGeom prst="rect">
            <a:avLst/>
          </a:prstGeom>
          <a:solidFill>
            <a:srgbClr val="FF9999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INS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64950" y="2143540"/>
            <a:ext cx="2915920" cy="1171575"/>
          </a:xfrm>
          <a:prstGeom prst="rect">
            <a:avLst/>
          </a:prstGeom>
          <a:solidFill>
            <a:srgbClr val="FF9999"/>
          </a:solidFill>
        </p:spPr>
        <p:txBody>
          <a:bodyPr wrap="square" lIns="0" tIns="178435" rIns="0" bIns="0" rtlCol="0" vert="horz">
            <a:spAutoFit/>
          </a:bodyPr>
          <a:lstStyle/>
          <a:p>
            <a:pPr algn="ctr" marL="544195" marR="537210">
              <a:lnSpc>
                <a:spcPct val="116100"/>
              </a:lnSpc>
              <a:spcBef>
                <a:spcPts val="1405"/>
              </a:spcBef>
            </a:pPr>
            <a:r>
              <a:rPr dirty="0" sz="1400" spc="-55">
                <a:solidFill>
                  <a:srgbClr val="FFFFFF"/>
                </a:solidFill>
                <a:latin typeface="Verdana"/>
                <a:cs typeface="Verdana"/>
              </a:rPr>
              <a:t>Histórico</a:t>
            </a:r>
            <a:r>
              <a:rPr dirty="0" sz="14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dirty="0" sz="140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Verdana"/>
                <a:cs typeface="Verdana"/>
              </a:rPr>
              <a:t>casos</a:t>
            </a:r>
            <a:r>
              <a:rPr dirty="0" sz="14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por </a:t>
            </a:r>
            <a:r>
              <a:rPr dirty="0" sz="1400" spc="-60">
                <a:solidFill>
                  <a:srgbClr val="FFFFFF"/>
                </a:solidFill>
                <a:latin typeface="Verdana"/>
                <a:cs typeface="Verdana"/>
              </a:rPr>
              <a:t>municipio</a:t>
            </a:r>
            <a:r>
              <a:rPr dirty="0" sz="14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dirty="0" sz="14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semana epidemiológica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000" y="3505615"/>
            <a:ext cx="2311400" cy="923925"/>
          </a:xfrm>
          <a:prstGeom prst="rect">
            <a:avLst/>
          </a:prstGeom>
          <a:solidFill>
            <a:srgbClr val="FF9999"/>
          </a:solidFill>
        </p:spPr>
        <p:txBody>
          <a:bodyPr wrap="square" lIns="0" tIns="132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40"/>
              </a:spcBef>
            </a:pPr>
            <a:endParaRPr sz="1400">
              <a:latin typeface="Times New Roman"/>
              <a:cs typeface="Times New Roman"/>
            </a:endParaRPr>
          </a:p>
          <a:p>
            <a:pPr marL="556260">
              <a:lnSpc>
                <a:spcPct val="100000"/>
              </a:lnSpc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Chikungunya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45899" y="3505615"/>
            <a:ext cx="2329180" cy="923925"/>
          </a:xfrm>
          <a:prstGeom prst="rect">
            <a:avLst/>
          </a:prstGeom>
          <a:solidFill>
            <a:srgbClr val="FF9999"/>
          </a:solidFill>
        </p:spPr>
        <p:txBody>
          <a:bodyPr wrap="square" lIns="0" tIns="132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4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INS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164950" y="3505615"/>
            <a:ext cx="2915920" cy="923925"/>
          </a:xfrm>
          <a:prstGeom prst="rect">
            <a:avLst/>
          </a:prstGeom>
          <a:solidFill>
            <a:srgbClr val="FF9999"/>
          </a:solidFill>
        </p:spPr>
        <p:txBody>
          <a:bodyPr wrap="square" lIns="0" tIns="178435" rIns="0" bIns="0" rtlCol="0" vert="horz">
            <a:spAutoFit/>
          </a:bodyPr>
          <a:lstStyle/>
          <a:p>
            <a:pPr marL="1087755" marR="400050" indent="-680720">
              <a:lnSpc>
                <a:spcPct val="116100"/>
              </a:lnSpc>
              <a:spcBef>
                <a:spcPts val="1405"/>
              </a:spcBef>
            </a:pPr>
            <a:r>
              <a:rPr dirty="0" sz="1400" spc="-65">
                <a:solidFill>
                  <a:srgbClr val="FFFFFF"/>
                </a:solidFill>
                <a:latin typeface="Verdana"/>
                <a:cs typeface="Verdana"/>
              </a:rPr>
              <a:t>Mayor</a:t>
            </a:r>
            <a:r>
              <a:rPr dirty="0" sz="14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FFFFFF"/>
                </a:solidFill>
                <a:latin typeface="Verdana"/>
                <a:cs typeface="Verdana"/>
              </a:rPr>
              <a:t>resolución</a:t>
            </a:r>
            <a:r>
              <a:rPr dirty="0" sz="14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clínica</a:t>
            </a:r>
            <a:r>
              <a:rPr dirty="0" sz="14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Verdana"/>
                <a:cs typeface="Verdana"/>
              </a:rPr>
              <a:t>y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temporal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0" y="4620040"/>
            <a:ext cx="2311400" cy="1171575"/>
          </a:xfrm>
          <a:prstGeom prst="rect">
            <a:avLst/>
          </a:prstGeom>
          <a:solidFill>
            <a:srgbClr val="FF9999"/>
          </a:solidFill>
        </p:spPr>
        <p:txBody>
          <a:bodyPr wrap="square" lIns="0" tIns="971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65"/>
              </a:spcBef>
            </a:pPr>
            <a:endParaRPr sz="1400">
              <a:latin typeface="Times New Roman"/>
              <a:cs typeface="Times New Roman"/>
            </a:endParaRPr>
          </a:p>
          <a:p>
            <a:pPr marL="520700" marR="513080" indent="217804">
              <a:lnSpc>
                <a:spcPct val="116100"/>
              </a:lnSpc>
              <a:spcBef>
                <a:spcPts val="5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Normales climatológicas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645899" y="4620040"/>
            <a:ext cx="2329180" cy="1171575"/>
          </a:xfrm>
          <a:prstGeom prst="rect">
            <a:avLst/>
          </a:prstGeom>
          <a:solidFill>
            <a:srgbClr val="FF9999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IDEAM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164950" y="4620040"/>
            <a:ext cx="2915920" cy="1171575"/>
          </a:xfrm>
          <a:prstGeom prst="rect">
            <a:avLst/>
          </a:prstGeom>
          <a:solidFill>
            <a:srgbClr val="FF9999"/>
          </a:solidFill>
        </p:spPr>
        <p:txBody>
          <a:bodyPr wrap="square" lIns="0" tIns="178435" rIns="0" bIns="0" rtlCol="0" vert="horz">
            <a:spAutoFit/>
          </a:bodyPr>
          <a:lstStyle/>
          <a:p>
            <a:pPr algn="ctr" marL="307975" marR="300355" indent="-635">
              <a:lnSpc>
                <a:spcPct val="116100"/>
              </a:lnSpc>
              <a:spcBef>
                <a:spcPts val="1405"/>
              </a:spcBef>
            </a:pPr>
            <a:r>
              <a:rPr dirty="0" sz="1400" spc="-90">
                <a:solidFill>
                  <a:srgbClr val="FFFFFF"/>
                </a:solidFill>
                <a:latin typeface="Verdana"/>
                <a:cs typeface="Verdana"/>
              </a:rPr>
              <a:t>Temperatura</a:t>
            </a:r>
            <a:r>
              <a:rPr dirty="0" sz="140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dirty="0" sz="14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FFFFFF"/>
                </a:solidFill>
                <a:latin typeface="Verdana"/>
                <a:cs typeface="Verdana"/>
              </a:rPr>
              <a:t>humedad</a:t>
            </a:r>
            <a:r>
              <a:rPr dirty="0" sz="14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390">
                <a:solidFill>
                  <a:srgbClr val="FFFFFF"/>
                </a:solidFill>
                <a:latin typeface="Verdana"/>
                <a:cs typeface="Verdana"/>
              </a:rPr>
              <a:t>—</a:t>
            </a:r>
            <a:r>
              <a:rPr dirty="0" sz="1400" spc="-40">
                <a:solidFill>
                  <a:srgbClr val="FFFFFF"/>
                </a:solidFill>
                <a:latin typeface="Verdana"/>
                <a:cs typeface="Verdana"/>
              </a:rPr>
              <a:t> condiciones</a:t>
            </a:r>
            <a:r>
              <a:rPr dirty="0" sz="14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dirty="0" sz="14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FFFFFF"/>
                </a:solidFill>
                <a:latin typeface="Verdana"/>
                <a:cs typeface="Verdana"/>
              </a:rPr>
              <a:t>proliferación </a:t>
            </a:r>
            <a:r>
              <a:rPr dirty="0" sz="1400" spc="-65">
                <a:solidFill>
                  <a:srgbClr val="FFFFFF"/>
                </a:solidFill>
                <a:latin typeface="Verdana"/>
                <a:cs typeface="Verdana"/>
              </a:rPr>
              <a:t>del</a:t>
            </a:r>
            <a:r>
              <a:rPr dirty="0" sz="14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vector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0" y="5982115"/>
            <a:ext cx="2311400" cy="962025"/>
          </a:xfrm>
          <a:prstGeom prst="rect">
            <a:avLst/>
          </a:prstGeom>
          <a:solidFill>
            <a:srgbClr val="F44646"/>
          </a:solidFill>
        </p:spPr>
        <p:txBody>
          <a:bodyPr wrap="square" lIns="0" tIns="197485" rIns="0" bIns="0" rtlCol="0" vert="horz">
            <a:spAutoFit/>
          </a:bodyPr>
          <a:lstStyle/>
          <a:p>
            <a:pPr marL="647700" marR="521970" indent="-118745">
              <a:lnSpc>
                <a:spcPct val="116100"/>
              </a:lnSpc>
              <a:spcBef>
                <a:spcPts val="1555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Coberturas</a:t>
            </a:r>
            <a:r>
              <a:rPr dirty="0" sz="1400" spc="2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Vacunación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645899" y="5982115"/>
            <a:ext cx="2329180" cy="962025"/>
          </a:xfrm>
          <a:prstGeom prst="rect">
            <a:avLst/>
          </a:prstGeom>
          <a:solidFill>
            <a:srgbClr val="F44646"/>
          </a:solidFill>
        </p:spPr>
        <p:txBody>
          <a:bodyPr wrap="square" lIns="0" tIns="1238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75"/>
              </a:spcBef>
            </a:pPr>
            <a:endParaRPr sz="1500">
              <a:latin typeface="Times New Roman"/>
              <a:cs typeface="Times New Roman"/>
            </a:endParaRPr>
          </a:p>
          <a:p>
            <a:pPr marL="758825">
              <a:lnSpc>
                <a:spcPct val="100000"/>
              </a:lnSpc>
            </a:pPr>
            <a:r>
              <a:rPr dirty="0" sz="1500" spc="-10">
                <a:solidFill>
                  <a:srgbClr val="FFFFFF"/>
                </a:solidFill>
                <a:latin typeface="Verdana"/>
                <a:cs typeface="Verdana"/>
              </a:rPr>
              <a:t>MinSalud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164950" y="5982115"/>
            <a:ext cx="2915920" cy="962025"/>
          </a:xfrm>
          <a:prstGeom prst="rect">
            <a:avLst/>
          </a:prstGeom>
          <a:solidFill>
            <a:srgbClr val="F44646"/>
          </a:solidFill>
        </p:spPr>
        <p:txBody>
          <a:bodyPr wrap="square" lIns="0" tIns="171450" rIns="0" bIns="0" rtlCol="0" vert="horz">
            <a:spAutoFit/>
          </a:bodyPr>
          <a:lstStyle/>
          <a:p>
            <a:pPr marL="463550" marR="280035" indent="-176530">
              <a:lnSpc>
                <a:spcPct val="116700"/>
              </a:lnSpc>
              <a:spcBef>
                <a:spcPts val="1350"/>
              </a:spcBef>
            </a:pPr>
            <a:r>
              <a:rPr dirty="0" sz="1500" spc="-85">
                <a:solidFill>
                  <a:srgbClr val="FFFFFF"/>
                </a:solidFill>
                <a:latin typeface="Verdana"/>
                <a:cs typeface="Verdana"/>
              </a:rPr>
              <a:t>Vulnerabilidad</a:t>
            </a:r>
            <a:r>
              <a:rPr dirty="0" sz="15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00" spc="-7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dirty="0" sz="15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00" spc="-35">
                <a:solidFill>
                  <a:srgbClr val="FFFFFF"/>
                </a:solidFill>
                <a:latin typeface="Verdana"/>
                <a:cs typeface="Verdana"/>
              </a:rPr>
              <a:t>capacidad </a:t>
            </a:r>
            <a:r>
              <a:rPr dirty="0" sz="1500" spc="-45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dirty="0" sz="15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00" spc="-60">
                <a:solidFill>
                  <a:srgbClr val="FFFFFF"/>
                </a:solidFill>
                <a:latin typeface="Verdana"/>
                <a:cs typeface="Verdana"/>
              </a:rPr>
              <a:t>respuesta</a:t>
            </a:r>
            <a:r>
              <a:rPr dirty="0" sz="15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Verdana"/>
                <a:cs typeface="Verdana"/>
              </a:rPr>
              <a:t>territorial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4000" y="7134640"/>
            <a:ext cx="2311400" cy="967740"/>
          </a:xfrm>
          <a:prstGeom prst="rect">
            <a:avLst/>
          </a:prstGeom>
          <a:solidFill>
            <a:srgbClr val="F44646"/>
          </a:solidFill>
        </p:spPr>
        <p:txBody>
          <a:bodyPr wrap="square" lIns="0" tIns="151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90"/>
              </a:spcBef>
            </a:pPr>
            <a:endParaRPr sz="1400">
              <a:latin typeface="Times New Roman"/>
              <a:cs typeface="Times New Roman"/>
            </a:endParaRPr>
          </a:p>
          <a:p>
            <a:pPr marL="434975">
              <a:lnSpc>
                <a:spcPct val="100000"/>
              </a:lnSpc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RIPS</a:t>
            </a:r>
            <a:r>
              <a:rPr dirty="0" sz="1400" spc="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Agregados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645899" y="7134640"/>
            <a:ext cx="2329180" cy="967740"/>
          </a:xfrm>
          <a:prstGeom prst="rect">
            <a:avLst/>
          </a:prstGeom>
          <a:solidFill>
            <a:srgbClr val="F44646"/>
          </a:solidFill>
        </p:spPr>
        <p:txBody>
          <a:bodyPr wrap="square" lIns="0" tIns="1238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75"/>
              </a:spcBef>
            </a:pPr>
            <a:endParaRPr sz="1500">
              <a:latin typeface="Times New Roman"/>
              <a:cs typeface="Times New Roman"/>
            </a:endParaRPr>
          </a:p>
          <a:p>
            <a:pPr marL="758825">
              <a:lnSpc>
                <a:spcPct val="100000"/>
              </a:lnSpc>
            </a:pPr>
            <a:r>
              <a:rPr dirty="0" sz="1500" spc="-10">
                <a:solidFill>
                  <a:srgbClr val="FFFFFF"/>
                </a:solidFill>
                <a:latin typeface="Verdana"/>
                <a:cs typeface="Verdana"/>
              </a:rPr>
              <a:t>MinSalud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164950" y="7134640"/>
            <a:ext cx="2915920" cy="967740"/>
          </a:xfrm>
          <a:prstGeom prst="rect">
            <a:avLst/>
          </a:prstGeom>
          <a:solidFill>
            <a:srgbClr val="F44646"/>
          </a:solidFill>
        </p:spPr>
        <p:txBody>
          <a:bodyPr wrap="square" lIns="0" tIns="171450" rIns="0" bIns="0" rtlCol="0" vert="horz">
            <a:spAutoFit/>
          </a:bodyPr>
          <a:lstStyle/>
          <a:p>
            <a:pPr marL="429259" marR="401955" indent="-20955">
              <a:lnSpc>
                <a:spcPct val="116700"/>
              </a:lnSpc>
              <a:spcBef>
                <a:spcPts val="1350"/>
              </a:spcBef>
            </a:pPr>
            <a:r>
              <a:rPr dirty="0" sz="1500" spc="-30">
                <a:solidFill>
                  <a:srgbClr val="FFFFFF"/>
                </a:solidFill>
                <a:latin typeface="Verdana"/>
                <a:cs typeface="Verdana"/>
              </a:rPr>
              <a:t>Casos</a:t>
            </a:r>
            <a:r>
              <a:rPr dirty="0" sz="15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00" spc="-65">
                <a:solidFill>
                  <a:srgbClr val="FFFFFF"/>
                </a:solidFill>
                <a:latin typeface="Verdana"/>
                <a:cs typeface="Verdana"/>
              </a:rPr>
              <a:t>atendidos</a:t>
            </a:r>
            <a:r>
              <a:rPr dirty="0" sz="15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00" spc="-95">
                <a:solidFill>
                  <a:srgbClr val="FFFFFF"/>
                </a:solidFill>
                <a:latin typeface="Verdana"/>
                <a:cs typeface="Verdana"/>
              </a:rPr>
              <a:t>aún</a:t>
            </a:r>
            <a:r>
              <a:rPr dirty="0" sz="15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Verdana"/>
                <a:cs typeface="Verdana"/>
              </a:rPr>
              <a:t>no </a:t>
            </a:r>
            <a:r>
              <a:rPr dirty="0" sz="1500" spc="-50">
                <a:solidFill>
                  <a:srgbClr val="FFFFFF"/>
                </a:solidFill>
                <a:latin typeface="Verdana"/>
                <a:cs typeface="Verdana"/>
              </a:rPr>
              <a:t>notificados</a:t>
            </a:r>
            <a:r>
              <a:rPr dirty="0" sz="15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00" spc="-9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15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Verdana"/>
                <a:cs typeface="Verdana"/>
              </a:rPr>
              <a:t>SIVIGILA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4000" y="8292771"/>
            <a:ext cx="2311400" cy="962025"/>
          </a:xfrm>
          <a:prstGeom prst="rect">
            <a:avLst/>
          </a:prstGeom>
          <a:solidFill>
            <a:srgbClr val="F44646"/>
          </a:solidFill>
        </p:spPr>
        <p:txBody>
          <a:bodyPr wrap="square" lIns="0" tIns="197485" rIns="0" bIns="0" rtlCol="0" vert="horz">
            <a:spAutoFit/>
          </a:bodyPr>
          <a:lstStyle/>
          <a:p>
            <a:pPr marL="677545" marR="317500" indent="-352425">
              <a:lnSpc>
                <a:spcPct val="116100"/>
              </a:lnSpc>
              <a:spcBef>
                <a:spcPts val="1555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Movilidad</a:t>
            </a:r>
            <a:r>
              <a:rPr dirty="0" sz="14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Urbana</a:t>
            </a:r>
            <a:r>
              <a:rPr dirty="0" sz="14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Transporte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645899" y="8292771"/>
            <a:ext cx="2329180" cy="962025"/>
          </a:xfrm>
          <a:prstGeom prst="rect">
            <a:avLst/>
          </a:prstGeom>
          <a:solidFill>
            <a:srgbClr val="F44646"/>
          </a:solidFill>
        </p:spPr>
        <p:txBody>
          <a:bodyPr wrap="square" lIns="0" tIns="1238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75"/>
              </a:spcBef>
            </a:pPr>
            <a:endParaRPr sz="1500">
              <a:latin typeface="Times New Roman"/>
              <a:cs typeface="Times New Roman"/>
            </a:endParaRPr>
          </a:p>
          <a:p>
            <a:pPr marL="526415">
              <a:lnSpc>
                <a:spcPct val="100000"/>
              </a:lnSpc>
            </a:pPr>
            <a:r>
              <a:rPr dirty="0" sz="1500" spc="-10">
                <a:solidFill>
                  <a:srgbClr val="FFFFFF"/>
                </a:solidFill>
                <a:latin typeface="Verdana"/>
                <a:cs typeface="Verdana"/>
              </a:rPr>
              <a:t>MinTransporte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164950" y="8292771"/>
            <a:ext cx="2915920" cy="962025"/>
          </a:xfrm>
          <a:prstGeom prst="rect">
            <a:avLst/>
          </a:prstGeom>
          <a:solidFill>
            <a:srgbClr val="F44646"/>
          </a:solidFill>
        </p:spPr>
        <p:txBody>
          <a:bodyPr wrap="square" lIns="0" tIns="171450" rIns="0" bIns="0" rtlCol="0" vert="horz">
            <a:spAutoFit/>
          </a:bodyPr>
          <a:lstStyle/>
          <a:p>
            <a:pPr marL="466090" marR="339725" indent="-119380">
              <a:lnSpc>
                <a:spcPct val="116700"/>
              </a:lnSpc>
              <a:spcBef>
                <a:spcPts val="1350"/>
              </a:spcBef>
            </a:pPr>
            <a:r>
              <a:rPr dirty="0" sz="1500" spc="-75">
                <a:solidFill>
                  <a:srgbClr val="FFFFFF"/>
                </a:solidFill>
                <a:latin typeface="Verdana"/>
                <a:cs typeface="Verdana"/>
              </a:rPr>
              <a:t>Dispersión</a:t>
            </a:r>
            <a:r>
              <a:rPr dirty="0" sz="15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00" spc="-55">
                <a:solidFill>
                  <a:srgbClr val="FFFFFF"/>
                </a:solidFill>
                <a:latin typeface="Verdana"/>
                <a:cs typeface="Verdana"/>
              </a:rPr>
              <a:t>geográfica</a:t>
            </a:r>
            <a:r>
              <a:rPr dirty="0" sz="15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Verdana"/>
                <a:cs typeface="Verdana"/>
              </a:rPr>
              <a:t>del </a:t>
            </a:r>
            <a:r>
              <a:rPr dirty="0" sz="1500" spc="-60">
                <a:solidFill>
                  <a:srgbClr val="FFFFFF"/>
                </a:solidFill>
                <a:latin typeface="Verdana"/>
                <a:cs typeface="Verdana"/>
              </a:rPr>
              <a:t>brote</a:t>
            </a:r>
            <a:r>
              <a:rPr dirty="0" sz="15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00" spc="-65">
                <a:solidFill>
                  <a:srgbClr val="FFFFFF"/>
                </a:solidFill>
                <a:latin typeface="Verdana"/>
                <a:cs typeface="Verdana"/>
              </a:rPr>
              <a:t>entre</a:t>
            </a:r>
            <a:r>
              <a:rPr dirty="0" sz="15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Verdana"/>
                <a:cs typeface="Verdana"/>
              </a:rPr>
              <a:t>municipios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28699" y="4572977"/>
            <a:ext cx="6306185" cy="2008505"/>
          </a:xfrm>
          <a:custGeom>
            <a:avLst/>
            <a:gdLst/>
            <a:ahLst/>
            <a:cxnLst/>
            <a:rect l="l" t="t" r="r" b="b"/>
            <a:pathLst>
              <a:path w="6306184" h="2008504">
                <a:moveTo>
                  <a:pt x="6021358" y="2007922"/>
                </a:moveTo>
                <a:lnTo>
                  <a:pt x="285750" y="2007922"/>
                </a:lnTo>
                <a:lnTo>
                  <a:pt x="240779" y="2004362"/>
                </a:lnTo>
                <a:lnTo>
                  <a:pt x="197320" y="1993895"/>
                </a:lnTo>
                <a:lnTo>
                  <a:pt x="156141" y="1976838"/>
                </a:lnTo>
                <a:lnTo>
                  <a:pt x="118010" y="1953510"/>
                </a:lnTo>
                <a:lnTo>
                  <a:pt x="83694" y="1924228"/>
                </a:lnTo>
                <a:lnTo>
                  <a:pt x="54412" y="1889911"/>
                </a:lnTo>
                <a:lnTo>
                  <a:pt x="31083" y="1851780"/>
                </a:lnTo>
                <a:lnTo>
                  <a:pt x="14026" y="1810601"/>
                </a:lnTo>
                <a:lnTo>
                  <a:pt x="3559" y="1767143"/>
                </a:lnTo>
                <a:lnTo>
                  <a:pt x="0" y="1722172"/>
                </a:lnTo>
                <a:lnTo>
                  <a:pt x="0" y="285750"/>
                </a:lnTo>
                <a:lnTo>
                  <a:pt x="3559" y="240779"/>
                </a:lnTo>
                <a:lnTo>
                  <a:pt x="14026" y="197320"/>
                </a:lnTo>
                <a:lnTo>
                  <a:pt x="31083" y="156141"/>
                </a:lnTo>
                <a:lnTo>
                  <a:pt x="54412" y="118010"/>
                </a:lnTo>
                <a:lnTo>
                  <a:pt x="83694" y="83694"/>
                </a:lnTo>
                <a:lnTo>
                  <a:pt x="118010" y="54412"/>
                </a:lnTo>
                <a:lnTo>
                  <a:pt x="156141" y="31083"/>
                </a:lnTo>
                <a:lnTo>
                  <a:pt x="197320" y="14026"/>
                </a:lnTo>
                <a:lnTo>
                  <a:pt x="240779" y="3559"/>
                </a:lnTo>
                <a:lnTo>
                  <a:pt x="285750" y="0"/>
                </a:lnTo>
                <a:lnTo>
                  <a:pt x="6021358" y="0"/>
                </a:lnTo>
                <a:lnTo>
                  <a:pt x="6066329" y="3559"/>
                </a:lnTo>
                <a:lnTo>
                  <a:pt x="6109788" y="14026"/>
                </a:lnTo>
                <a:lnTo>
                  <a:pt x="6150966" y="31083"/>
                </a:lnTo>
                <a:lnTo>
                  <a:pt x="6189098" y="54412"/>
                </a:lnTo>
                <a:lnTo>
                  <a:pt x="6223414" y="83694"/>
                </a:lnTo>
                <a:lnTo>
                  <a:pt x="6252696" y="118010"/>
                </a:lnTo>
                <a:lnTo>
                  <a:pt x="6276025" y="156141"/>
                </a:lnTo>
                <a:lnTo>
                  <a:pt x="6293081" y="197320"/>
                </a:lnTo>
                <a:lnTo>
                  <a:pt x="6303549" y="240779"/>
                </a:lnTo>
                <a:lnTo>
                  <a:pt x="6306130" y="273391"/>
                </a:lnTo>
                <a:lnTo>
                  <a:pt x="6306130" y="1734531"/>
                </a:lnTo>
                <a:lnTo>
                  <a:pt x="6293081" y="1810601"/>
                </a:lnTo>
                <a:lnTo>
                  <a:pt x="6276025" y="1851780"/>
                </a:lnTo>
                <a:lnTo>
                  <a:pt x="6252696" y="1889911"/>
                </a:lnTo>
                <a:lnTo>
                  <a:pt x="6223414" y="1924228"/>
                </a:lnTo>
                <a:lnTo>
                  <a:pt x="6189098" y="1953510"/>
                </a:lnTo>
                <a:lnTo>
                  <a:pt x="6150966" y="1976838"/>
                </a:lnTo>
                <a:lnTo>
                  <a:pt x="6109788" y="1993895"/>
                </a:lnTo>
                <a:lnTo>
                  <a:pt x="6066329" y="2004362"/>
                </a:lnTo>
                <a:lnTo>
                  <a:pt x="6021358" y="2007922"/>
                </a:lnTo>
                <a:close/>
              </a:path>
            </a:pathLst>
          </a:custGeom>
          <a:solidFill>
            <a:srgbClr val="F4E7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206499" y="4748872"/>
            <a:ext cx="5736590" cy="1597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 spc="-120">
                <a:latin typeface="Arial Black"/>
                <a:cs typeface="Arial Black"/>
              </a:rPr>
              <a:t>Fuentes</a:t>
            </a:r>
            <a:r>
              <a:rPr dirty="0" sz="1800" spc="-95">
                <a:latin typeface="Arial Black"/>
                <a:cs typeface="Arial Black"/>
              </a:rPr>
              <a:t> </a:t>
            </a:r>
            <a:r>
              <a:rPr dirty="0" sz="1800" spc="-105">
                <a:latin typeface="Arial Black"/>
                <a:cs typeface="Arial Black"/>
              </a:rPr>
              <a:t>externas</a:t>
            </a:r>
            <a:r>
              <a:rPr dirty="0" sz="1800" spc="-90">
                <a:latin typeface="Arial Black"/>
                <a:cs typeface="Arial Black"/>
              </a:rPr>
              <a:t> obtenidas </a:t>
            </a:r>
            <a:r>
              <a:rPr dirty="0" sz="1800" spc="-85">
                <a:latin typeface="Arial Black"/>
                <a:cs typeface="Arial Black"/>
              </a:rPr>
              <a:t>mediante</a:t>
            </a:r>
            <a:r>
              <a:rPr dirty="0" sz="1800" spc="-90">
                <a:latin typeface="Arial Black"/>
                <a:cs typeface="Arial Black"/>
              </a:rPr>
              <a:t> </a:t>
            </a:r>
            <a:r>
              <a:rPr dirty="0" sz="1800" spc="-10">
                <a:latin typeface="Arial Black"/>
                <a:cs typeface="Arial Black"/>
              </a:rPr>
              <a:t>scraping: </a:t>
            </a:r>
            <a:r>
              <a:rPr dirty="0" sz="1800" spc="50">
                <a:latin typeface="Trebuchet MS"/>
                <a:cs typeface="Trebuchet MS"/>
              </a:rPr>
              <a:t>Señales</a:t>
            </a:r>
            <a:r>
              <a:rPr dirty="0" sz="1800" spc="40">
                <a:latin typeface="Trebuchet MS"/>
                <a:cs typeface="Trebuchet MS"/>
              </a:rPr>
              <a:t> </a:t>
            </a:r>
            <a:r>
              <a:rPr dirty="0" sz="1800" spc="65">
                <a:latin typeface="Trebuchet MS"/>
                <a:cs typeface="Trebuchet MS"/>
              </a:rPr>
              <a:t>tempranas</a:t>
            </a:r>
            <a:r>
              <a:rPr dirty="0" sz="1800" spc="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complementarias:</a:t>
            </a:r>
            <a:r>
              <a:rPr dirty="0" sz="1800" spc="40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Google</a:t>
            </a:r>
            <a:r>
              <a:rPr dirty="0" sz="1800" spc="40">
                <a:latin typeface="Trebuchet MS"/>
                <a:cs typeface="Trebuchet MS"/>
              </a:rPr>
              <a:t> Trends </a:t>
            </a:r>
            <a:r>
              <a:rPr dirty="0" sz="1800" spc="70">
                <a:latin typeface="Trebuchet MS"/>
                <a:cs typeface="Trebuchet MS"/>
              </a:rPr>
              <a:t>(búsquedas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de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70">
                <a:latin typeface="Trebuchet MS"/>
                <a:cs typeface="Trebuchet MS"/>
              </a:rPr>
              <a:t>síntomas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por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 spc="10">
                <a:latin typeface="Trebuchet MS"/>
                <a:cs typeface="Trebuchet MS"/>
              </a:rPr>
              <a:t>departamento)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10">
                <a:latin typeface="Trebuchet MS"/>
                <a:cs typeface="Trebuchet MS"/>
              </a:rPr>
              <a:t>y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100">
                <a:latin typeface="Trebuchet MS"/>
                <a:cs typeface="Trebuchet MS"/>
              </a:rPr>
              <a:t>RSS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30">
                <a:latin typeface="Trebuchet MS"/>
                <a:cs typeface="Trebuchet MS"/>
              </a:rPr>
              <a:t>de </a:t>
            </a:r>
            <a:r>
              <a:rPr dirty="0" sz="1800" spc="75">
                <a:latin typeface="Trebuchet MS"/>
                <a:cs typeface="Trebuchet MS"/>
              </a:rPr>
              <a:t>medios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regionales,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que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anticipan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entre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1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y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3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semanas </a:t>
            </a:r>
            <a:r>
              <a:rPr dirty="0" sz="1800" spc="55">
                <a:latin typeface="Trebuchet MS"/>
                <a:cs typeface="Trebuchet MS"/>
              </a:rPr>
              <a:t>los</a:t>
            </a:r>
            <a:r>
              <a:rPr dirty="0" sz="1800" spc="10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reportes</a:t>
            </a:r>
            <a:r>
              <a:rPr dirty="0" sz="1800" spc="10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oficiales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28699" y="6985675"/>
            <a:ext cx="6306185" cy="2008505"/>
          </a:xfrm>
          <a:custGeom>
            <a:avLst/>
            <a:gdLst/>
            <a:ahLst/>
            <a:cxnLst/>
            <a:rect l="l" t="t" r="r" b="b"/>
            <a:pathLst>
              <a:path w="6306184" h="2008504">
                <a:moveTo>
                  <a:pt x="6021358" y="2007922"/>
                </a:moveTo>
                <a:lnTo>
                  <a:pt x="285750" y="2007922"/>
                </a:lnTo>
                <a:lnTo>
                  <a:pt x="240779" y="2004362"/>
                </a:lnTo>
                <a:lnTo>
                  <a:pt x="197320" y="1993895"/>
                </a:lnTo>
                <a:lnTo>
                  <a:pt x="156141" y="1976838"/>
                </a:lnTo>
                <a:lnTo>
                  <a:pt x="118010" y="1953510"/>
                </a:lnTo>
                <a:lnTo>
                  <a:pt x="83694" y="1924227"/>
                </a:lnTo>
                <a:lnTo>
                  <a:pt x="54412" y="1889911"/>
                </a:lnTo>
                <a:lnTo>
                  <a:pt x="31083" y="1851780"/>
                </a:lnTo>
                <a:lnTo>
                  <a:pt x="14026" y="1810601"/>
                </a:lnTo>
                <a:lnTo>
                  <a:pt x="3559" y="1767143"/>
                </a:lnTo>
                <a:lnTo>
                  <a:pt x="0" y="1722172"/>
                </a:lnTo>
                <a:lnTo>
                  <a:pt x="0" y="285750"/>
                </a:lnTo>
                <a:lnTo>
                  <a:pt x="3559" y="240779"/>
                </a:lnTo>
                <a:lnTo>
                  <a:pt x="14026" y="197320"/>
                </a:lnTo>
                <a:lnTo>
                  <a:pt x="31083" y="156142"/>
                </a:lnTo>
                <a:lnTo>
                  <a:pt x="54412" y="118010"/>
                </a:lnTo>
                <a:lnTo>
                  <a:pt x="83694" y="83694"/>
                </a:lnTo>
                <a:lnTo>
                  <a:pt x="118010" y="54412"/>
                </a:lnTo>
                <a:lnTo>
                  <a:pt x="156141" y="31083"/>
                </a:lnTo>
                <a:lnTo>
                  <a:pt x="197320" y="14026"/>
                </a:lnTo>
                <a:lnTo>
                  <a:pt x="240779" y="3559"/>
                </a:lnTo>
                <a:lnTo>
                  <a:pt x="285750" y="0"/>
                </a:lnTo>
                <a:lnTo>
                  <a:pt x="6021358" y="0"/>
                </a:lnTo>
                <a:lnTo>
                  <a:pt x="6066329" y="3559"/>
                </a:lnTo>
                <a:lnTo>
                  <a:pt x="6109788" y="14026"/>
                </a:lnTo>
                <a:lnTo>
                  <a:pt x="6150966" y="31083"/>
                </a:lnTo>
                <a:lnTo>
                  <a:pt x="6189098" y="54412"/>
                </a:lnTo>
                <a:lnTo>
                  <a:pt x="6223414" y="83694"/>
                </a:lnTo>
                <a:lnTo>
                  <a:pt x="6252696" y="118010"/>
                </a:lnTo>
                <a:lnTo>
                  <a:pt x="6276025" y="156142"/>
                </a:lnTo>
                <a:lnTo>
                  <a:pt x="6293081" y="197320"/>
                </a:lnTo>
                <a:lnTo>
                  <a:pt x="6303549" y="240779"/>
                </a:lnTo>
                <a:lnTo>
                  <a:pt x="6306130" y="273391"/>
                </a:lnTo>
                <a:lnTo>
                  <a:pt x="6306130" y="1734530"/>
                </a:lnTo>
                <a:lnTo>
                  <a:pt x="6293081" y="1810601"/>
                </a:lnTo>
                <a:lnTo>
                  <a:pt x="6276025" y="1851780"/>
                </a:lnTo>
                <a:lnTo>
                  <a:pt x="6252696" y="1889911"/>
                </a:lnTo>
                <a:lnTo>
                  <a:pt x="6223414" y="1924227"/>
                </a:lnTo>
                <a:lnTo>
                  <a:pt x="6189098" y="1953510"/>
                </a:lnTo>
                <a:lnTo>
                  <a:pt x="6150966" y="1976838"/>
                </a:lnTo>
                <a:lnTo>
                  <a:pt x="6109788" y="1993895"/>
                </a:lnTo>
                <a:lnTo>
                  <a:pt x="6066329" y="2004362"/>
                </a:lnTo>
                <a:lnTo>
                  <a:pt x="6021358" y="2007922"/>
                </a:lnTo>
                <a:close/>
              </a:path>
            </a:pathLst>
          </a:custGeom>
          <a:solidFill>
            <a:srgbClr val="F4E7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206499" y="7161570"/>
            <a:ext cx="5932170" cy="1597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 spc="-85">
                <a:latin typeface="Arial Black"/>
                <a:cs typeface="Arial Black"/>
              </a:rPr>
              <a:t>Tratamiento</a:t>
            </a:r>
            <a:r>
              <a:rPr dirty="0" sz="1800" spc="-65">
                <a:latin typeface="Arial Black"/>
                <a:cs typeface="Arial Black"/>
              </a:rPr>
              <a:t> </a:t>
            </a:r>
            <a:r>
              <a:rPr dirty="0" sz="1800" spc="-110">
                <a:latin typeface="Arial Black"/>
                <a:cs typeface="Arial Black"/>
              </a:rPr>
              <a:t>de</a:t>
            </a:r>
            <a:r>
              <a:rPr dirty="0" sz="1800" spc="-65">
                <a:latin typeface="Arial Black"/>
                <a:cs typeface="Arial Black"/>
              </a:rPr>
              <a:t> </a:t>
            </a:r>
            <a:r>
              <a:rPr dirty="0" sz="1800" spc="-120">
                <a:latin typeface="Arial Black"/>
                <a:cs typeface="Arial Black"/>
              </a:rPr>
              <a:t>los</a:t>
            </a:r>
            <a:r>
              <a:rPr dirty="0" sz="1800" spc="-60">
                <a:latin typeface="Arial Black"/>
                <a:cs typeface="Arial Black"/>
              </a:rPr>
              <a:t> </a:t>
            </a:r>
            <a:r>
              <a:rPr dirty="0" sz="1800" spc="-105">
                <a:latin typeface="Arial Black"/>
                <a:cs typeface="Arial Black"/>
              </a:rPr>
              <a:t>datos:</a:t>
            </a:r>
            <a:r>
              <a:rPr dirty="0" sz="1800" spc="-65">
                <a:latin typeface="Arial Black"/>
                <a:cs typeface="Arial Black"/>
              </a:rPr>
              <a:t> </a:t>
            </a:r>
            <a:r>
              <a:rPr dirty="0" sz="1800">
                <a:latin typeface="Trebuchet MS"/>
                <a:cs typeface="Trebuchet MS"/>
              </a:rPr>
              <a:t>ingesta</a:t>
            </a:r>
            <a:r>
              <a:rPr dirty="0" sz="1800" spc="-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y</a:t>
            </a:r>
            <a:r>
              <a:rPr dirty="0" sz="1800" spc="-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limpieza </a:t>
            </a:r>
            <a:r>
              <a:rPr dirty="0" sz="1800" spc="40">
                <a:latin typeface="Trebuchet MS"/>
                <a:cs typeface="Trebuchet MS"/>
              </a:rPr>
              <a:t>con </a:t>
            </a:r>
            <a:r>
              <a:rPr dirty="0" sz="1800" spc="60">
                <a:latin typeface="Trebuchet MS"/>
                <a:cs typeface="Trebuchet MS"/>
              </a:rPr>
              <a:t>PySpark</a:t>
            </a:r>
            <a:r>
              <a:rPr dirty="0" sz="1800" spc="15">
                <a:latin typeface="Trebuchet MS"/>
                <a:cs typeface="Trebuchet MS"/>
              </a:rPr>
              <a:t> </a:t>
            </a:r>
            <a:r>
              <a:rPr dirty="0" sz="1800" spc="-204">
                <a:latin typeface="Trebuchet MS"/>
                <a:cs typeface="Trebuchet MS"/>
              </a:rPr>
              <a:t>,</a:t>
            </a:r>
            <a:r>
              <a:rPr dirty="0" sz="1800" spc="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normalización</a:t>
            </a:r>
            <a:r>
              <a:rPr dirty="0" sz="1800" spc="15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de</a:t>
            </a:r>
            <a:r>
              <a:rPr dirty="0" sz="1800" spc="15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códigos</a:t>
            </a:r>
            <a:r>
              <a:rPr dirty="0" sz="1800" spc="15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DANE,</a:t>
            </a:r>
            <a:r>
              <a:rPr dirty="0" sz="1800" spc="1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agregación </a:t>
            </a:r>
            <a:r>
              <a:rPr dirty="0" sz="1800" spc="65">
                <a:latin typeface="Trebuchet MS"/>
                <a:cs typeface="Trebuchet MS"/>
              </a:rPr>
              <a:t>semanal</a:t>
            </a:r>
            <a:r>
              <a:rPr dirty="0" sz="1800" spc="80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por</a:t>
            </a:r>
            <a:r>
              <a:rPr dirty="0" sz="1800" spc="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municipio,</a:t>
            </a:r>
            <a:r>
              <a:rPr dirty="0" sz="1800" spc="8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imputación</a:t>
            </a:r>
            <a:r>
              <a:rPr dirty="0" sz="1800" spc="80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de</a:t>
            </a:r>
            <a:r>
              <a:rPr dirty="0" sz="1800" spc="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valores</a:t>
            </a:r>
            <a:r>
              <a:rPr dirty="0" sz="1800" spc="8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faltantes </a:t>
            </a:r>
            <a:r>
              <a:rPr dirty="0" sz="1800">
                <a:latin typeface="Trebuchet MS"/>
                <a:cs typeface="Trebuchet MS"/>
              </a:rPr>
              <a:t>y unificación </a:t>
            </a:r>
            <a:r>
              <a:rPr dirty="0" sz="1800" spc="55">
                <a:latin typeface="Trebuchet MS"/>
                <a:cs typeface="Trebuchet MS"/>
              </a:rPr>
              <a:t>de</a:t>
            </a:r>
            <a:r>
              <a:rPr dirty="0" sz="1800">
                <a:latin typeface="Trebuchet MS"/>
                <a:cs typeface="Trebuchet MS"/>
              </a:rPr>
              <a:t> las </a:t>
            </a:r>
            <a:r>
              <a:rPr dirty="0" sz="1800" spc="75">
                <a:latin typeface="Trebuchet MS"/>
                <a:cs typeface="Trebuchet MS"/>
              </a:rPr>
              <a:t>6</a:t>
            </a:r>
            <a:r>
              <a:rPr dirty="0" sz="1800">
                <a:latin typeface="Trebuchet MS"/>
                <a:cs typeface="Trebuchet MS"/>
              </a:rPr>
              <a:t> fuentes </a:t>
            </a:r>
            <a:r>
              <a:rPr dirty="0" sz="1800" spc="65">
                <a:latin typeface="Trebuchet MS"/>
                <a:cs typeface="Trebuchet MS"/>
              </a:rPr>
              <a:t>en</a:t>
            </a:r>
            <a:r>
              <a:rPr dirty="0" sz="1800">
                <a:latin typeface="Trebuchet MS"/>
                <a:cs typeface="Trebuchet MS"/>
              </a:rPr>
              <a:t> </a:t>
            </a:r>
            <a:r>
              <a:rPr dirty="0" sz="1800" spc="105">
                <a:latin typeface="Trebuchet MS"/>
                <a:cs typeface="Trebuchet MS"/>
              </a:rPr>
              <a:t>un</a:t>
            </a:r>
            <a:r>
              <a:rPr dirty="0" sz="1800">
                <a:latin typeface="Trebuchet MS"/>
                <a:cs typeface="Trebuchet MS"/>
              </a:rPr>
              <a:t> </a:t>
            </a:r>
            <a:r>
              <a:rPr dirty="0" sz="1800" spc="70">
                <a:latin typeface="Trebuchet MS"/>
                <a:cs typeface="Trebuchet MS"/>
              </a:rPr>
              <a:t>solo</a:t>
            </a:r>
            <a:r>
              <a:rPr dirty="0" sz="1800">
                <a:latin typeface="Trebuchet MS"/>
                <a:cs typeface="Trebuchet MS"/>
              </a:rPr>
              <a:t> dataset </a:t>
            </a:r>
            <a:r>
              <a:rPr dirty="0" sz="1800" spc="30">
                <a:latin typeface="Trebuchet MS"/>
                <a:cs typeface="Trebuchet MS"/>
              </a:rPr>
              <a:t>de </a:t>
            </a:r>
            <a:r>
              <a:rPr dirty="0" sz="1800">
                <a:latin typeface="Trebuchet MS"/>
                <a:cs typeface="Trebuchet MS"/>
              </a:rPr>
              <a:t>series</a:t>
            </a:r>
            <a:r>
              <a:rPr dirty="0" sz="1800" spc="20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temporales.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9270" cy="10287000"/>
            <a:chOff x="0" y="0"/>
            <a:chExt cx="1828927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78438" y="3890801"/>
              <a:ext cx="3759723" cy="22709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39473" y="8223684"/>
              <a:ext cx="4249453" cy="20632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8315" y="6335968"/>
              <a:ext cx="2542857" cy="17816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9955" y="5462735"/>
              <a:ext cx="4351655" cy="2008505"/>
            </a:xfrm>
            <a:custGeom>
              <a:avLst/>
              <a:gdLst/>
              <a:ahLst/>
              <a:cxnLst/>
              <a:rect l="l" t="t" r="r" b="b"/>
              <a:pathLst>
                <a:path w="4351655" h="2008504">
                  <a:moveTo>
                    <a:pt x="4065595" y="2007922"/>
                  </a:moveTo>
                  <a:lnTo>
                    <a:pt x="285749" y="2007922"/>
                  </a:lnTo>
                  <a:lnTo>
                    <a:pt x="240779" y="2004362"/>
                  </a:lnTo>
                  <a:lnTo>
                    <a:pt x="197320" y="1993895"/>
                  </a:lnTo>
                  <a:lnTo>
                    <a:pt x="156141" y="1976838"/>
                  </a:lnTo>
                  <a:lnTo>
                    <a:pt x="118010" y="1953510"/>
                  </a:lnTo>
                  <a:lnTo>
                    <a:pt x="83694" y="1924227"/>
                  </a:lnTo>
                  <a:lnTo>
                    <a:pt x="54412" y="1889911"/>
                  </a:lnTo>
                  <a:lnTo>
                    <a:pt x="31083" y="1851780"/>
                  </a:lnTo>
                  <a:lnTo>
                    <a:pt x="14026" y="1810601"/>
                  </a:lnTo>
                  <a:lnTo>
                    <a:pt x="3559" y="1767143"/>
                  </a:lnTo>
                  <a:lnTo>
                    <a:pt x="0" y="1722172"/>
                  </a:lnTo>
                  <a:lnTo>
                    <a:pt x="0" y="285749"/>
                  </a:lnTo>
                  <a:lnTo>
                    <a:pt x="3559" y="240778"/>
                  </a:lnTo>
                  <a:lnTo>
                    <a:pt x="14026" y="197320"/>
                  </a:lnTo>
                  <a:lnTo>
                    <a:pt x="31083" y="156141"/>
                  </a:lnTo>
                  <a:lnTo>
                    <a:pt x="54412" y="118010"/>
                  </a:lnTo>
                  <a:lnTo>
                    <a:pt x="83694" y="83694"/>
                  </a:lnTo>
                  <a:lnTo>
                    <a:pt x="118010" y="54411"/>
                  </a:lnTo>
                  <a:lnTo>
                    <a:pt x="156141" y="31083"/>
                  </a:lnTo>
                  <a:lnTo>
                    <a:pt x="197320" y="14026"/>
                  </a:lnTo>
                  <a:lnTo>
                    <a:pt x="240779" y="3559"/>
                  </a:lnTo>
                  <a:lnTo>
                    <a:pt x="285749" y="0"/>
                  </a:lnTo>
                  <a:lnTo>
                    <a:pt x="4065595" y="0"/>
                  </a:lnTo>
                  <a:lnTo>
                    <a:pt x="4110566" y="3559"/>
                  </a:lnTo>
                  <a:lnTo>
                    <a:pt x="4154025" y="14026"/>
                  </a:lnTo>
                  <a:lnTo>
                    <a:pt x="4195203" y="31083"/>
                  </a:lnTo>
                  <a:lnTo>
                    <a:pt x="4233335" y="54411"/>
                  </a:lnTo>
                  <a:lnTo>
                    <a:pt x="4267651" y="83694"/>
                  </a:lnTo>
                  <a:lnTo>
                    <a:pt x="4296933" y="118010"/>
                  </a:lnTo>
                  <a:lnTo>
                    <a:pt x="4320262" y="156141"/>
                  </a:lnTo>
                  <a:lnTo>
                    <a:pt x="4337319" y="197320"/>
                  </a:lnTo>
                  <a:lnTo>
                    <a:pt x="4347786" y="240778"/>
                  </a:lnTo>
                  <a:lnTo>
                    <a:pt x="4351345" y="285749"/>
                  </a:lnTo>
                  <a:lnTo>
                    <a:pt x="4351345" y="1722172"/>
                  </a:lnTo>
                  <a:lnTo>
                    <a:pt x="4347786" y="1767143"/>
                  </a:lnTo>
                  <a:lnTo>
                    <a:pt x="4337319" y="1810601"/>
                  </a:lnTo>
                  <a:lnTo>
                    <a:pt x="4320262" y="1851780"/>
                  </a:lnTo>
                  <a:lnTo>
                    <a:pt x="4296933" y="1889911"/>
                  </a:lnTo>
                  <a:lnTo>
                    <a:pt x="4267651" y="1924227"/>
                  </a:lnTo>
                  <a:lnTo>
                    <a:pt x="4233335" y="1953510"/>
                  </a:lnTo>
                  <a:lnTo>
                    <a:pt x="4195203" y="1976838"/>
                  </a:lnTo>
                  <a:lnTo>
                    <a:pt x="4154025" y="1993895"/>
                  </a:lnTo>
                  <a:lnTo>
                    <a:pt x="4110566" y="2004362"/>
                  </a:lnTo>
                  <a:lnTo>
                    <a:pt x="4065595" y="2007922"/>
                  </a:lnTo>
                  <a:close/>
                </a:path>
              </a:pathLst>
            </a:custGeom>
            <a:solidFill>
              <a:srgbClr val="F4E7E7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08705" y="5675596"/>
          <a:ext cx="4110354" cy="624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2180"/>
                <a:gridCol w="578485"/>
                <a:gridCol w="1299210"/>
                <a:gridCol w="1224914"/>
              </a:tblGrid>
              <a:tr h="3124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800" spc="-10">
                          <a:latin typeface="Arial Black"/>
                          <a:cs typeface="Arial Black"/>
                        </a:rPr>
                        <a:t>Centro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800" spc="-25">
                          <a:latin typeface="Arial Black"/>
                          <a:cs typeface="Arial Black"/>
                        </a:rPr>
                        <a:t>de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800" spc="-10">
                          <a:latin typeface="Arial Black"/>
                          <a:cs typeface="Arial Black"/>
                        </a:rPr>
                        <a:t>Comando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800" spc="-10">
                          <a:latin typeface="Arial Black"/>
                          <a:cs typeface="Arial Black"/>
                        </a:rPr>
                        <a:t>Nacional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B="0" marT="15240"/>
                </a:tc>
              </a:tr>
              <a:tr h="3124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800" spc="-10">
                          <a:latin typeface="Arial Black"/>
                          <a:cs typeface="Arial Black"/>
                        </a:rPr>
                        <a:t>(Power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800" spc="-20">
                          <a:latin typeface="Arial Black"/>
                          <a:cs typeface="Arial Black"/>
                        </a:rPr>
                        <a:t>BI):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811530" algn="l"/>
                        </a:tabLst>
                      </a:pPr>
                      <a:r>
                        <a:rPr dirty="0" sz="1800" spc="65">
                          <a:latin typeface="Trebuchet MS"/>
                          <a:cs typeface="Trebuchet MS"/>
                        </a:rPr>
                        <a:t>mapa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1800" spc="30">
                          <a:latin typeface="Trebuchet MS"/>
                          <a:cs typeface="Trebuchet MS"/>
                        </a:rPr>
                        <a:t>de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730885" algn="l"/>
                        </a:tabLst>
                      </a:pPr>
                      <a:r>
                        <a:rPr dirty="0" sz="1800" spc="-10">
                          <a:latin typeface="Trebuchet MS"/>
                          <a:cs typeface="Trebuchet MS"/>
                        </a:rPr>
                        <a:t>calor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1800" spc="50">
                          <a:latin typeface="Trebuchet MS"/>
                          <a:cs typeface="Trebuchet MS"/>
                        </a:rPr>
                        <a:t>por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7145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027755" y="6267280"/>
            <a:ext cx="3996054" cy="968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departamento,</a:t>
            </a:r>
            <a:r>
              <a:rPr dirty="0" sz="1800" spc="4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alertas</a:t>
            </a:r>
            <a:r>
              <a:rPr dirty="0" sz="1800" spc="4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activas,</a:t>
            </a:r>
            <a:r>
              <a:rPr dirty="0" sz="1800" spc="48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serie </a:t>
            </a:r>
            <a:r>
              <a:rPr dirty="0" sz="1800">
                <a:latin typeface="Trebuchet MS"/>
                <a:cs typeface="Trebuchet MS"/>
              </a:rPr>
              <a:t>histórica</a:t>
            </a:r>
            <a:r>
              <a:rPr dirty="0" sz="1800" spc="229">
                <a:latin typeface="Trebuchet MS"/>
                <a:cs typeface="Trebuchet MS"/>
              </a:rPr>
              <a:t>  </a:t>
            </a:r>
            <a:r>
              <a:rPr dirty="0" sz="1800">
                <a:latin typeface="Trebuchet MS"/>
                <a:cs typeface="Trebuchet MS"/>
              </a:rPr>
              <a:t>vs.</a:t>
            </a:r>
            <a:r>
              <a:rPr dirty="0" sz="1800" spc="235">
                <a:latin typeface="Trebuchet MS"/>
                <a:cs typeface="Trebuchet MS"/>
              </a:rPr>
              <a:t>  </a:t>
            </a:r>
            <a:r>
              <a:rPr dirty="0" sz="1800">
                <a:latin typeface="Trebuchet MS"/>
                <a:cs typeface="Trebuchet MS"/>
              </a:rPr>
              <a:t>predicción,</a:t>
            </a:r>
            <a:r>
              <a:rPr dirty="0" sz="1800" spc="235">
                <a:latin typeface="Trebuchet MS"/>
                <a:cs typeface="Trebuchet MS"/>
              </a:rPr>
              <a:t>  </a:t>
            </a:r>
            <a:r>
              <a:rPr dirty="0" sz="1800">
                <a:latin typeface="Trebuchet MS"/>
                <a:cs typeface="Trebuchet MS"/>
              </a:rPr>
              <a:t>y</a:t>
            </a:r>
            <a:r>
              <a:rPr dirty="0" sz="1800" spc="235">
                <a:latin typeface="Trebuchet MS"/>
                <a:cs typeface="Trebuchet MS"/>
              </a:rPr>
              <a:t>  </a:t>
            </a:r>
            <a:r>
              <a:rPr dirty="0" sz="1800" spc="-10">
                <a:latin typeface="Trebuchet MS"/>
                <a:cs typeface="Trebuchet MS"/>
              </a:rPr>
              <a:t>gráfico </a:t>
            </a:r>
            <a:r>
              <a:rPr dirty="0" sz="1800" spc="100">
                <a:latin typeface="Trebuchet MS"/>
                <a:cs typeface="Trebuchet MS"/>
              </a:rPr>
              <a:t>SHAP</a:t>
            </a:r>
            <a:r>
              <a:rPr dirty="0" sz="1800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de</a:t>
            </a:r>
            <a:r>
              <a:rPr dirty="0" sz="1800" spc="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variables</a:t>
            </a:r>
            <a:r>
              <a:rPr dirty="0" sz="1800" spc="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explicativas.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71591" y="5224320"/>
            <a:ext cx="5214620" cy="2008505"/>
          </a:xfrm>
          <a:custGeom>
            <a:avLst/>
            <a:gdLst/>
            <a:ahLst/>
            <a:cxnLst/>
            <a:rect l="l" t="t" r="r" b="b"/>
            <a:pathLst>
              <a:path w="5214620" h="2008504">
                <a:moveTo>
                  <a:pt x="4928578" y="2007922"/>
                </a:moveTo>
                <a:lnTo>
                  <a:pt x="285749" y="2007922"/>
                </a:lnTo>
                <a:lnTo>
                  <a:pt x="240779" y="2004362"/>
                </a:lnTo>
                <a:lnTo>
                  <a:pt x="197320" y="1993895"/>
                </a:lnTo>
                <a:lnTo>
                  <a:pt x="156141" y="1976838"/>
                </a:lnTo>
                <a:lnTo>
                  <a:pt x="118010" y="1953510"/>
                </a:lnTo>
                <a:lnTo>
                  <a:pt x="83694" y="1924228"/>
                </a:lnTo>
                <a:lnTo>
                  <a:pt x="54411" y="1889911"/>
                </a:lnTo>
                <a:lnTo>
                  <a:pt x="31083" y="1851780"/>
                </a:lnTo>
                <a:lnTo>
                  <a:pt x="14026" y="1810601"/>
                </a:lnTo>
                <a:lnTo>
                  <a:pt x="3559" y="1767143"/>
                </a:lnTo>
                <a:lnTo>
                  <a:pt x="0" y="1722172"/>
                </a:lnTo>
                <a:lnTo>
                  <a:pt x="0" y="285749"/>
                </a:lnTo>
                <a:lnTo>
                  <a:pt x="3559" y="240779"/>
                </a:lnTo>
                <a:lnTo>
                  <a:pt x="14026" y="197320"/>
                </a:lnTo>
                <a:lnTo>
                  <a:pt x="31083" y="156141"/>
                </a:lnTo>
                <a:lnTo>
                  <a:pt x="54411" y="118010"/>
                </a:lnTo>
                <a:lnTo>
                  <a:pt x="83694" y="83694"/>
                </a:lnTo>
                <a:lnTo>
                  <a:pt x="118010" y="54411"/>
                </a:lnTo>
                <a:lnTo>
                  <a:pt x="156141" y="31083"/>
                </a:lnTo>
                <a:lnTo>
                  <a:pt x="197320" y="14026"/>
                </a:lnTo>
                <a:lnTo>
                  <a:pt x="240779" y="3559"/>
                </a:lnTo>
                <a:lnTo>
                  <a:pt x="285749" y="0"/>
                </a:lnTo>
                <a:lnTo>
                  <a:pt x="4928578" y="0"/>
                </a:lnTo>
                <a:lnTo>
                  <a:pt x="4973549" y="3559"/>
                </a:lnTo>
                <a:lnTo>
                  <a:pt x="5017008" y="14026"/>
                </a:lnTo>
                <a:lnTo>
                  <a:pt x="5058187" y="31083"/>
                </a:lnTo>
                <a:lnTo>
                  <a:pt x="5096318" y="54411"/>
                </a:lnTo>
                <a:lnTo>
                  <a:pt x="5130634" y="83694"/>
                </a:lnTo>
                <a:lnTo>
                  <a:pt x="5159916" y="118010"/>
                </a:lnTo>
                <a:lnTo>
                  <a:pt x="5183245" y="156141"/>
                </a:lnTo>
                <a:lnTo>
                  <a:pt x="5200301" y="197320"/>
                </a:lnTo>
                <a:lnTo>
                  <a:pt x="5210768" y="240779"/>
                </a:lnTo>
                <a:lnTo>
                  <a:pt x="5214328" y="285749"/>
                </a:lnTo>
                <a:lnTo>
                  <a:pt x="5214328" y="1722172"/>
                </a:lnTo>
                <a:lnTo>
                  <a:pt x="5210768" y="1767143"/>
                </a:lnTo>
                <a:lnTo>
                  <a:pt x="5200301" y="1810601"/>
                </a:lnTo>
                <a:lnTo>
                  <a:pt x="5183245" y="1851780"/>
                </a:lnTo>
                <a:lnTo>
                  <a:pt x="5159916" y="1889911"/>
                </a:lnTo>
                <a:lnTo>
                  <a:pt x="5130634" y="1924228"/>
                </a:lnTo>
                <a:lnTo>
                  <a:pt x="5096318" y="1953510"/>
                </a:lnTo>
                <a:lnTo>
                  <a:pt x="5058187" y="1976838"/>
                </a:lnTo>
                <a:lnTo>
                  <a:pt x="5017008" y="1993895"/>
                </a:lnTo>
                <a:lnTo>
                  <a:pt x="4973549" y="2004362"/>
                </a:lnTo>
                <a:lnTo>
                  <a:pt x="4928578" y="2007922"/>
                </a:lnTo>
                <a:close/>
              </a:path>
            </a:pathLst>
          </a:custGeom>
          <a:solidFill>
            <a:srgbClr val="F4E7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749391" y="5440220"/>
            <a:ext cx="48590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85289" algn="l"/>
                <a:tab pos="2298700" algn="l"/>
                <a:tab pos="3500120" algn="l"/>
              </a:tabLst>
            </a:pPr>
            <a:r>
              <a:rPr dirty="0" sz="1800" spc="-10">
                <a:latin typeface="Arial Black"/>
                <a:cs typeface="Arial Black"/>
              </a:rPr>
              <a:t>Inteligencia</a:t>
            </a:r>
            <a:r>
              <a:rPr dirty="0" sz="1800">
                <a:latin typeface="Arial Black"/>
                <a:cs typeface="Arial Black"/>
              </a:rPr>
              <a:t>	</a:t>
            </a:r>
            <a:r>
              <a:rPr dirty="0" sz="1800" spc="-25">
                <a:latin typeface="Arial Black"/>
                <a:cs typeface="Arial Black"/>
              </a:rPr>
              <a:t>de</a:t>
            </a:r>
            <a:r>
              <a:rPr dirty="0" sz="1800">
                <a:latin typeface="Arial Black"/>
                <a:cs typeface="Arial Black"/>
              </a:rPr>
              <a:t>	</a:t>
            </a:r>
            <a:r>
              <a:rPr dirty="0" sz="1800" spc="-10">
                <a:latin typeface="Arial Black"/>
                <a:cs typeface="Arial Black"/>
              </a:rPr>
              <a:t>Señales</a:t>
            </a:r>
            <a:r>
              <a:rPr dirty="0" sz="1800">
                <a:latin typeface="Arial Black"/>
                <a:cs typeface="Arial Black"/>
              </a:rPr>
              <a:t>	</a:t>
            </a:r>
            <a:r>
              <a:rPr dirty="0" sz="1800" spc="-95">
                <a:latin typeface="Arial Black"/>
                <a:cs typeface="Arial Black"/>
              </a:rPr>
              <a:t>Tempranas: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49391" y="5754545"/>
            <a:ext cx="48590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6215" algn="l"/>
                <a:tab pos="2512060" algn="l"/>
                <a:tab pos="2928620" algn="l"/>
                <a:tab pos="3829050" algn="l"/>
                <a:tab pos="4714875" algn="l"/>
              </a:tabLst>
            </a:pPr>
            <a:r>
              <a:rPr dirty="0" sz="1800" spc="-10">
                <a:latin typeface="Trebuchet MS"/>
                <a:cs typeface="Trebuchet MS"/>
              </a:rPr>
              <a:t>termómetro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 spc="-10">
                <a:latin typeface="Trebuchet MS"/>
                <a:cs typeface="Trebuchet MS"/>
              </a:rPr>
              <a:t>nacional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 spc="30">
                <a:latin typeface="Trebuchet MS"/>
                <a:cs typeface="Trebuchet MS"/>
              </a:rPr>
              <a:t>de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 spc="45">
                <a:latin typeface="Trebuchet MS"/>
                <a:cs typeface="Trebuchet MS"/>
              </a:rPr>
              <a:t>Google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 spc="40">
                <a:latin typeface="Trebuchet MS"/>
                <a:cs typeface="Trebuchet MS"/>
              </a:rPr>
              <a:t>Trends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 spc="25">
                <a:latin typeface="Trebuchet MS"/>
                <a:cs typeface="Trebuchet MS"/>
              </a:rPr>
              <a:t>+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745363" y="5038599"/>
            <a:ext cx="4931410" cy="2322830"/>
          </a:xfrm>
          <a:custGeom>
            <a:avLst/>
            <a:gdLst/>
            <a:ahLst/>
            <a:cxnLst/>
            <a:rect l="l" t="t" r="r" b="b"/>
            <a:pathLst>
              <a:path w="4931409" h="2322829">
                <a:moveTo>
                  <a:pt x="4645535" y="2322247"/>
                </a:moveTo>
                <a:lnTo>
                  <a:pt x="285749" y="2322247"/>
                </a:lnTo>
                <a:lnTo>
                  <a:pt x="240778" y="2318687"/>
                </a:lnTo>
                <a:lnTo>
                  <a:pt x="197319" y="2308220"/>
                </a:lnTo>
                <a:lnTo>
                  <a:pt x="156141" y="2291163"/>
                </a:lnTo>
                <a:lnTo>
                  <a:pt x="118009" y="2267834"/>
                </a:lnTo>
                <a:lnTo>
                  <a:pt x="83693" y="2238552"/>
                </a:lnTo>
                <a:lnTo>
                  <a:pt x="54411" y="2204236"/>
                </a:lnTo>
                <a:lnTo>
                  <a:pt x="31083" y="2166105"/>
                </a:lnTo>
                <a:lnTo>
                  <a:pt x="14027" y="2124926"/>
                </a:lnTo>
                <a:lnTo>
                  <a:pt x="3559" y="2081468"/>
                </a:lnTo>
                <a:lnTo>
                  <a:pt x="0" y="2036497"/>
                </a:lnTo>
                <a:lnTo>
                  <a:pt x="0" y="285750"/>
                </a:lnTo>
                <a:lnTo>
                  <a:pt x="3559" y="240779"/>
                </a:lnTo>
                <a:lnTo>
                  <a:pt x="14027" y="197320"/>
                </a:lnTo>
                <a:lnTo>
                  <a:pt x="31083" y="156141"/>
                </a:lnTo>
                <a:lnTo>
                  <a:pt x="54411" y="118010"/>
                </a:lnTo>
                <a:lnTo>
                  <a:pt x="83693" y="83694"/>
                </a:lnTo>
                <a:lnTo>
                  <a:pt x="118009" y="54412"/>
                </a:lnTo>
                <a:lnTo>
                  <a:pt x="156141" y="31083"/>
                </a:lnTo>
                <a:lnTo>
                  <a:pt x="197319" y="14026"/>
                </a:lnTo>
                <a:lnTo>
                  <a:pt x="240778" y="3559"/>
                </a:lnTo>
                <a:lnTo>
                  <a:pt x="285749" y="0"/>
                </a:lnTo>
                <a:lnTo>
                  <a:pt x="4645535" y="0"/>
                </a:lnTo>
                <a:lnTo>
                  <a:pt x="4690507" y="3559"/>
                </a:lnTo>
                <a:lnTo>
                  <a:pt x="4733965" y="14026"/>
                </a:lnTo>
                <a:lnTo>
                  <a:pt x="4775144" y="31083"/>
                </a:lnTo>
                <a:lnTo>
                  <a:pt x="4813275" y="54412"/>
                </a:lnTo>
                <a:lnTo>
                  <a:pt x="4847592" y="83694"/>
                </a:lnTo>
                <a:lnTo>
                  <a:pt x="4876874" y="118010"/>
                </a:lnTo>
                <a:lnTo>
                  <a:pt x="4900202" y="156141"/>
                </a:lnTo>
                <a:lnTo>
                  <a:pt x="4917259" y="197320"/>
                </a:lnTo>
                <a:lnTo>
                  <a:pt x="4927726" y="240779"/>
                </a:lnTo>
                <a:lnTo>
                  <a:pt x="4931285" y="285750"/>
                </a:lnTo>
                <a:lnTo>
                  <a:pt x="4931285" y="2036497"/>
                </a:lnTo>
                <a:lnTo>
                  <a:pt x="4927726" y="2081468"/>
                </a:lnTo>
                <a:lnTo>
                  <a:pt x="4917259" y="2124926"/>
                </a:lnTo>
                <a:lnTo>
                  <a:pt x="4900202" y="2166105"/>
                </a:lnTo>
                <a:lnTo>
                  <a:pt x="4876874" y="2204236"/>
                </a:lnTo>
                <a:lnTo>
                  <a:pt x="4847592" y="2238552"/>
                </a:lnTo>
                <a:lnTo>
                  <a:pt x="4813275" y="2267834"/>
                </a:lnTo>
                <a:lnTo>
                  <a:pt x="4775144" y="2291163"/>
                </a:lnTo>
                <a:lnTo>
                  <a:pt x="4733965" y="2308220"/>
                </a:lnTo>
                <a:lnTo>
                  <a:pt x="4690507" y="2318687"/>
                </a:lnTo>
                <a:lnTo>
                  <a:pt x="4645535" y="2322247"/>
                </a:lnTo>
                <a:close/>
              </a:path>
            </a:pathLst>
          </a:custGeom>
          <a:solidFill>
            <a:srgbClr val="F4E7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2923163" y="6197474"/>
            <a:ext cx="45758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>
                <a:latin typeface="Trebuchet MS"/>
                <a:cs typeface="Trebuchet MS"/>
              </a:rPr>
              <a:t>propagan</a:t>
            </a:r>
            <a:r>
              <a:rPr dirty="0" sz="1800" spc="1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el</a:t>
            </a:r>
            <a:r>
              <a:rPr dirty="0" sz="1800" spc="1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riesgo</a:t>
            </a:r>
            <a:r>
              <a:rPr dirty="0" sz="1800" spc="1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(correlación</a:t>
            </a:r>
            <a:r>
              <a:rPr dirty="0" sz="1800" spc="155">
                <a:latin typeface="Trebuchet MS"/>
                <a:cs typeface="Trebuchet MS"/>
              </a:rPr>
              <a:t> </a:t>
            </a:r>
            <a:r>
              <a:rPr dirty="0" sz="1800" spc="50">
                <a:latin typeface="Trebuchet MS"/>
                <a:cs typeface="Trebuchet MS"/>
              </a:rPr>
              <a:t>observada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23163" y="6471794"/>
            <a:ext cx="4575810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r</a:t>
            </a:r>
            <a:r>
              <a:rPr dirty="0" sz="1800" spc="260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=</a:t>
            </a:r>
            <a:r>
              <a:rPr dirty="0" sz="1800" spc="2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0.71</a:t>
            </a:r>
            <a:r>
              <a:rPr dirty="0" sz="1800" spc="2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entre</a:t>
            </a:r>
            <a:r>
              <a:rPr dirty="0" sz="1800" spc="2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movilidad</a:t>
            </a:r>
            <a:r>
              <a:rPr dirty="0" sz="1800" spc="2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entrante</a:t>
            </a:r>
            <a:r>
              <a:rPr dirty="0" sz="1800" spc="2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y</a:t>
            </a:r>
            <a:r>
              <a:rPr dirty="0" sz="1800" spc="265">
                <a:latin typeface="Trebuchet MS"/>
                <a:cs typeface="Trebuchet MS"/>
              </a:rPr>
              <a:t> </a:t>
            </a:r>
            <a:r>
              <a:rPr dirty="0" sz="1800" spc="65">
                <a:latin typeface="Trebuchet MS"/>
                <a:cs typeface="Trebuchet MS"/>
              </a:rPr>
              <a:t>casos </a:t>
            </a:r>
            <a:r>
              <a:rPr dirty="0" sz="1800" spc="-10">
                <a:latin typeface="Trebuchet MS"/>
                <a:cs typeface="Trebuchet MS"/>
              </a:rPr>
              <a:t>nuevos).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87714" y="5038599"/>
            <a:ext cx="676275" cy="658495"/>
          </a:xfrm>
          <a:custGeom>
            <a:avLst/>
            <a:gdLst/>
            <a:ahLst/>
            <a:cxnLst/>
            <a:rect l="l" t="t" r="r" b="b"/>
            <a:pathLst>
              <a:path w="676275" h="658495">
                <a:moveTo>
                  <a:pt x="337914" y="658336"/>
                </a:moveTo>
                <a:lnTo>
                  <a:pt x="287979" y="654767"/>
                </a:lnTo>
                <a:lnTo>
                  <a:pt x="240320" y="644400"/>
                </a:lnTo>
                <a:lnTo>
                  <a:pt x="195458" y="627742"/>
                </a:lnTo>
                <a:lnTo>
                  <a:pt x="153916" y="605305"/>
                </a:lnTo>
                <a:lnTo>
                  <a:pt x="116217" y="577597"/>
                </a:lnTo>
                <a:lnTo>
                  <a:pt x="82884" y="545127"/>
                </a:lnTo>
                <a:lnTo>
                  <a:pt x="54440" y="508404"/>
                </a:lnTo>
                <a:lnTo>
                  <a:pt x="31406" y="467937"/>
                </a:lnTo>
                <a:lnTo>
                  <a:pt x="14306" y="424236"/>
                </a:lnTo>
                <a:lnTo>
                  <a:pt x="3663" y="377810"/>
                </a:lnTo>
                <a:lnTo>
                  <a:pt x="0" y="329168"/>
                </a:lnTo>
                <a:lnTo>
                  <a:pt x="3663" y="280526"/>
                </a:lnTo>
                <a:lnTo>
                  <a:pt x="14306" y="234100"/>
                </a:lnTo>
                <a:lnTo>
                  <a:pt x="31406" y="190399"/>
                </a:lnTo>
                <a:lnTo>
                  <a:pt x="54440" y="149932"/>
                </a:lnTo>
                <a:lnTo>
                  <a:pt x="82884" y="113209"/>
                </a:lnTo>
                <a:lnTo>
                  <a:pt x="116217" y="80739"/>
                </a:lnTo>
                <a:lnTo>
                  <a:pt x="153916" y="53031"/>
                </a:lnTo>
                <a:lnTo>
                  <a:pt x="195458" y="30593"/>
                </a:lnTo>
                <a:lnTo>
                  <a:pt x="240320" y="13936"/>
                </a:lnTo>
                <a:lnTo>
                  <a:pt x="287979" y="3569"/>
                </a:lnTo>
                <a:lnTo>
                  <a:pt x="337914" y="0"/>
                </a:lnTo>
                <a:lnTo>
                  <a:pt x="387848" y="3569"/>
                </a:lnTo>
                <a:lnTo>
                  <a:pt x="435508" y="13936"/>
                </a:lnTo>
                <a:lnTo>
                  <a:pt x="480370" y="30593"/>
                </a:lnTo>
                <a:lnTo>
                  <a:pt x="521912" y="53031"/>
                </a:lnTo>
                <a:lnTo>
                  <a:pt x="559610" y="80739"/>
                </a:lnTo>
                <a:lnTo>
                  <a:pt x="592943" y="113209"/>
                </a:lnTo>
                <a:lnTo>
                  <a:pt x="621388" y="149932"/>
                </a:lnTo>
                <a:lnTo>
                  <a:pt x="644421" y="190399"/>
                </a:lnTo>
                <a:lnTo>
                  <a:pt x="661521" y="234100"/>
                </a:lnTo>
                <a:lnTo>
                  <a:pt x="672164" y="280526"/>
                </a:lnTo>
                <a:lnTo>
                  <a:pt x="675828" y="329168"/>
                </a:lnTo>
                <a:lnTo>
                  <a:pt x="672164" y="377810"/>
                </a:lnTo>
                <a:lnTo>
                  <a:pt x="661521" y="424236"/>
                </a:lnTo>
                <a:lnTo>
                  <a:pt x="644421" y="467937"/>
                </a:lnTo>
                <a:lnTo>
                  <a:pt x="621388" y="508404"/>
                </a:lnTo>
                <a:lnTo>
                  <a:pt x="592943" y="545127"/>
                </a:lnTo>
                <a:lnTo>
                  <a:pt x="559610" y="577597"/>
                </a:lnTo>
                <a:lnTo>
                  <a:pt x="521912" y="605305"/>
                </a:lnTo>
                <a:lnTo>
                  <a:pt x="480370" y="627742"/>
                </a:lnTo>
                <a:lnTo>
                  <a:pt x="435508" y="644400"/>
                </a:lnTo>
                <a:lnTo>
                  <a:pt x="387848" y="654767"/>
                </a:lnTo>
                <a:lnTo>
                  <a:pt x="337914" y="658336"/>
                </a:lnTo>
                <a:close/>
              </a:path>
            </a:pathLst>
          </a:custGeom>
          <a:solidFill>
            <a:srgbClr val="AC2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940077" y="5146581"/>
            <a:ext cx="1708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200">
              <a:latin typeface="Arial"/>
              <a:cs typeface="Arial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5300871" y="353945"/>
            <a:ext cx="7665720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0">
                <a:solidFill>
                  <a:srgbClr val="FFFFFF"/>
                </a:solidFill>
              </a:rPr>
              <a:t>Solución</a:t>
            </a:r>
            <a:r>
              <a:rPr dirty="0" spc="-235">
                <a:solidFill>
                  <a:srgbClr val="FFFFFF"/>
                </a:solidFill>
              </a:rPr>
              <a:t> </a:t>
            </a:r>
            <a:r>
              <a:rPr dirty="0" spc="400">
                <a:solidFill>
                  <a:srgbClr val="FFFFFF"/>
                </a:solidFill>
              </a:rPr>
              <a:t>e</a:t>
            </a:r>
            <a:r>
              <a:rPr dirty="0" spc="-225">
                <a:solidFill>
                  <a:srgbClr val="FFFFFF"/>
                </a:solidFill>
              </a:rPr>
              <a:t> </a:t>
            </a:r>
            <a:r>
              <a:rPr dirty="0" spc="1200">
                <a:solidFill>
                  <a:srgbClr val="FFFFFF"/>
                </a:solidFill>
              </a:rPr>
              <a:t>IA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06273" y="2111292"/>
            <a:ext cx="16708755" cy="1597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 spc="100">
                <a:solidFill>
                  <a:srgbClr val="FFFFFF"/>
                </a:solidFill>
                <a:latin typeface="Trebuchet MS"/>
                <a:cs typeface="Trebuchet MS"/>
              </a:rPr>
              <a:t>ECOS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procesa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los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datos</a:t>
            </a:r>
            <a:r>
              <a:rPr dirty="0" sz="18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abiertos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Trebuchet MS"/>
                <a:cs typeface="Trebuchet MS"/>
              </a:rPr>
              <a:t>con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PySpark</a:t>
            </a:r>
            <a:r>
              <a:rPr dirty="0" sz="18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estructurar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05">
                <a:solidFill>
                  <a:srgbClr val="FFFFFF"/>
                </a:solidFill>
                <a:latin typeface="Trebuchet MS"/>
                <a:cs typeface="Trebuchet MS"/>
              </a:rPr>
              <a:t>un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dataset</a:t>
            </a:r>
            <a:r>
              <a:rPr dirty="0" sz="18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unificado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series</a:t>
            </a:r>
            <a:r>
              <a:rPr dirty="0" sz="18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temporales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municipio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8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semana.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0">
                <a:solidFill>
                  <a:srgbClr val="FFFFFF"/>
                </a:solidFill>
                <a:latin typeface="Trebuchet MS"/>
                <a:cs typeface="Trebuchet MS"/>
              </a:rPr>
              <a:t>Sobre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este,</a:t>
            </a:r>
            <a:r>
              <a:rPr dirty="0" sz="18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se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ejecuta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0">
                <a:solidFill>
                  <a:srgbClr val="FFFFFF"/>
                </a:solidFill>
                <a:latin typeface="Trebuchet MS"/>
                <a:cs typeface="Trebuchet MS"/>
              </a:rPr>
              <a:t>un 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modelo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 híbrido: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Prophet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 captura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serie </a:t>
            </a:r>
            <a:r>
              <a:rPr dirty="0" sz="1800" spc="70">
                <a:solidFill>
                  <a:srgbClr val="FFFFFF"/>
                </a:solidFill>
                <a:latin typeface="Trebuchet MS"/>
                <a:cs typeface="Trebuchet MS"/>
              </a:rPr>
              <a:t>base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la estacionalidad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(clima,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 festivos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ciclos anuales),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mientras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que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0">
                <a:solidFill>
                  <a:srgbClr val="FFFFFF"/>
                </a:solidFill>
                <a:latin typeface="Trebuchet MS"/>
                <a:cs typeface="Trebuchet MS"/>
              </a:rPr>
              <a:t>XGBoost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corrige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y ajusta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predicción </a:t>
            </a: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incorporando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variables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0">
                <a:solidFill>
                  <a:srgbClr val="FFFFFF"/>
                </a:solidFill>
                <a:latin typeface="Trebuchet MS"/>
                <a:cs typeface="Trebuchet MS"/>
              </a:rPr>
              <a:t>exógenas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95">
                <a:solidFill>
                  <a:srgbClr val="FFFFFF"/>
                </a:solidFill>
                <a:latin typeface="Trebuchet MS"/>
                <a:cs typeface="Trebuchet MS"/>
              </a:rPr>
              <a:t>como</a:t>
            </a:r>
            <a:r>
              <a:rPr dirty="0" sz="18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movilidad,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cobertura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vacunación,</a:t>
            </a:r>
            <a:r>
              <a:rPr dirty="0" sz="18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señales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Google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Trends,</a:t>
            </a:r>
            <a:r>
              <a:rPr dirty="0" sz="18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noticias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divergencia</a:t>
            </a:r>
            <a:r>
              <a:rPr dirty="0" sz="18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entre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Trebuchet MS"/>
                <a:cs typeface="Trebuchet MS"/>
              </a:rPr>
              <a:t>RIPS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SIVIGILA</a:t>
            </a:r>
            <a:r>
              <a:rPr dirty="0" sz="18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(como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indicador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subnotificación).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Finalmente,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valida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los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resultados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mediante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walk-forward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temporal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evitar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90">
                <a:solidFill>
                  <a:srgbClr val="FFFFFF"/>
                </a:solidFill>
                <a:latin typeface="Trebuchet MS"/>
                <a:cs typeface="Trebuchet MS"/>
              </a:rPr>
              <a:t>sesgo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datos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futuros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acompaña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cada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predicción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Trebuchet MS"/>
                <a:cs typeface="Trebuchet MS"/>
              </a:rPr>
              <a:t>con</a:t>
            </a:r>
            <a:r>
              <a:rPr dirty="0" sz="18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valores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00">
                <a:solidFill>
                  <a:srgbClr val="FFFFFF"/>
                </a:solidFill>
                <a:latin typeface="Trebuchet MS"/>
                <a:cs typeface="Trebuchet MS"/>
              </a:rPr>
              <a:t>SHAP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dirty="0" sz="18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explicar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qué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variables</a:t>
            </a:r>
            <a:r>
              <a:rPr dirty="0" sz="18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tuvieron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0">
                <a:solidFill>
                  <a:srgbClr val="FFFFFF"/>
                </a:solidFill>
                <a:latin typeface="Trebuchet MS"/>
                <a:cs typeface="Trebuchet MS"/>
              </a:rPr>
              <a:t>mayor</a:t>
            </a:r>
            <a:r>
              <a:rPr dirty="0" sz="18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impacto.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67309" y="4201076"/>
            <a:ext cx="738632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300">
                <a:solidFill>
                  <a:srgbClr val="FFFFFF"/>
                </a:solidFill>
                <a:latin typeface="Arial Black"/>
                <a:cs typeface="Arial Black"/>
              </a:rPr>
              <a:t>Los</a:t>
            </a:r>
            <a:r>
              <a:rPr dirty="0" sz="3300" spc="-229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300" spc="-280">
                <a:solidFill>
                  <a:srgbClr val="FFFFFF"/>
                </a:solidFill>
                <a:latin typeface="Arial Black"/>
                <a:cs typeface="Arial Black"/>
              </a:rPr>
              <a:t>cinco</a:t>
            </a:r>
            <a:r>
              <a:rPr dirty="0" sz="3300" spc="-2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300" spc="-204">
                <a:solidFill>
                  <a:srgbClr val="FFFFFF"/>
                </a:solidFill>
                <a:latin typeface="Arial Black"/>
                <a:cs typeface="Arial Black"/>
              </a:rPr>
              <a:t>componentes</a:t>
            </a:r>
            <a:r>
              <a:rPr dirty="0" sz="3300" spc="-2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300" spc="-165">
                <a:solidFill>
                  <a:srgbClr val="FFFFFF"/>
                </a:solidFill>
                <a:latin typeface="Arial Black"/>
                <a:cs typeface="Arial Black"/>
              </a:rPr>
              <a:t>del</a:t>
            </a:r>
            <a:r>
              <a:rPr dirty="0" sz="3300" spc="-2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300" spc="-140">
                <a:solidFill>
                  <a:srgbClr val="FFFFFF"/>
                </a:solidFill>
                <a:latin typeface="Arial Black"/>
                <a:cs typeface="Arial Black"/>
              </a:rPr>
              <a:t>sistema</a:t>
            </a:r>
            <a:endParaRPr sz="3300">
              <a:latin typeface="Arial Black"/>
              <a:cs typeface="Arial Black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823318" y="6903074"/>
            <a:ext cx="709930" cy="658495"/>
          </a:xfrm>
          <a:custGeom>
            <a:avLst/>
            <a:gdLst/>
            <a:ahLst/>
            <a:cxnLst/>
            <a:rect l="l" t="t" r="r" b="b"/>
            <a:pathLst>
              <a:path w="709929" h="658495">
                <a:moveTo>
                  <a:pt x="355439" y="658336"/>
                </a:moveTo>
                <a:lnTo>
                  <a:pt x="307208" y="655332"/>
                </a:lnTo>
                <a:lnTo>
                  <a:pt x="260949" y="646578"/>
                </a:lnTo>
                <a:lnTo>
                  <a:pt x="217086" y="632469"/>
                </a:lnTo>
                <a:lnTo>
                  <a:pt x="176042" y="613395"/>
                </a:lnTo>
                <a:lnTo>
                  <a:pt x="138240" y="589750"/>
                </a:lnTo>
                <a:lnTo>
                  <a:pt x="104105" y="561925"/>
                </a:lnTo>
                <a:lnTo>
                  <a:pt x="74060" y="530313"/>
                </a:lnTo>
                <a:lnTo>
                  <a:pt x="48527" y="495306"/>
                </a:lnTo>
                <a:lnTo>
                  <a:pt x="27932" y="457295"/>
                </a:lnTo>
                <a:lnTo>
                  <a:pt x="12696" y="416674"/>
                </a:lnTo>
                <a:lnTo>
                  <a:pt x="3244" y="373834"/>
                </a:lnTo>
                <a:lnTo>
                  <a:pt x="0" y="329168"/>
                </a:lnTo>
                <a:lnTo>
                  <a:pt x="3244" y="284502"/>
                </a:lnTo>
                <a:lnTo>
                  <a:pt x="12696" y="241662"/>
                </a:lnTo>
                <a:lnTo>
                  <a:pt x="27932" y="201041"/>
                </a:lnTo>
                <a:lnTo>
                  <a:pt x="48527" y="163031"/>
                </a:lnTo>
                <a:lnTo>
                  <a:pt x="74060" y="128023"/>
                </a:lnTo>
                <a:lnTo>
                  <a:pt x="104105" y="96411"/>
                </a:lnTo>
                <a:lnTo>
                  <a:pt x="138240" y="68586"/>
                </a:lnTo>
                <a:lnTo>
                  <a:pt x="176042" y="44941"/>
                </a:lnTo>
                <a:lnTo>
                  <a:pt x="217086" y="25867"/>
                </a:lnTo>
                <a:lnTo>
                  <a:pt x="260949" y="11758"/>
                </a:lnTo>
                <a:lnTo>
                  <a:pt x="307208" y="3004"/>
                </a:lnTo>
                <a:lnTo>
                  <a:pt x="355439" y="0"/>
                </a:lnTo>
                <a:lnTo>
                  <a:pt x="403669" y="3004"/>
                </a:lnTo>
                <a:lnTo>
                  <a:pt x="449928" y="11758"/>
                </a:lnTo>
                <a:lnTo>
                  <a:pt x="493791" y="25867"/>
                </a:lnTo>
                <a:lnTo>
                  <a:pt x="534835" y="44941"/>
                </a:lnTo>
                <a:lnTo>
                  <a:pt x="572637" y="68586"/>
                </a:lnTo>
                <a:lnTo>
                  <a:pt x="606772" y="96411"/>
                </a:lnTo>
                <a:lnTo>
                  <a:pt x="636818" y="128023"/>
                </a:lnTo>
                <a:lnTo>
                  <a:pt x="662350" y="163031"/>
                </a:lnTo>
                <a:lnTo>
                  <a:pt x="682946" y="201041"/>
                </a:lnTo>
                <a:lnTo>
                  <a:pt x="698181" y="241662"/>
                </a:lnTo>
                <a:lnTo>
                  <a:pt x="707633" y="284502"/>
                </a:lnTo>
                <a:lnTo>
                  <a:pt x="709769" y="313902"/>
                </a:lnTo>
                <a:lnTo>
                  <a:pt x="709769" y="344434"/>
                </a:lnTo>
                <a:lnTo>
                  <a:pt x="698181" y="416674"/>
                </a:lnTo>
                <a:lnTo>
                  <a:pt x="682946" y="457295"/>
                </a:lnTo>
                <a:lnTo>
                  <a:pt x="662350" y="495306"/>
                </a:lnTo>
                <a:lnTo>
                  <a:pt x="636818" y="530313"/>
                </a:lnTo>
                <a:lnTo>
                  <a:pt x="606772" y="561925"/>
                </a:lnTo>
                <a:lnTo>
                  <a:pt x="572637" y="589750"/>
                </a:lnTo>
                <a:lnTo>
                  <a:pt x="534835" y="613395"/>
                </a:lnTo>
                <a:lnTo>
                  <a:pt x="493791" y="632469"/>
                </a:lnTo>
                <a:lnTo>
                  <a:pt x="449928" y="646578"/>
                </a:lnTo>
                <a:lnTo>
                  <a:pt x="403669" y="655332"/>
                </a:lnTo>
                <a:lnTo>
                  <a:pt x="355439" y="658336"/>
                </a:lnTo>
                <a:close/>
              </a:path>
            </a:pathLst>
          </a:custGeom>
          <a:solidFill>
            <a:srgbClr val="F4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749391" y="6028865"/>
            <a:ext cx="4859020" cy="1343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panel</a:t>
            </a:r>
            <a:r>
              <a:rPr dirty="0" sz="1800" spc="5">
                <a:latin typeface="Trebuchet MS"/>
                <a:cs typeface="Trebuchet MS"/>
              </a:rPr>
              <a:t>  </a:t>
            </a:r>
            <a:r>
              <a:rPr dirty="0" sz="1800">
                <a:latin typeface="Trebuchet MS"/>
                <a:cs typeface="Trebuchet MS"/>
              </a:rPr>
              <a:t>departamental</a:t>
            </a:r>
            <a:r>
              <a:rPr dirty="0" sz="1800" spc="5">
                <a:latin typeface="Trebuchet MS"/>
                <a:cs typeface="Trebuchet MS"/>
              </a:rPr>
              <a:t>  </a:t>
            </a:r>
            <a:r>
              <a:rPr dirty="0" sz="1800">
                <a:latin typeface="Trebuchet MS"/>
                <a:cs typeface="Trebuchet MS"/>
              </a:rPr>
              <a:t>(solo</a:t>
            </a:r>
            <a:r>
              <a:rPr dirty="0" sz="1800" spc="10">
                <a:latin typeface="Trebuchet MS"/>
                <a:cs typeface="Trebuchet MS"/>
              </a:rPr>
              <a:t>  </a:t>
            </a:r>
            <a:r>
              <a:rPr dirty="0" sz="1800" spc="85">
                <a:latin typeface="Trebuchet MS"/>
                <a:cs typeface="Trebuchet MS"/>
              </a:rPr>
              <a:t>donde</a:t>
            </a:r>
            <a:r>
              <a:rPr dirty="0" sz="1800" spc="5">
                <a:latin typeface="Trebuchet MS"/>
                <a:cs typeface="Trebuchet MS"/>
              </a:rPr>
              <a:t>  </a:t>
            </a:r>
            <a:r>
              <a:rPr dirty="0" sz="1800" spc="55">
                <a:latin typeface="Trebuchet MS"/>
                <a:cs typeface="Trebuchet MS"/>
              </a:rPr>
              <a:t>hay</a:t>
            </a:r>
            <a:r>
              <a:rPr dirty="0" sz="1800" spc="10">
                <a:latin typeface="Trebuchet MS"/>
                <a:cs typeface="Trebuchet MS"/>
              </a:rPr>
              <a:t>  </a:t>
            </a:r>
            <a:r>
              <a:rPr dirty="0" sz="1800" spc="-20">
                <a:latin typeface="Trebuchet MS"/>
                <a:cs typeface="Trebuchet MS"/>
              </a:rPr>
              <a:t>dato </a:t>
            </a:r>
            <a:r>
              <a:rPr dirty="0" sz="1800">
                <a:latin typeface="Trebuchet MS"/>
                <a:cs typeface="Trebuchet MS"/>
              </a:rPr>
              <a:t>válido)</a:t>
            </a:r>
            <a:r>
              <a:rPr dirty="0" sz="1800" spc="10">
                <a:latin typeface="Trebuchet MS"/>
                <a:cs typeface="Trebuchet MS"/>
              </a:rPr>
              <a:t>  </a:t>
            </a:r>
            <a:r>
              <a:rPr dirty="0" sz="1800" spc="75">
                <a:latin typeface="Trebuchet MS"/>
                <a:cs typeface="Trebuchet MS"/>
              </a:rPr>
              <a:t>+</a:t>
            </a:r>
            <a:r>
              <a:rPr dirty="0" sz="1800" spc="15">
                <a:latin typeface="Trebuchet MS"/>
                <a:cs typeface="Trebuchet MS"/>
              </a:rPr>
              <a:t>  </a:t>
            </a:r>
            <a:r>
              <a:rPr dirty="0" sz="1800" spc="55">
                <a:latin typeface="Trebuchet MS"/>
                <a:cs typeface="Trebuchet MS"/>
              </a:rPr>
              <a:t>comparación</a:t>
            </a:r>
            <a:r>
              <a:rPr dirty="0" sz="1800" spc="15">
                <a:latin typeface="Trebuchet MS"/>
                <a:cs typeface="Trebuchet MS"/>
              </a:rPr>
              <a:t>  </a:t>
            </a:r>
            <a:r>
              <a:rPr dirty="0" sz="1800">
                <a:latin typeface="Trebuchet MS"/>
                <a:cs typeface="Trebuchet MS"/>
              </a:rPr>
              <a:t>histórica</a:t>
            </a:r>
            <a:r>
              <a:rPr dirty="0" sz="1800" spc="10">
                <a:latin typeface="Trebuchet MS"/>
                <a:cs typeface="Trebuchet MS"/>
              </a:rPr>
              <a:t>  </a:t>
            </a:r>
            <a:r>
              <a:rPr dirty="0" sz="1800" spc="50">
                <a:latin typeface="Trebuchet MS"/>
                <a:cs typeface="Trebuchet MS"/>
              </a:rPr>
              <a:t>Trends</a:t>
            </a:r>
            <a:r>
              <a:rPr dirty="0" sz="1800" spc="15">
                <a:latin typeface="Trebuchet MS"/>
                <a:cs typeface="Trebuchet MS"/>
              </a:rPr>
              <a:t>  </a:t>
            </a:r>
            <a:r>
              <a:rPr dirty="0" sz="1800" spc="-25">
                <a:latin typeface="Trebuchet MS"/>
                <a:cs typeface="Trebuchet MS"/>
              </a:rPr>
              <a:t>vs. </a:t>
            </a:r>
            <a:r>
              <a:rPr dirty="0" sz="1800" spc="75">
                <a:latin typeface="Trebuchet MS"/>
                <a:cs typeface="Trebuchet MS"/>
              </a:rPr>
              <a:t>casos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reales.</a:t>
            </a:r>
            <a:endParaRPr sz="1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 sz="2200" spc="229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2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870765" y="4565983"/>
            <a:ext cx="680720" cy="658495"/>
          </a:xfrm>
          <a:custGeom>
            <a:avLst/>
            <a:gdLst/>
            <a:ahLst/>
            <a:cxnLst/>
            <a:rect l="l" t="t" r="r" b="b"/>
            <a:pathLst>
              <a:path w="680719" h="658495">
                <a:moveTo>
                  <a:pt x="340241" y="658336"/>
                </a:moveTo>
                <a:lnTo>
                  <a:pt x="289963" y="654767"/>
                </a:lnTo>
                <a:lnTo>
                  <a:pt x="241975" y="644400"/>
                </a:lnTo>
                <a:lnTo>
                  <a:pt x="196804" y="627743"/>
                </a:lnTo>
                <a:lnTo>
                  <a:pt x="154976" y="605305"/>
                </a:lnTo>
                <a:lnTo>
                  <a:pt x="117018" y="577597"/>
                </a:lnTo>
                <a:lnTo>
                  <a:pt x="83455" y="545127"/>
                </a:lnTo>
                <a:lnTo>
                  <a:pt x="54815" y="508404"/>
                </a:lnTo>
                <a:lnTo>
                  <a:pt x="31622" y="467937"/>
                </a:lnTo>
                <a:lnTo>
                  <a:pt x="14405" y="424236"/>
                </a:lnTo>
                <a:lnTo>
                  <a:pt x="3689" y="377810"/>
                </a:lnTo>
                <a:lnTo>
                  <a:pt x="0" y="329168"/>
                </a:lnTo>
                <a:lnTo>
                  <a:pt x="3689" y="280526"/>
                </a:lnTo>
                <a:lnTo>
                  <a:pt x="14405" y="234100"/>
                </a:lnTo>
                <a:lnTo>
                  <a:pt x="31622" y="190399"/>
                </a:lnTo>
                <a:lnTo>
                  <a:pt x="54815" y="149932"/>
                </a:lnTo>
                <a:lnTo>
                  <a:pt x="83455" y="113209"/>
                </a:lnTo>
                <a:lnTo>
                  <a:pt x="117018" y="80739"/>
                </a:lnTo>
                <a:lnTo>
                  <a:pt x="154976" y="53031"/>
                </a:lnTo>
                <a:lnTo>
                  <a:pt x="196804" y="30593"/>
                </a:lnTo>
                <a:lnTo>
                  <a:pt x="241975" y="13936"/>
                </a:lnTo>
                <a:lnTo>
                  <a:pt x="289963" y="3569"/>
                </a:lnTo>
                <a:lnTo>
                  <a:pt x="340241" y="0"/>
                </a:lnTo>
                <a:lnTo>
                  <a:pt x="390520" y="3569"/>
                </a:lnTo>
                <a:lnTo>
                  <a:pt x="438508" y="13936"/>
                </a:lnTo>
                <a:lnTo>
                  <a:pt x="483679" y="30593"/>
                </a:lnTo>
                <a:lnTo>
                  <a:pt x="525507" y="53031"/>
                </a:lnTo>
                <a:lnTo>
                  <a:pt x="563465" y="80739"/>
                </a:lnTo>
                <a:lnTo>
                  <a:pt x="597028" y="113209"/>
                </a:lnTo>
                <a:lnTo>
                  <a:pt x="625668" y="149932"/>
                </a:lnTo>
                <a:lnTo>
                  <a:pt x="648860" y="190399"/>
                </a:lnTo>
                <a:lnTo>
                  <a:pt x="666078" y="234100"/>
                </a:lnTo>
                <a:lnTo>
                  <a:pt x="676794" y="280526"/>
                </a:lnTo>
                <a:lnTo>
                  <a:pt x="680483" y="329168"/>
                </a:lnTo>
                <a:lnTo>
                  <a:pt x="676794" y="377810"/>
                </a:lnTo>
                <a:lnTo>
                  <a:pt x="666078" y="424236"/>
                </a:lnTo>
                <a:lnTo>
                  <a:pt x="648860" y="467937"/>
                </a:lnTo>
                <a:lnTo>
                  <a:pt x="625668" y="508404"/>
                </a:lnTo>
                <a:lnTo>
                  <a:pt x="597028" y="545127"/>
                </a:lnTo>
                <a:lnTo>
                  <a:pt x="563465" y="577597"/>
                </a:lnTo>
                <a:lnTo>
                  <a:pt x="525507" y="605305"/>
                </a:lnTo>
                <a:lnTo>
                  <a:pt x="483679" y="627743"/>
                </a:lnTo>
                <a:lnTo>
                  <a:pt x="438508" y="644400"/>
                </a:lnTo>
                <a:lnTo>
                  <a:pt x="390520" y="654767"/>
                </a:lnTo>
                <a:lnTo>
                  <a:pt x="340241" y="658336"/>
                </a:lnTo>
                <a:close/>
              </a:path>
            </a:pathLst>
          </a:custGeom>
          <a:solidFill>
            <a:srgbClr val="7B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2923163" y="4673965"/>
            <a:ext cx="4575810" cy="150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200" spc="18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200">
              <a:latin typeface="Arial"/>
              <a:cs typeface="Arial"/>
            </a:endParaRPr>
          </a:p>
          <a:p>
            <a:pPr algn="just" marL="12700" marR="5080">
              <a:lnSpc>
                <a:spcPct val="114599"/>
              </a:lnSpc>
              <a:spcBef>
                <a:spcPts val="1614"/>
              </a:spcBef>
            </a:pPr>
            <a:r>
              <a:rPr dirty="0" sz="1800" spc="-65">
                <a:latin typeface="Arial Black"/>
                <a:cs typeface="Arial Black"/>
              </a:rPr>
              <a:t>Movilidad</a:t>
            </a:r>
            <a:r>
              <a:rPr dirty="0" sz="1800" spc="10">
                <a:latin typeface="Arial Black"/>
                <a:cs typeface="Arial Black"/>
              </a:rPr>
              <a:t> </a:t>
            </a:r>
            <a:r>
              <a:rPr dirty="0" sz="1800" spc="-170">
                <a:latin typeface="Arial Black"/>
                <a:cs typeface="Arial Black"/>
              </a:rPr>
              <a:t>×</a:t>
            </a:r>
            <a:r>
              <a:rPr dirty="0" sz="1800" spc="10">
                <a:latin typeface="Arial Black"/>
                <a:cs typeface="Arial Black"/>
              </a:rPr>
              <a:t> </a:t>
            </a:r>
            <a:r>
              <a:rPr dirty="0" sz="1800" spc="-95">
                <a:latin typeface="Arial Black"/>
                <a:cs typeface="Arial Black"/>
              </a:rPr>
              <a:t>Enfermedad:</a:t>
            </a:r>
            <a:r>
              <a:rPr dirty="0" sz="1800" spc="10">
                <a:latin typeface="Arial Black"/>
                <a:cs typeface="Arial Black"/>
              </a:rPr>
              <a:t> </a:t>
            </a:r>
            <a:r>
              <a:rPr dirty="0" sz="1800" spc="85">
                <a:latin typeface="Trebuchet MS"/>
                <a:cs typeface="Trebuchet MS"/>
              </a:rPr>
              <a:t>mapa</a:t>
            </a:r>
            <a:r>
              <a:rPr dirty="0" sz="1800" spc="65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de</a:t>
            </a:r>
            <a:r>
              <a:rPr dirty="0" sz="1800" spc="65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arcos</a:t>
            </a:r>
            <a:r>
              <a:rPr dirty="0" sz="1800" spc="35">
                <a:latin typeface="Trebuchet MS"/>
                <a:cs typeface="Trebuchet MS"/>
              </a:rPr>
              <a:t> </a:t>
            </a:r>
            <a:r>
              <a:rPr dirty="0" sz="1800" spc="40">
                <a:latin typeface="Trebuchet MS"/>
                <a:cs typeface="Trebuchet MS"/>
              </a:rPr>
              <a:t>origen-destino</a:t>
            </a:r>
            <a:r>
              <a:rPr dirty="0" sz="1800" spc="1025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que</a:t>
            </a:r>
            <a:r>
              <a:rPr dirty="0" sz="1800" spc="1025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muestra</a:t>
            </a:r>
            <a:r>
              <a:rPr dirty="0" sz="1800" spc="1025">
                <a:latin typeface="Trebuchet MS"/>
                <a:cs typeface="Trebuchet MS"/>
              </a:rPr>
              <a:t> </a:t>
            </a:r>
            <a:r>
              <a:rPr dirty="0" sz="1800" spc="85">
                <a:latin typeface="Trebuchet MS"/>
                <a:cs typeface="Trebuchet MS"/>
              </a:rPr>
              <a:t>cómo</a:t>
            </a:r>
            <a:r>
              <a:rPr dirty="0" sz="1800" spc="1025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los</a:t>
            </a:r>
            <a:r>
              <a:rPr dirty="0" sz="1800" spc="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flujos</a:t>
            </a:r>
            <a:r>
              <a:rPr dirty="0" sz="1800" spc="1300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de</a:t>
            </a:r>
            <a:r>
              <a:rPr dirty="0" sz="1800" spc="1300">
                <a:latin typeface="Trebuchet MS"/>
                <a:cs typeface="Trebuchet MS"/>
              </a:rPr>
              <a:t> </a:t>
            </a:r>
            <a:r>
              <a:rPr dirty="0" sz="1800" spc="40">
                <a:latin typeface="Trebuchet MS"/>
                <a:cs typeface="Trebuchet MS"/>
              </a:rPr>
              <a:t>pasajeros</a:t>
            </a:r>
            <a:r>
              <a:rPr dirty="0" sz="1800" spc="1300">
                <a:latin typeface="Trebuchet MS"/>
                <a:cs typeface="Trebuchet MS"/>
              </a:rPr>
              <a:t> </a:t>
            </a:r>
            <a:r>
              <a:rPr dirty="0" sz="1800" spc="15">
                <a:latin typeface="Trebuchet MS"/>
                <a:cs typeface="Trebuchet MS"/>
              </a:rPr>
              <a:t>entre</a:t>
            </a:r>
            <a:r>
              <a:rPr dirty="0" sz="1800" spc="1300">
                <a:latin typeface="Trebuchet MS"/>
                <a:cs typeface="Trebuchet MS"/>
              </a:rPr>
              <a:t> </a:t>
            </a:r>
            <a:r>
              <a:rPr dirty="0" sz="1800" spc="50">
                <a:latin typeface="Trebuchet MS"/>
                <a:cs typeface="Trebuchet MS"/>
              </a:rPr>
              <a:t>municipios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432374" y="7817803"/>
            <a:ext cx="4928235" cy="1728470"/>
          </a:xfrm>
          <a:custGeom>
            <a:avLst/>
            <a:gdLst/>
            <a:ahLst/>
            <a:cxnLst/>
            <a:rect l="l" t="t" r="r" b="b"/>
            <a:pathLst>
              <a:path w="4928234" h="1728470">
                <a:moveTo>
                  <a:pt x="4645537" y="1728203"/>
                </a:moveTo>
                <a:lnTo>
                  <a:pt x="285750" y="1728203"/>
                </a:lnTo>
                <a:lnTo>
                  <a:pt x="240779" y="1724643"/>
                </a:lnTo>
                <a:lnTo>
                  <a:pt x="197320" y="1714176"/>
                </a:lnTo>
                <a:lnTo>
                  <a:pt x="156141" y="1697119"/>
                </a:lnTo>
                <a:lnTo>
                  <a:pt x="118010" y="1673791"/>
                </a:lnTo>
                <a:lnTo>
                  <a:pt x="83694" y="1644509"/>
                </a:lnTo>
                <a:lnTo>
                  <a:pt x="54412" y="1610192"/>
                </a:lnTo>
                <a:lnTo>
                  <a:pt x="31083" y="1572061"/>
                </a:lnTo>
                <a:lnTo>
                  <a:pt x="14026" y="1530883"/>
                </a:lnTo>
                <a:lnTo>
                  <a:pt x="3559" y="1487424"/>
                </a:lnTo>
                <a:lnTo>
                  <a:pt x="0" y="1442453"/>
                </a:lnTo>
                <a:lnTo>
                  <a:pt x="0" y="285750"/>
                </a:lnTo>
                <a:lnTo>
                  <a:pt x="3559" y="240779"/>
                </a:lnTo>
                <a:lnTo>
                  <a:pt x="14026" y="197320"/>
                </a:lnTo>
                <a:lnTo>
                  <a:pt x="31083" y="156142"/>
                </a:lnTo>
                <a:lnTo>
                  <a:pt x="54412" y="118010"/>
                </a:lnTo>
                <a:lnTo>
                  <a:pt x="83694" y="83694"/>
                </a:lnTo>
                <a:lnTo>
                  <a:pt x="118010" y="54412"/>
                </a:lnTo>
                <a:lnTo>
                  <a:pt x="156141" y="31083"/>
                </a:lnTo>
                <a:lnTo>
                  <a:pt x="197320" y="14026"/>
                </a:lnTo>
                <a:lnTo>
                  <a:pt x="240779" y="3559"/>
                </a:lnTo>
                <a:lnTo>
                  <a:pt x="285750" y="0"/>
                </a:lnTo>
                <a:lnTo>
                  <a:pt x="4645537" y="0"/>
                </a:lnTo>
                <a:lnTo>
                  <a:pt x="4690507" y="3559"/>
                </a:lnTo>
                <a:lnTo>
                  <a:pt x="4733966" y="14026"/>
                </a:lnTo>
                <a:lnTo>
                  <a:pt x="4775144" y="31083"/>
                </a:lnTo>
                <a:lnTo>
                  <a:pt x="4813275" y="54412"/>
                </a:lnTo>
                <a:lnTo>
                  <a:pt x="4847592" y="83694"/>
                </a:lnTo>
                <a:lnTo>
                  <a:pt x="4876874" y="118010"/>
                </a:lnTo>
                <a:lnTo>
                  <a:pt x="4900203" y="156142"/>
                </a:lnTo>
                <a:lnTo>
                  <a:pt x="4917259" y="197320"/>
                </a:lnTo>
                <a:lnTo>
                  <a:pt x="4927727" y="240779"/>
                </a:lnTo>
                <a:lnTo>
                  <a:pt x="4928080" y="245241"/>
                </a:lnTo>
                <a:lnTo>
                  <a:pt x="4928080" y="1482962"/>
                </a:lnTo>
                <a:lnTo>
                  <a:pt x="4917259" y="1530883"/>
                </a:lnTo>
                <a:lnTo>
                  <a:pt x="4900203" y="1572061"/>
                </a:lnTo>
                <a:lnTo>
                  <a:pt x="4876874" y="1610192"/>
                </a:lnTo>
                <a:lnTo>
                  <a:pt x="4847592" y="1644509"/>
                </a:lnTo>
                <a:lnTo>
                  <a:pt x="4813275" y="1673791"/>
                </a:lnTo>
                <a:lnTo>
                  <a:pt x="4775144" y="1697119"/>
                </a:lnTo>
                <a:lnTo>
                  <a:pt x="4733966" y="1714176"/>
                </a:lnTo>
                <a:lnTo>
                  <a:pt x="4690507" y="1724643"/>
                </a:lnTo>
                <a:lnTo>
                  <a:pt x="4645537" y="1728203"/>
                </a:lnTo>
                <a:close/>
              </a:path>
            </a:pathLst>
          </a:custGeom>
          <a:solidFill>
            <a:srgbClr val="F4E7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610174" y="8012748"/>
            <a:ext cx="4575810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>
                <a:latin typeface="Arial Black"/>
                <a:cs typeface="Arial Black"/>
              </a:rPr>
              <a:t>Monitor</a:t>
            </a:r>
            <a:r>
              <a:rPr dirty="0" sz="1800" spc="415">
                <a:latin typeface="Arial Black"/>
                <a:cs typeface="Arial Black"/>
              </a:rPr>
              <a:t> </a:t>
            </a:r>
            <a:r>
              <a:rPr dirty="0" sz="1800">
                <a:latin typeface="Arial Black"/>
                <a:cs typeface="Arial Black"/>
              </a:rPr>
              <a:t>de</a:t>
            </a:r>
            <a:r>
              <a:rPr dirty="0" sz="1800" spc="415">
                <a:latin typeface="Arial Black"/>
                <a:cs typeface="Arial Black"/>
              </a:rPr>
              <a:t> </a:t>
            </a:r>
            <a:r>
              <a:rPr dirty="0" sz="1800" spc="-30">
                <a:latin typeface="Arial Black"/>
                <a:cs typeface="Arial Black"/>
              </a:rPr>
              <a:t>Noticias:</a:t>
            </a:r>
            <a:r>
              <a:rPr dirty="0" sz="1800" spc="415">
                <a:latin typeface="Arial Black"/>
                <a:cs typeface="Arial Black"/>
              </a:rPr>
              <a:t> </a:t>
            </a:r>
            <a:r>
              <a:rPr dirty="0" sz="1800">
                <a:latin typeface="Trebuchet MS"/>
                <a:cs typeface="Trebuchet MS"/>
              </a:rPr>
              <a:t>feed</a:t>
            </a:r>
            <a:r>
              <a:rPr dirty="0" sz="1800" spc="475">
                <a:latin typeface="Trebuchet MS"/>
                <a:cs typeface="Trebuchet MS"/>
              </a:rPr>
              <a:t> </a:t>
            </a:r>
            <a:r>
              <a:rPr dirty="0" sz="1800" spc="65">
                <a:latin typeface="Trebuchet MS"/>
                <a:cs typeface="Trebuchet MS"/>
              </a:rPr>
              <a:t>en</a:t>
            </a:r>
            <a:r>
              <a:rPr dirty="0" sz="1800" spc="4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vivo</a:t>
            </a:r>
            <a:r>
              <a:rPr dirty="0" sz="1800" spc="475">
                <a:latin typeface="Trebuchet MS"/>
                <a:cs typeface="Trebuchet MS"/>
              </a:rPr>
              <a:t> </a:t>
            </a:r>
            <a:r>
              <a:rPr dirty="0" sz="1800" spc="30">
                <a:latin typeface="Trebuchet MS"/>
                <a:cs typeface="Trebuchet MS"/>
              </a:rPr>
              <a:t>de </a:t>
            </a:r>
            <a:r>
              <a:rPr dirty="0" sz="1800">
                <a:latin typeface="Trebuchet MS"/>
                <a:cs typeface="Trebuchet MS"/>
              </a:rPr>
              <a:t>artículos</a:t>
            </a:r>
            <a:r>
              <a:rPr dirty="0" sz="1800" spc="420">
                <a:latin typeface="Trebuchet MS"/>
                <a:cs typeface="Trebuchet MS"/>
              </a:rPr>
              <a:t>  </a:t>
            </a:r>
            <a:r>
              <a:rPr dirty="0" sz="1800">
                <a:latin typeface="Trebuchet MS"/>
                <a:cs typeface="Trebuchet MS"/>
              </a:rPr>
              <a:t>clasificados</a:t>
            </a:r>
            <a:r>
              <a:rPr dirty="0" sz="1800" spc="425">
                <a:latin typeface="Trebuchet MS"/>
                <a:cs typeface="Trebuchet MS"/>
              </a:rPr>
              <a:t>  </a:t>
            </a:r>
            <a:r>
              <a:rPr dirty="0" sz="1800" spc="75">
                <a:latin typeface="Trebuchet MS"/>
                <a:cs typeface="Trebuchet MS"/>
              </a:rPr>
              <a:t>por</a:t>
            </a:r>
            <a:r>
              <a:rPr dirty="0" sz="1800" spc="420">
                <a:latin typeface="Trebuchet MS"/>
                <a:cs typeface="Trebuchet MS"/>
              </a:rPr>
              <a:t>  </a:t>
            </a:r>
            <a:r>
              <a:rPr dirty="0" sz="1800" spc="-10">
                <a:latin typeface="Trebuchet MS"/>
                <a:cs typeface="Trebuchet MS"/>
              </a:rPr>
              <a:t>enfermedad, </a:t>
            </a:r>
            <a:r>
              <a:rPr dirty="0" sz="1800" spc="50">
                <a:latin typeface="Trebuchet MS"/>
                <a:cs typeface="Trebuchet MS"/>
              </a:rPr>
              <a:t>región</a:t>
            </a:r>
            <a:r>
              <a:rPr dirty="0" sz="1800" spc="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y</a:t>
            </a:r>
            <a:r>
              <a:rPr dirty="0" sz="1800" spc="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nivel</a:t>
            </a:r>
            <a:r>
              <a:rPr dirty="0" sz="1800" spc="25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de</a:t>
            </a:r>
            <a:r>
              <a:rPr dirty="0" sz="1800" spc="2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alerta,</a:t>
            </a:r>
            <a:r>
              <a:rPr dirty="0" sz="1800" spc="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actualizado</a:t>
            </a:r>
            <a:r>
              <a:rPr dirty="0" sz="1800" spc="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cada</a:t>
            </a:r>
            <a:r>
              <a:rPr dirty="0" sz="1800" spc="25">
                <a:latin typeface="Trebuchet MS"/>
                <a:cs typeface="Trebuchet MS"/>
              </a:rPr>
              <a:t> 6 </a:t>
            </a:r>
            <a:r>
              <a:rPr dirty="0" sz="1800" spc="-10">
                <a:latin typeface="Trebuchet MS"/>
                <a:cs typeface="Trebuchet MS"/>
              </a:rPr>
              <a:t>horas.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921610" y="7817803"/>
            <a:ext cx="4918075" cy="2008505"/>
          </a:xfrm>
          <a:custGeom>
            <a:avLst/>
            <a:gdLst/>
            <a:ahLst/>
            <a:cxnLst/>
            <a:rect l="l" t="t" r="r" b="b"/>
            <a:pathLst>
              <a:path w="4918075" h="2008504">
                <a:moveTo>
                  <a:pt x="4632351" y="2007922"/>
                </a:moveTo>
                <a:lnTo>
                  <a:pt x="285750" y="2007922"/>
                </a:lnTo>
                <a:lnTo>
                  <a:pt x="240779" y="2004362"/>
                </a:lnTo>
                <a:lnTo>
                  <a:pt x="197320" y="1993895"/>
                </a:lnTo>
                <a:lnTo>
                  <a:pt x="156142" y="1976838"/>
                </a:lnTo>
                <a:lnTo>
                  <a:pt x="118010" y="1953510"/>
                </a:lnTo>
                <a:lnTo>
                  <a:pt x="83694" y="1924227"/>
                </a:lnTo>
                <a:lnTo>
                  <a:pt x="54412" y="1889911"/>
                </a:lnTo>
                <a:lnTo>
                  <a:pt x="31083" y="1851780"/>
                </a:lnTo>
                <a:lnTo>
                  <a:pt x="14027" y="1810601"/>
                </a:lnTo>
                <a:lnTo>
                  <a:pt x="3560" y="1767142"/>
                </a:lnTo>
                <a:lnTo>
                  <a:pt x="0" y="1722172"/>
                </a:lnTo>
                <a:lnTo>
                  <a:pt x="0" y="285750"/>
                </a:lnTo>
                <a:lnTo>
                  <a:pt x="3560" y="240779"/>
                </a:lnTo>
                <a:lnTo>
                  <a:pt x="14027" y="197320"/>
                </a:lnTo>
                <a:lnTo>
                  <a:pt x="31083" y="156141"/>
                </a:lnTo>
                <a:lnTo>
                  <a:pt x="54412" y="118010"/>
                </a:lnTo>
                <a:lnTo>
                  <a:pt x="83694" y="83694"/>
                </a:lnTo>
                <a:lnTo>
                  <a:pt x="118010" y="54412"/>
                </a:lnTo>
                <a:lnTo>
                  <a:pt x="156142" y="31083"/>
                </a:lnTo>
                <a:lnTo>
                  <a:pt x="197320" y="14026"/>
                </a:lnTo>
                <a:lnTo>
                  <a:pt x="240779" y="3559"/>
                </a:lnTo>
                <a:lnTo>
                  <a:pt x="285750" y="0"/>
                </a:lnTo>
                <a:lnTo>
                  <a:pt x="4632351" y="0"/>
                </a:lnTo>
                <a:lnTo>
                  <a:pt x="4677322" y="3559"/>
                </a:lnTo>
                <a:lnTo>
                  <a:pt x="4720781" y="14026"/>
                </a:lnTo>
                <a:lnTo>
                  <a:pt x="4761960" y="31083"/>
                </a:lnTo>
                <a:lnTo>
                  <a:pt x="4800091" y="54412"/>
                </a:lnTo>
                <a:lnTo>
                  <a:pt x="4834407" y="83694"/>
                </a:lnTo>
                <a:lnTo>
                  <a:pt x="4863690" y="118010"/>
                </a:lnTo>
                <a:lnTo>
                  <a:pt x="4887018" y="156141"/>
                </a:lnTo>
                <a:lnTo>
                  <a:pt x="4904074" y="197320"/>
                </a:lnTo>
                <a:lnTo>
                  <a:pt x="4914541" y="240779"/>
                </a:lnTo>
                <a:lnTo>
                  <a:pt x="4917840" y="282458"/>
                </a:lnTo>
                <a:lnTo>
                  <a:pt x="4917840" y="1725463"/>
                </a:lnTo>
                <a:lnTo>
                  <a:pt x="4914541" y="1767142"/>
                </a:lnTo>
                <a:lnTo>
                  <a:pt x="4904074" y="1810601"/>
                </a:lnTo>
                <a:lnTo>
                  <a:pt x="4887018" y="1851780"/>
                </a:lnTo>
                <a:lnTo>
                  <a:pt x="4863690" y="1889911"/>
                </a:lnTo>
                <a:lnTo>
                  <a:pt x="4834407" y="1924227"/>
                </a:lnTo>
                <a:lnTo>
                  <a:pt x="4800091" y="1953510"/>
                </a:lnTo>
                <a:lnTo>
                  <a:pt x="4761960" y="1976838"/>
                </a:lnTo>
                <a:lnTo>
                  <a:pt x="4720781" y="1993895"/>
                </a:lnTo>
                <a:lnTo>
                  <a:pt x="4677322" y="2004362"/>
                </a:lnTo>
                <a:lnTo>
                  <a:pt x="4632351" y="2007922"/>
                </a:lnTo>
                <a:close/>
              </a:path>
            </a:pathLst>
          </a:custGeom>
          <a:solidFill>
            <a:srgbClr val="F4E7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1099411" y="8033703"/>
            <a:ext cx="45624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83970" algn="l"/>
                <a:tab pos="3198495" algn="l"/>
                <a:tab pos="4091304" algn="l"/>
              </a:tabLst>
            </a:pPr>
            <a:r>
              <a:rPr dirty="0" sz="1800" spc="-10">
                <a:latin typeface="Arial Black"/>
                <a:cs typeface="Arial Black"/>
              </a:rPr>
              <a:t>Asistente</a:t>
            </a:r>
            <a:r>
              <a:rPr dirty="0" sz="1800">
                <a:latin typeface="Arial Black"/>
                <a:cs typeface="Arial Black"/>
              </a:rPr>
              <a:t>	</a:t>
            </a:r>
            <a:r>
              <a:rPr dirty="0" sz="1800" spc="-10">
                <a:latin typeface="Arial Black"/>
                <a:cs typeface="Arial Black"/>
              </a:rPr>
              <a:t>conversacional</a:t>
            </a:r>
            <a:r>
              <a:rPr dirty="0" sz="1800">
                <a:latin typeface="Arial Black"/>
                <a:cs typeface="Arial Black"/>
              </a:rPr>
              <a:t>	</a:t>
            </a:r>
            <a:r>
              <a:rPr dirty="0" sz="1800" spc="-10">
                <a:latin typeface="Arial Black"/>
                <a:cs typeface="Arial Black"/>
              </a:rPr>
              <a:t>(RAG):</a:t>
            </a:r>
            <a:r>
              <a:rPr dirty="0" sz="1800">
                <a:latin typeface="Arial Black"/>
                <a:cs typeface="Arial Black"/>
              </a:rPr>
              <a:t>	</a:t>
            </a:r>
            <a:r>
              <a:rPr dirty="0" sz="1800" spc="-20">
                <a:latin typeface="Trebuchet MS"/>
                <a:cs typeface="Trebuchet MS"/>
              </a:rPr>
              <a:t>chat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099411" y="8308023"/>
            <a:ext cx="4562475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 spc="65">
                <a:latin typeface="Trebuchet MS"/>
                <a:cs typeface="Trebuchet MS"/>
              </a:rPr>
              <a:t>con</a:t>
            </a:r>
            <a:r>
              <a:rPr dirty="0" sz="1800" spc="290">
                <a:latin typeface="Trebuchet MS"/>
                <a:cs typeface="Trebuchet MS"/>
              </a:rPr>
              <a:t>  </a:t>
            </a:r>
            <a:r>
              <a:rPr dirty="0" sz="1800" spc="55">
                <a:latin typeface="Trebuchet MS"/>
                <a:cs typeface="Trebuchet MS"/>
              </a:rPr>
              <a:t>LangChain</a:t>
            </a:r>
            <a:r>
              <a:rPr dirty="0" sz="1800" spc="295">
                <a:latin typeface="Trebuchet MS"/>
                <a:cs typeface="Trebuchet MS"/>
              </a:rPr>
              <a:t>  </a:t>
            </a:r>
            <a:r>
              <a:rPr dirty="0" sz="1800" spc="75">
                <a:latin typeface="Trebuchet MS"/>
                <a:cs typeface="Trebuchet MS"/>
              </a:rPr>
              <a:t>+</a:t>
            </a:r>
            <a:r>
              <a:rPr dirty="0" sz="1800" spc="295">
                <a:latin typeface="Trebuchet MS"/>
                <a:cs typeface="Trebuchet MS"/>
              </a:rPr>
              <a:t>  </a:t>
            </a:r>
            <a:r>
              <a:rPr dirty="0" sz="1800" spc="100">
                <a:latin typeface="Trebuchet MS"/>
                <a:cs typeface="Trebuchet MS"/>
              </a:rPr>
              <a:t>ChromaDB</a:t>
            </a:r>
            <a:r>
              <a:rPr dirty="0" sz="1800" spc="295">
                <a:latin typeface="Trebuchet MS"/>
                <a:cs typeface="Trebuchet MS"/>
              </a:rPr>
              <a:t>  </a:t>
            </a:r>
            <a:r>
              <a:rPr dirty="0" sz="1800" spc="75">
                <a:latin typeface="Trebuchet MS"/>
                <a:cs typeface="Trebuchet MS"/>
              </a:rPr>
              <a:t>+</a:t>
            </a:r>
            <a:r>
              <a:rPr dirty="0" sz="1800" spc="295">
                <a:latin typeface="Trebuchet MS"/>
                <a:cs typeface="Trebuchet MS"/>
              </a:rPr>
              <a:t>  </a:t>
            </a:r>
            <a:r>
              <a:rPr dirty="0" sz="1800" spc="65">
                <a:latin typeface="Trebuchet MS"/>
                <a:cs typeface="Trebuchet MS"/>
              </a:rPr>
              <a:t>Groq </a:t>
            </a:r>
            <a:r>
              <a:rPr dirty="0" sz="1800" spc="55">
                <a:latin typeface="Trebuchet MS"/>
                <a:cs typeface="Trebuchet MS"/>
              </a:rPr>
              <a:t>(LLaMA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3.1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70B)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que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70">
                <a:latin typeface="Trebuchet MS"/>
                <a:cs typeface="Trebuchet MS"/>
              </a:rPr>
              <a:t>responde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65">
                <a:latin typeface="Trebuchet MS"/>
                <a:cs typeface="Trebuchet MS"/>
              </a:rPr>
              <a:t>en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lenguaje </a:t>
            </a:r>
            <a:r>
              <a:rPr dirty="0" sz="1800">
                <a:latin typeface="Trebuchet MS"/>
                <a:cs typeface="Trebuchet MS"/>
              </a:rPr>
              <a:t>natural</a:t>
            </a:r>
            <a:r>
              <a:rPr dirty="0" sz="1800" spc="3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citando</a:t>
            </a:r>
            <a:r>
              <a:rPr dirty="0" sz="1800" spc="3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fuentes,</a:t>
            </a:r>
            <a:r>
              <a:rPr dirty="0" sz="1800" spc="3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variables</a:t>
            </a:r>
            <a:r>
              <a:rPr dirty="0" sz="1800" spc="325">
                <a:latin typeface="Trebuchet MS"/>
                <a:cs typeface="Trebuchet MS"/>
              </a:rPr>
              <a:t> </a:t>
            </a:r>
            <a:r>
              <a:rPr dirty="0" sz="1800" spc="100">
                <a:latin typeface="Trebuchet MS"/>
                <a:cs typeface="Trebuchet MS"/>
              </a:rPr>
              <a:t>SHAP</a:t>
            </a:r>
            <a:r>
              <a:rPr dirty="0" sz="1800" spc="325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y </a:t>
            </a:r>
            <a:r>
              <a:rPr dirty="0" sz="1800" spc="85">
                <a:latin typeface="Trebuchet MS"/>
                <a:cs typeface="Trebuchet MS"/>
              </a:rPr>
              <a:t>una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recomendación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de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acción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concreta.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154607" y="8352737"/>
            <a:ext cx="709930" cy="658495"/>
          </a:xfrm>
          <a:custGeom>
            <a:avLst/>
            <a:gdLst/>
            <a:ahLst/>
            <a:cxnLst/>
            <a:rect l="l" t="t" r="r" b="b"/>
            <a:pathLst>
              <a:path w="709929" h="658495">
                <a:moveTo>
                  <a:pt x="355438" y="658336"/>
                </a:moveTo>
                <a:lnTo>
                  <a:pt x="307207" y="655332"/>
                </a:lnTo>
                <a:lnTo>
                  <a:pt x="260949" y="646578"/>
                </a:lnTo>
                <a:lnTo>
                  <a:pt x="217086" y="632469"/>
                </a:lnTo>
                <a:lnTo>
                  <a:pt x="176042" y="613395"/>
                </a:lnTo>
                <a:lnTo>
                  <a:pt x="138240" y="589750"/>
                </a:lnTo>
                <a:lnTo>
                  <a:pt x="104105" y="561925"/>
                </a:lnTo>
                <a:lnTo>
                  <a:pt x="74060" y="530313"/>
                </a:lnTo>
                <a:lnTo>
                  <a:pt x="48528" y="495306"/>
                </a:lnTo>
                <a:lnTo>
                  <a:pt x="27932" y="457295"/>
                </a:lnTo>
                <a:lnTo>
                  <a:pt x="12696" y="416674"/>
                </a:lnTo>
                <a:lnTo>
                  <a:pt x="3245" y="373834"/>
                </a:lnTo>
                <a:lnTo>
                  <a:pt x="0" y="329168"/>
                </a:lnTo>
                <a:lnTo>
                  <a:pt x="3245" y="284502"/>
                </a:lnTo>
                <a:lnTo>
                  <a:pt x="12696" y="241662"/>
                </a:lnTo>
                <a:lnTo>
                  <a:pt x="27932" y="201041"/>
                </a:lnTo>
                <a:lnTo>
                  <a:pt x="48528" y="163031"/>
                </a:lnTo>
                <a:lnTo>
                  <a:pt x="74060" y="128023"/>
                </a:lnTo>
                <a:lnTo>
                  <a:pt x="104105" y="96411"/>
                </a:lnTo>
                <a:lnTo>
                  <a:pt x="138240" y="68586"/>
                </a:lnTo>
                <a:lnTo>
                  <a:pt x="176042" y="44941"/>
                </a:lnTo>
                <a:lnTo>
                  <a:pt x="217086" y="25867"/>
                </a:lnTo>
                <a:lnTo>
                  <a:pt x="260949" y="11758"/>
                </a:lnTo>
                <a:lnTo>
                  <a:pt x="307207" y="3005"/>
                </a:lnTo>
                <a:lnTo>
                  <a:pt x="355438" y="0"/>
                </a:lnTo>
                <a:lnTo>
                  <a:pt x="403669" y="3005"/>
                </a:lnTo>
                <a:lnTo>
                  <a:pt x="449928" y="11758"/>
                </a:lnTo>
                <a:lnTo>
                  <a:pt x="493791" y="25867"/>
                </a:lnTo>
                <a:lnTo>
                  <a:pt x="534835" y="44941"/>
                </a:lnTo>
                <a:lnTo>
                  <a:pt x="572637" y="68586"/>
                </a:lnTo>
                <a:lnTo>
                  <a:pt x="606772" y="96411"/>
                </a:lnTo>
                <a:lnTo>
                  <a:pt x="636817" y="128023"/>
                </a:lnTo>
                <a:lnTo>
                  <a:pt x="662350" y="163031"/>
                </a:lnTo>
                <a:lnTo>
                  <a:pt x="682946" y="201041"/>
                </a:lnTo>
                <a:lnTo>
                  <a:pt x="698181" y="241662"/>
                </a:lnTo>
                <a:lnTo>
                  <a:pt x="707633" y="284502"/>
                </a:lnTo>
                <a:lnTo>
                  <a:pt x="709769" y="313904"/>
                </a:lnTo>
                <a:lnTo>
                  <a:pt x="709769" y="344432"/>
                </a:lnTo>
                <a:lnTo>
                  <a:pt x="698181" y="416674"/>
                </a:lnTo>
                <a:lnTo>
                  <a:pt x="682946" y="457295"/>
                </a:lnTo>
                <a:lnTo>
                  <a:pt x="662350" y="495306"/>
                </a:lnTo>
                <a:lnTo>
                  <a:pt x="636817" y="530313"/>
                </a:lnTo>
                <a:lnTo>
                  <a:pt x="606772" y="561925"/>
                </a:lnTo>
                <a:lnTo>
                  <a:pt x="572637" y="589750"/>
                </a:lnTo>
                <a:lnTo>
                  <a:pt x="534835" y="613395"/>
                </a:lnTo>
                <a:lnTo>
                  <a:pt x="493791" y="632469"/>
                </a:lnTo>
                <a:lnTo>
                  <a:pt x="449928" y="646578"/>
                </a:lnTo>
                <a:lnTo>
                  <a:pt x="403669" y="655332"/>
                </a:lnTo>
                <a:lnTo>
                  <a:pt x="355438" y="658336"/>
                </a:lnTo>
                <a:close/>
              </a:path>
            </a:pathLst>
          </a:custGeom>
          <a:solidFill>
            <a:srgbClr val="AC2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402356" y="8460718"/>
            <a:ext cx="21526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204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392888" y="8384768"/>
            <a:ext cx="709930" cy="658495"/>
          </a:xfrm>
          <a:custGeom>
            <a:avLst/>
            <a:gdLst/>
            <a:ahLst/>
            <a:cxnLst/>
            <a:rect l="l" t="t" r="r" b="b"/>
            <a:pathLst>
              <a:path w="709929" h="658495">
                <a:moveTo>
                  <a:pt x="355438" y="658336"/>
                </a:moveTo>
                <a:lnTo>
                  <a:pt x="307207" y="655331"/>
                </a:lnTo>
                <a:lnTo>
                  <a:pt x="260949" y="646578"/>
                </a:lnTo>
                <a:lnTo>
                  <a:pt x="217086" y="632469"/>
                </a:lnTo>
                <a:lnTo>
                  <a:pt x="176042" y="613395"/>
                </a:lnTo>
                <a:lnTo>
                  <a:pt x="138240" y="589750"/>
                </a:lnTo>
                <a:lnTo>
                  <a:pt x="104105" y="561925"/>
                </a:lnTo>
                <a:lnTo>
                  <a:pt x="74060" y="530313"/>
                </a:lnTo>
                <a:lnTo>
                  <a:pt x="48528" y="495306"/>
                </a:lnTo>
                <a:lnTo>
                  <a:pt x="27932" y="457295"/>
                </a:lnTo>
                <a:lnTo>
                  <a:pt x="12696" y="416674"/>
                </a:lnTo>
                <a:lnTo>
                  <a:pt x="3244" y="373834"/>
                </a:lnTo>
                <a:lnTo>
                  <a:pt x="0" y="329168"/>
                </a:lnTo>
                <a:lnTo>
                  <a:pt x="3244" y="284502"/>
                </a:lnTo>
                <a:lnTo>
                  <a:pt x="12696" y="241662"/>
                </a:lnTo>
                <a:lnTo>
                  <a:pt x="27932" y="201041"/>
                </a:lnTo>
                <a:lnTo>
                  <a:pt x="48528" y="163031"/>
                </a:lnTo>
                <a:lnTo>
                  <a:pt x="74060" y="128023"/>
                </a:lnTo>
                <a:lnTo>
                  <a:pt x="104105" y="96411"/>
                </a:lnTo>
                <a:lnTo>
                  <a:pt x="138240" y="68586"/>
                </a:lnTo>
                <a:lnTo>
                  <a:pt x="176042" y="44941"/>
                </a:lnTo>
                <a:lnTo>
                  <a:pt x="217086" y="25867"/>
                </a:lnTo>
                <a:lnTo>
                  <a:pt x="260949" y="11758"/>
                </a:lnTo>
                <a:lnTo>
                  <a:pt x="307207" y="3005"/>
                </a:lnTo>
                <a:lnTo>
                  <a:pt x="355438" y="0"/>
                </a:lnTo>
                <a:lnTo>
                  <a:pt x="403669" y="3005"/>
                </a:lnTo>
                <a:lnTo>
                  <a:pt x="449928" y="11758"/>
                </a:lnTo>
                <a:lnTo>
                  <a:pt x="493791" y="25867"/>
                </a:lnTo>
                <a:lnTo>
                  <a:pt x="534835" y="44941"/>
                </a:lnTo>
                <a:lnTo>
                  <a:pt x="572637" y="68586"/>
                </a:lnTo>
                <a:lnTo>
                  <a:pt x="606772" y="96411"/>
                </a:lnTo>
                <a:lnTo>
                  <a:pt x="636818" y="128023"/>
                </a:lnTo>
                <a:lnTo>
                  <a:pt x="662350" y="163031"/>
                </a:lnTo>
                <a:lnTo>
                  <a:pt x="682946" y="201041"/>
                </a:lnTo>
                <a:lnTo>
                  <a:pt x="698181" y="241662"/>
                </a:lnTo>
                <a:lnTo>
                  <a:pt x="707633" y="284502"/>
                </a:lnTo>
                <a:lnTo>
                  <a:pt x="709769" y="313900"/>
                </a:lnTo>
                <a:lnTo>
                  <a:pt x="709769" y="344436"/>
                </a:lnTo>
                <a:lnTo>
                  <a:pt x="698181" y="416674"/>
                </a:lnTo>
                <a:lnTo>
                  <a:pt x="682946" y="457295"/>
                </a:lnTo>
                <a:lnTo>
                  <a:pt x="662350" y="495306"/>
                </a:lnTo>
                <a:lnTo>
                  <a:pt x="636818" y="530313"/>
                </a:lnTo>
                <a:lnTo>
                  <a:pt x="606772" y="561925"/>
                </a:lnTo>
                <a:lnTo>
                  <a:pt x="572637" y="589750"/>
                </a:lnTo>
                <a:lnTo>
                  <a:pt x="534835" y="613395"/>
                </a:lnTo>
                <a:lnTo>
                  <a:pt x="493791" y="632469"/>
                </a:lnTo>
                <a:lnTo>
                  <a:pt x="449928" y="646578"/>
                </a:lnTo>
                <a:lnTo>
                  <a:pt x="403669" y="655331"/>
                </a:lnTo>
                <a:lnTo>
                  <a:pt x="355438" y="658336"/>
                </a:lnTo>
                <a:close/>
              </a:path>
            </a:pathLst>
          </a:custGeom>
          <a:solidFill>
            <a:srgbClr val="7B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0642424" y="8492749"/>
            <a:ext cx="211454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18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7B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950656" y="330612"/>
            <a:ext cx="6326505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Resultados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8426" y="1850462"/>
            <a:ext cx="5250507" cy="1193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2291264"/>
            <a:ext cx="4772024" cy="25622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65693" y="2291264"/>
            <a:ext cx="4905374" cy="25622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04092" y="2297226"/>
            <a:ext cx="4772024" cy="25622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8700" y="5996771"/>
            <a:ext cx="4772024" cy="25622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40696" y="5996771"/>
            <a:ext cx="4772024" cy="25717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248176" y="6271893"/>
            <a:ext cx="4667249" cy="24955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315318" y="5085701"/>
            <a:ext cx="9516745" cy="615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2545">
              <a:lnSpc>
                <a:spcPct val="113999"/>
              </a:lnSpc>
              <a:spcBef>
                <a:spcPts val="100"/>
              </a:spcBef>
            </a:pP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Cobertura</a:t>
            </a:r>
            <a:r>
              <a:rPr dirty="0" sz="1700" spc="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nacional</a:t>
            </a:r>
            <a:r>
              <a:rPr dirty="0" sz="1700" spc="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65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dirty="0" sz="1700" spc="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Trebuchet MS"/>
                <a:cs typeface="Trebuchet MS"/>
              </a:rPr>
              <a:t>cifras:</a:t>
            </a:r>
            <a:r>
              <a:rPr dirty="0" sz="1700" spc="75">
                <a:solidFill>
                  <a:srgbClr val="FFFFFF"/>
                </a:solidFill>
                <a:latin typeface="Trebuchet MS"/>
                <a:cs typeface="Trebuchet MS"/>
              </a:rPr>
              <a:t> 32</a:t>
            </a:r>
            <a:r>
              <a:rPr dirty="0" sz="170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departamentos,</a:t>
            </a:r>
            <a:r>
              <a:rPr dirty="0" sz="1700" spc="75">
                <a:solidFill>
                  <a:srgbClr val="FFFFFF"/>
                </a:solidFill>
                <a:latin typeface="Trebuchet MS"/>
                <a:cs typeface="Trebuchet MS"/>
              </a:rPr>
              <a:t> 4 </a:t>
            </a:r>
            <a:r>
              <a:rPr dirty="0" sz="1700" spc="50">
                <a:solidFill>
                  <a:srgbClr val="FFFFFF"/>
                </a:solidFill>
                <a:latin typeface="Trebuchet MS"/>
                <a:cs typeface="Trebuchet MS"/>
              </a:rPr>
              <a:t>enfermedades</a:t>
            </a:r>
            <a:r>
              <a:rPr dirty="0" sz="1700" spc="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monitoreadas,</a:t>
            </a:r>
            <a:r>
              <a:rPr dirty="0" sz="170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2-</a:t>
            </a:r>
            <a:r>
              <a:rPr dirty="0" sz="1700" spc="75">
                <a:solidFill>
                  <a:srgbClr val="FFFFFF"/>
                </a:solidFill>
                <a:latin typeface="Trebuchet MS"/>
                <a:cs typeface="Trebuchet MS"/>
              </a:rPr>
              <a:t>4 semanas </a:t>
            </a:r>
            <a:r>
              <a:rPr dirty="0" sz="1700" spc="5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anticipación</a:t>
            </a:r>
            <a:r>
              <a:rPr dirty="0" sz="17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7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75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r>
              <a:rPr dirty="0" sz="17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fuentes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7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FFFFFF"/>
                </a:solidFill>
                <a:latin typeface="Trebuchet MS"/>
                <a:cs typeface="Trebuchet MS"/>
              </a:rPr>
              <a:t>datos</a:t>
            </a:r>
            <a:r>
              <a:rPr dirty="0" sz="17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integradas</a:t>
            </a:r>
            <a:r>
              <a:rPr dirty="0" sz="17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65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dirty="0" sz="17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105">
                <a:solidFill>
                  <a:srgbClr val="FFFFFF"/>
                </a:solidFill>
                <a:latin typeface="Trebuchet MS"/>
                <a:cs typeface="Trebuchet MS"/>
              </a:rPr>
              <a:t>un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60">
                <a:solidFill>
                  <a:srgbClr val="FFFFFF"/>
                </a:solidFill>
                <a:latin typeface="Trebuchet MS"/>
                <a:cs typeface="Trebuchet MS"/>
              </a:rPr>
              <a:t>solo</a:t>
            </a:r>
            <a:r>
              <a:rPr dirty="0" sz="17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60">
                <a:solidFill>
                  <a:srgbClr val="FFFFFF"/>
                </a:solidFill>
                <a:latin typeface="Trebuchet MS"/>
                <a:cs typeface="Trebuchet MS"/>
              </a:rPr>
              <a:t>flujo:</a:t>
            </a:r>
            <a:r>
              <a:rPr dirty="0" sz="17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ingesta</a:t>
            </a:r>
            <a:r>
              <a:rPr dirty="0" sz="17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894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dirty="0" sz="800" spc="2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60">
                <a:solidFill>
                  <a:srgbClr val="FFFFFF"/>
                </a:solidFill>
                <a:latin typeface="Trebuchet MS"/>
                <a:cs typeface="Trebuchet MS"/>
              </a:rPr>
              <a:t>modelo</a:t>
            </a:r>
            <a:r>
              <a:rPr dirty="0" sz="17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IA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894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dirty="0" sz="800" spc="2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alerta.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175364" y="5085701"/>
            <a:ext cx="4951730" cy="911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635">
              <a:lnSpc>
                <a:spcPct val="113999"/>
              </a:lnSpc>
              <a:spcBef>
                <a:spcPts val="100"/>
              </a:spcBef>
            </a:pPr>
            <a:r>
              <a:rPr dirty="0" sz="1700" spc="85">
                <a:solidFill>
                  <a:srgbClr val="FFFFFF"/>
                </a:solidFill>
                <a:latin typeface="Trebuchet MS"/>
                <a:cs typeface="Trebuchet MS"/>
              </a:rPr>
              <a:t>Dashboard</a:t>
            </a:r>
            <a:r>
              <a:rPr dirty="0" sz="17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ejecutivo</a:t>
            </a:r>
            <a:r>
              <a:rPr dirty="0" sz="17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55">
                <a:solidFill>
                  <a:srgbClr val="FFFFFF"/>
                </a:solidFill>
                <a:latin typeface="Trebuchet MS"/>
                <a:cs typeface="Trebuchet MS"/>
              </a:rPr>
              <a:t>con</a:t>
            </a:r>
            <a:r>
              <a:rPr dirty="0" sz="17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105">
                <a:solidFill>
                  <a:srgbClr val="FFFFFF"/>
                </a:solidFill>
                <a:latin typeface="Trebuchet MS"/>
                <a:cs typeface="Trebuchet MS"/>
              </a:rPr>
              <a:t>más</a:t>
            </a:r>
            <a:r>
              <a:rPr dirty="0" sz="17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7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7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7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millones</a:t>
            </a:r>
            <a:r>
              <a:rPr dirty="0" sz="17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25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700" spc="65">
                <a:solidFill>
                  <a:srgbClr val="FFFFFF"/>
                </a:solidFill>
                <a:latin typeface="Trebuchet MS"/>
                <a:cs typeface="Trebuchet MS"/>
              </a:rPr>
              <a:t>casos</a:t>
            </a:r>
            <a:r>
              <a:rPr dirty="0" sz="17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históricos</a:t>
            </a:r>
            <a:r>
              <a:rPr dirty="0" sz="17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(2010-2022),</a:t>
            </a:r>
            <a:r>
              <a:rPr dirty="0" sz="17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FFFFFF"/>
                </a:solidFill>
                <a:latin typeface="Trebuchet MS"/>
                <a:cs typeface="Trebuchet MS"/>
              </a:rPr>
              <a:t>cruzando</a:t>
            </a:r>
            <a:r>
              <a:rPr dirty="0" sz="17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cobertura </a:t>
            </a:r>
            <a:r>
              <a:rPr dirty="0" sz="1700" spc="5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7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vacunación,</a:t>
            </a:r>
            <a:r>
              <a:rPr dirty="0" sz="17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precipitación</a:t>
            </a:r>
            <a:r>
              <a:rPr dirty="0" sz="17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7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65">
                <a:solidFill>
                  <a:srgbClr val="FFFFFF"/>
                </a:solidFill>
                <a:latin typeface="Trebuchet MS"/>
                <a:cs typeface="Trebuchet MS"/>
              </a:rPr>
              <a:t>casos</a:t>
            </a:r>
            <a:r>
              <a:rPr dirty="0" sz="17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7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dirty="0" sz="17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región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0063" y="8785231"/>
            <a:ext cx="5246370" cy="1206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3999"/>
              </a:lnSpc>
              <a:spcBef>
                <a:spcPts val="100"/>
              </a:spcBef>
            </a:pPr>
            <a:r>
              <a:rPr dirty="0" sz="1700" spc="125">
                <a:solidFill>
                  <a:srgbClr val="FFFFFF"/>
                </a:solidFill>
                <a:latin typeface="Trebuchet MS"/>
                <a:cs typeface="Trebuchet MS"/>
              </a:rPr>
              <a:t>Mapa</a:t>
            </a:r>
            <a:r>
              <a:rPr dirty="0" sz="17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7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flujos</a:t>
            </a:r>
            <a:r>
              <a:rPr dirty="0" sz="17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7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viajeros</a:t>
            </a:r>
            <a:r>
              <a:rPr dirty="0" sz="17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entre</a:t>
            </a:r>
            <a:r>
              <a:rPr dirty="0" sz="17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municipios:</a:t>
            </a:r>
            <a:r>
              <a:rPr dirty="0" sz="17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105">
                <a:solidFill>
                  <a:srgbClr val="FFFFFF"/>
                </a:solidFill>
                <a:latin typeface="Trebuchet MS"/>
                <a:cs typeface="Trebuchet MS"/>
              </a:rPr>
              <a:t>más</a:t>
            </a:r>
            <a:r>
              <a:rPr dirty="0" sz="17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25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38.800</a:t>
            </a:r>
            <a:r>
              <a:rPr dirty="0" sz="170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75">
                <a:solidFill>
                  <a:srgbClr val="FFFFFF"/>
                </a:solidFill>
                <a:latin typeface="Trebuchet MS"/>
                <a:cs typeface="Trebuchet MS"/>
              </a:rPr>
              <a:t>personas</a:t>
            </a:r>
            <a:r>
              <a:rPr dirty="0" sz="170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registradas</a:t>
            </a:r>
            <a:r>
              <a:rPr dirty="0" sz="170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FFFFFF"/>
                </a:solidFill>
                <a:latin typeface="Trebuchet MS"/>
                <a:cs typeface="Trebuchet MS"/>
              </a:rPr>
              <a:t>entrando</a:t>
            </a:r>
            <a:r>
              <a:rPr dirty="0" sz="170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70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saliendo</a:t>
            </a:r>
            <a:r>
              <a:rPr dirty="0" sz="1700" spc="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40">
                <a:solidFill>
                  <a:srgbClr val="FFFFFF"/>
                </a:solidFill>
                <a:latin typeface="Trebuchet MS"/>
                <a:cs typeface="Trebuchet MS"/>
              </a:rPr>
              <a:t>en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dirty="0" sz="17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FFFFFF"/>
                </a:solidFill>
                <a:latin typeface="Trebuchet MS"/>
                <a:cs typeface="Trebuchet MS"/>
              </a:rPr>
              <a:t>período</a:t>
            </a:r>
            <a:r>
              <a:rPr dirty="0" sz="17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analizado,</a:t>
            </a:r>
            <a:r>
              <a:rPr dirty="0" sz="17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65">
                <a:solidFill>
                  <a:srgbClr val="FFFFFF"/>
                </a:solidFill>
                <a:latin typeface="Trebuchet MS"/>
                <a:cs typeface="Trebuchet MS"/>
              </a:rPr>
              <a:t>base</a:t>
            </a:r>
            <a:r>
              <a:rPr dirty="0" sz="17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dirty="0" sz="17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FFFFFF"/>
                </a:solidFill>
                <a:latin typeface="Trebuchet MS"/>
                <a:cs typeface="Trebuchet MS"/>
              </a:rPr>
              <a:t>modelar</a:t>
            </a:r>
            <a:r>
              <a:rPr dirty="0" sz="17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80">
                <a:solidFill>
                  <a:srgbClr val="FFFFFF"/>
                </a:solidFill>
                <a:latin typeface="Trebuchet MS"/>
                <a:cs typeface="Trebuchet MS"/>
              </a:rPr>
              <a:t>cómo</a:t>
            </a:r>
            <a:r>
              <a:rPr dirty="0" sz="17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40">
                <a:solidFill>
                  <a:srgbClr val="FFFFFF"/>
                </a:solidFill>
                <a:latin typeface="Trebuchet MS"/>
                <a:cs typeface="Trebuchet MS"/>
              </a:rPr>
              <a:t>se </a:t>
            </a:r>
            <a:r>
              <a:rPr dirty="0" sz="1700" spc="70">
                <a:solidFill>
                  <a:srgbClr val="FFFFFF"/>
                </a:solidFill>
                <a:latin typeface="Trebuchet MS"/>
                <a:cs typeface="Trebuchet MS"/>
              </a:rPr>
              <a:t>propagan</a:t>
            </a:r>
            <a:r>
              <a:rPr dirty="0" sz="17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los</a:t>
            </a:r>
            <a:r>
              <a:rPr dirty="0" sz="17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brotes</a:t>
            </a:r>
            <a:r>
              <a:rPr dirty="0" sz="17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7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dirty="0" sz="17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movilidad.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72008" y="8785231"/>
            <a:ext cx="5106670" cy="911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3999"/>
              </a:lnSpc>
              <a:spcBef>
                <a:spcPts val="100"/>
              </a:spcBef>
            </a:pPr>
            <a:r>
              <a:rPr dirty="0" sz="1700" spc="75">
                <a:solidFill>
                  <a:srgbClr val="FFFFFF"/>
                </a:solidFill>
                <a:latin typeface="Trebuchet MS"/>
                <a:cs typeface="Trebuchet MS"/>
              </a:rPr>
              <a:t>50</a:t>
            </a:r>
            <a:r>
              <a:rPr dirty="0" sz="17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municipios</a:t>
            </a:r>
            <a:r>
              <a:rPr dirty="0" sz="17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65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dirty="0" sz="17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vigilancia</a:t>
            </a:r>
            <a:r>
              <a:rPr dirty="0" sz="17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45">
                <a:solidFill>
                  <a:srgbClr val="FFFFFF"/>
                </a:solidFill>
                <a:latin typeface="Trebuchet MS"/>
                <a:cs typeface="Trebuchet MS"/>
              </a:rPr>
              <a:t>activa,</a:t>
            </a:r>
            <a:r>
              <a:rPr dirty="0" sz="17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clasificados</a:t>
            </a:r>
            <a:r>
              <a:rPr dirty="0" sz="17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45">
                <a:solidFill>
                  <a:srgbClr val="FFFFFF"/>
                </a:solidFill>
                <a:latin typeface="Trebuchet MS"/>
                <a:cs typeface="Trebuchet MS"/>
              </a:rPr>
              <a:t>por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nivel</a:t>
            </a:r>
            <a:r>
              <a:rPr dirty="0" sz="17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50">
                <a:solidFill>
                  <a:srgbClr val="FFFFFF"/>
                </a:solidFill>
                <a:latin typeface="Trebuchet MS"/>
                <a:cs typeface="Trebuchet MS"/>
              </a:rPr>
              <a:t>crítico,</a:t>
            </a:r>
            <a:r>
              <a:rPr dirty="0" sz="17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55">
                <a:solidFill>
                  <a:srgbClr val="FFFFFF"/>
                </a:solidFill>
                <a:latin typeface="Trebuchet MS"/>
                <a:cs typeface="Trebuchet MS"/>
              </a:rPr>
              <a:t>con</a:t>
            </a:r>
            <a:r>
              <a:rPr dirty="0" sz="17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65">
                <a:solidFill>
                  <a:srgbClr val="FFFFFF"/>
                </a:solidFill>
                <a:latin typeface="Trebuchet MS"/>
                <a:cs typeface="Trebuchet MS"/>
              </a:rPr>
              <a:t>casos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 y</a:t>
            </a:r>
            <a:r>
              <a:rPr dirty="0" sz="17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score</a:t>
            </a:r>
            <a:r>
              <a:rPr dirty="0" sz="17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 riesgo</a:t>
            </a:r>
            <a:r>
              <a:rPr dirty="0" sz="17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calculados </a:t>
            </a:r>
            <a:r>
              <a:rPr dirty="0" sz="1700" spc="10">
                <a:solidFill>
                  <a:srgbClr val="FFFFFF"/>
                </a:solidFill>
                <a:latin typeface="Trebuchet MS"/>
                <a:cs typeface="Trebuchet MS"/>
              </a:rPr>
              <a:t>automáticamente</a:t>
            </a:r>
            <a:r>
              <a:rPr dirty="0" sz="17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7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dirty="0" sz="17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dirty="0" sz="17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sistema.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019791" y="8995825"/>
            <a:ext cx="5158105" cy="615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2930" marR="5080" indent="-1840864">
              <a:lnSpc>
                <a:spcPct val="113999"/>
              </a:lnSpc>
              <a:spcBef>
                <a:spcPts val="100"/>
              </a:spcBef>
            </a:pPr>
            <a:r>
              <a:rPr dirty="0" sz="1700" spc="70">
                <a:solidFill>
                  <a:srgbClr val="FFFFFF"/>
                </a:solidFill>
                <a:latin typeface="Trebuchet MS"/>
                <a:cs typeface="Trebuchet MS"/>
              </a:rPr>
              <a:t>Monitoreo</a:t>
            </a:r>
            <a:r>
              <a:rPr dirty="0" sz="17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55">
                <a:solidFill>
                  <a:srgbClr val="FFFFFF"/>
                </a:solidFill>
                <a:latin typeface="Trebuchet MS"/>
                <a:cs typeface="Trebuchet MS"/>
              </a:rPr>
              <a:t>semanal</a:t>
            </a:r>
            <a:r>
              <a:rPr dirty="0" sz="17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7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80">
                <a:solidFill>
                  <a:srgbClr val="FFFFFF"/>
                </a:solidFill>
                <a:latin typeface="Trebuchet MS"/>
                <a:cs typeface="Trebuchet MS"/>
              </a:rPr>
              <a:t>búsquedas</a:t>
            </a:r>
            <a:r>
              <a:rPr dirty="0" sz="17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7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60">
                <a:solidFill>
                  <a:srgbClr val="FFFFFF"/>
                </a:solidFill>
                <a:latin typeface="Trebuchet MS"/>
                <a:cs typeface="Trebuchet MS"/>
              </a:rPr>
              <a:t>síntomas</a:t>
            </a:r>
            <a:r>
              <a:rPr dirty="0" sz="17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45">
                <a:solidFill>
                  <a:srgbClr val="FFFFFF"/>
                </a:solidFill>
                <a:latin typeface="Trebuchet MS"/>
                <a:cs typeface="Trebuchet MS"/>
              </a:rPr>
              <a:t>por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departamento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E7E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5915" y="0"/>
            <a:ext cx="7112085" cy="804473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17676" y="728806"/>
            <a:ext cx="5003165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40">
                <a:solidFill>
                  <a:srgbClr val="000000"/>
                </a:solidFill>
              </a:rPr>
              <a:t>Impacto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15926" y="2515239"/>
            <a:ext cx="3345179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215" b="1">
                <a:solidFill>
                  <a:srgbClr val="AC2626"/>
                </a:solidFill>
                <a:latin typeface="Tahoma"/>
                <a:cs typeface="Tahoma"/>
              </a:rPr>
              <a:t>Valor</a:t>
            </a:r>
            <a:r>
              <a:rPr dirty="0" sz="3900" spc="15" b="1">
                <a:solidFill>
                  <a:srgbClr val="AC2626"/>
                </a:solidFill>
                <a:latin typeface="Tahoma"/>
                <a:cs typeface="Tahoma"/>
              </a:rPr>
              <a:t> </a:t>
            </a:r>
            <a:r>
              <a:rPr dirty="0" sz="3900" spc="-85" b="1">
                <a:solidFill>
                  <a:srgbClr val="AC2626"/>
                </a:solidFill>
                <a:latin typeface="Tahoma"/>
                <a:cs typeface="Tahoma"/>
              </a:rPr>
              <a:t>publico</a:t>
            </a:r>
            <a:endParaRPr sz="39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50903" y="8726810"/>
            <a:ext cx="65036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5" b="1">
                <a:solidFill>
                  <a:srgbClr val="AC2626"/>
                </a:solidFill>
                <a:latin typeface="Tahoma"/>
                <a:cs typeface="Tahoma"/>
              </a:rPr>
              <a:t>Sostenibilidad</a:t>
            </a:r>
            <a:r>
              <a:rPr dirty="0" sz="3600" spc="-20" b="1">
                <a:solidFill>
                  <a:srgbClr val="AC2626"/>
                </a:solidFill>
                <a:latin typeface="Tahoma"/>
                <a:cs typeface="Tahoma"/>
              </a:rPr>
              <a:t> </a:t>
            </a:r>
            <a:r>
              <a:rPr dirty="0" sz="3600" spc="245" b="1">
                <a:solidFill>
                  <a:srgbClr val="AC2626"/>
                </a:solidFill>
                <a:latin typeface="Tahoma"/>
                <a:cs typeface="Tahoma"/>
              </a:rPr>
              <a:t>y</a:t>
            </a:r>
            <a:r>
              <a:rPr dirty="0" sz="3600" spc="-15" b="1">
                <a:solidFill>
                  <a:srgbClr val="AC2626"/>
                </a:solidFill>
                <a:latin typeface="Tahoma"/>
                <a:cs typeface="Tahoma"/>
              </a:rPr>
              <a:t> </a:t>
            </a:r>
            <a:r>
              <a:rPr dirty="0" sz="3600" spc="-80" b="1">
                <a:solidFill>
                  <a:srgbClr val="AC2626"/>
                </a:solidFill>
                <a:latin typeface="Tahoma"/>
                <a:cs typeface="Tahoma"/>
              </a:rPr>
              <a:t>escalabilidad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25033" y="3464685"/>
            <a:ext cx="3940810" cy="1760855"/>
          </a:xfrm>
          <a:custGeom>
            <a:avLst/>
            <a:gdLst/>
            <a:ahLst/>
            <a:cxnLst/>
            <a:rect l="l" t="t" r="r" b="b"/>
            <a:pathLst>
              <a:path w="3940810" h="1760854">
                <a:moveTo>
                  <a:pt x="3655915" y="1760581"/>
                </a:moveTo>
                <a:lnTo>
                  <a:pt x="285750" y="1760581"/>
                </a:lnTo>
                <a:lnTo>
                  <a:pt x="240778" y="1757021"/>
                </a:lnTo>
                <a:lnTo>
                  <a:pt x="197320" y="1746554"/>
                </a:lnTo>
                <a:lnTo>
                  <a:pt x="156141" y="1729497"/>
                </a:lnTo>
                <a:lnTo>
                  <a:pt x="118010" y="1706169"/>
                </a:lnTo>
                <a:lnTo>
                  <a:pt x="83694" y="1676887"/>
                </a:lnTo>
                <a:lnTo>
                  <a:pt x="54412" y="1642570"/>
                </a:lnTo>
                <a:lnTo>
                  <a:pt x="31083" y="1604439"/>
                </a:lnTo>
                <a:lnTo>
                  <a:pt x="14026" y="1563260"/>
                </a:lnTo>
                <a:lnTo>
                  <a:pt x="3559" y="1519802"/>
                </a:lnTo>
                <a:lnTo>
                  <a:pt x="0" y="1474831"/>
                </a:lnTo>
                <a:lnTo>
                  <a:pt x="0" y="285750"/>
                </a:lnTo>
                <a:lnTo>
                  <a:pt x="3559" y="240779"/>
                </a:lnTo>
                <a:lnTo>
                  <a:pt x="14026" y="197320"/>
                </a:lnTo>
                <a:lnTo>
                  <a:pt x="31083" y="156141"/>
                </a:lnTo>
                <a:lnTo>
                  <a:pt x="54412" y="118010"/>
                </a:lnTo>
                <a:lnTo>
                  <a:pt x="83694" y="83694"/>
                </a:lnTo>
                <a:lnTo>
                  <a:pt x="118010" y="54412"/>
                </a:lnTo>
                <a:lnTo>
                  <a:pt x="156141" y="31083"/>
                </a:lnTo>
                <a:lnTo>
                  <a:pt x="197320" y="14026"/>
                </a:lnTo>
                <a:lnTo>
                  <a:pt x="240778" y="3559"/>
                </a:lnTo>
                <a:lnTo>
                  <a:pt x="285750" y="0"/>
                </a:lnTo>
                <a:lnTo>
                  <a:pt x="3655915" y="0"/>
                </a:lnTo>
                <a:lnTo>
                  <a:pt x="3700886" y="3559"/>
                </a:lnTo>
                <a:lnTo>
                  <a:pt x="3744345" y="14026"/>
                </a:lnTo>
                <a:lnTo>
                  <a:pt x="3785524" y="31083"/>
                </a:lnTo>
                <a:lnTo>
                  <a:pt x="3823655" y="54412"/>
                </a:lnTo>
                <a:lnTo>
                  <a:pt x="3857971" y="83694"/>
                </a:lnTo>
                <a:lnTo>
                  <a:pt x="3887254" y="118010"/>
                </a:lnTo>
                <a:lnTo>
                  <a:pt x="3910582" y="156141"/>
                </a:lnTo>
                <a:lnTo>
                  <a:pt x="3927639" y="197320"/>
                </a:lnTo>
                <a:lnTo>
                  <a:pt x="3938106" y="240779"/>
                </a:lnTo>
                <a:lnTo>
                  <a:pt x="3940675" y="273241"/>
                </a:lnTo>
                <a:lnTo>
                  <a:pt x="3940675" y="1487340"/>
                </a:lnTo>
                <a:lnTo>
                  <a:pt x="3927639" y="1563260"/>
                </a:lnTo>
                <a:lnTo>
                  <a:pt x="3910582" y="1604439"/>
                </a:lnTo>
                <a:lnTo>
                  <a:pt x="3887254" y="1642570"/>
                </a:lnTo>
                <a:lnTo>
                  <a:pt x="3857971" y="1676887"/>
                </a:lnTo>
                <a:lnTo>
                  <a:pt x="3823655" y="1706169"/>
                </a:lnTo>
                <a:lnTo>
                  <a:pt x="3785524" y="1729497"/>
                </a:lnTo>
                <a:lnTo>
                  <a:pt x="3744345" y="1746554"/>
                </a:lnTo>
                <a:lnTo>
                  <a:pt x="3700886" y="1757021"/>
                </a:lnTo>
                <a:lnTo>
                  <a:pt x="3655915" y="1760581"/>
                </a:lnTo>
                <a:close/>
              </a:path>
            </a:pathLst>
          </a:custGeom>
          <a:solidFill>
            <a:srgbClr val="F4464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-2101" y="5839657"/>
            <a:ext cx="8756650" cy="4460240"/>
            <a:chOff x="-2101" y="5839657"/>
            <a:chExt cx="8756650" cy="446024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101" y="5839657"/>
              <a:ext cx="7651803" cy="44596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088429" y="7452953"/>
              <a:ext cx="3665854" cy="1805939"/>
            </a:xfrm>
            <a:custGeom>
              <a:avLst/>
              <a:gdLst/>
              <a:ahLst/>
              <a:cxnLst/>
              <a:rect l="l" t="t" r="r" b="b"/>
              <a:pathLst>
                <a:path w="3665854" h="1805940">
                  <a:moveTo>
                    <a:pt x="3379889" y="1805346"/>
                  </a:moveTo>
                  <a:lnTo>
                    <a:pt x="285750" y="1805346"/>
                  </a:lnTo>
                  <a:lnTo>
                    <a:pt x="240779" y="1801787"/>
                  </a:lnTo>
                  <a:lnTo>
                    <a:pt x="197320" y="1791319"/>
                  </a:lnTo>
                  <a:lnTo>
                    <a:pt x="156141" y="1774263"/>
                  </a:lnTo>
                  <a:lnTo>
                    <a:pt x="118010" y="1750934"/>
                  </a:lnTo>
                  <a:lnTo>
                    <a:pt x="83694" y="1721652"/>
                  </a:lnTo>
                  <a:lnTo>
                    <a:pt x="54411" y="1687336"/>
                  </a:lnTo>
                  <a:lnTo>
                    <a:pt x="31083" y="1649204"/>
                  </a:lnTo>
                  <a:lnTo>
                    <a:pt x="14026" y="1608026"/>
                  </a:lnTo>
                  <a:lnTo>
                    <a:pt x="3559" y="1564567"/>
                  </a:lnTo>
                  <a:lnTo>
                    <a:pt x="0" y="1519596"/>
                  </a:lnTo>
                  <a:lnTo>
                    <a:pt x="0" y="285749"/>
                  </a:lnTo>
                  <a:lnTo>
                    <a:pt x="3559" y="240779"/>
                  </a:lnTo>
                  <a:lnTo>
                    <a:pt x="14026" y="197320"/>
                  </a:lnTo>
                  <a:lnTo>
                    <a:pt x="31083" y="156141"/>
                  </a:lnTo>
                  <a:lnTo>
                    <a:pt x="54411" y="118010"/>
                  </a:lnTo>
                  <a:lnTo>
                    <a:pt x="83694" y="83694"/>
                  </a:lnTo>
                  <a:lnTo>
                    <a:pt x="118010" y="54411"/>
                  </a:lnTo>
                  <a:lnTo>
                    <a:pt x="156141" y="31083"/>
                  </a:lnTo>
                  <a:lnTo>
                    <a:pt x="197320" y="14026"/>
                  </a:lnTo>
                  <a:lnTo>
                    <a:pt x="240779" y="3559"/>
                  </a:lnTo>
                  <a:lnTo>
                    <a:pt x="285750" y="0"/>
                  </a:lnTo>
                  <a:lnTo>
                    <a:pt x="3379889" y="0"/>
                  </a:lnTo>
                  <a:lnTo>
                    <a:pt x="3424859" y="3559"/>
                  </a:lnTo>
                  <a:lnTo>
                    <a:pt x="3468317" y="14026"/>
                  </a:lnTo>
                  <a:lnTo>
                    <a:pt x="3509496" y="31083"/>
                  </a:lnTo>
                  <a:lnTo>
                    <a:pt x="3547627" y="54411"/>
                  </a:lnTo>
                  <a:lnTo>
                    <a:pt x="3581943" y="83694"/>
                  </a:lnTo>
                  <a:lnTo>
                    <a:pt x="3611226" y="118010"/>
                  </a:lnTo>
                  <a:lnTo>
                    <a:pt x="3634554" y="156141"/>
                  </a:lnTo>
                  <a:lnTo>
                    <a:pt x="3651611" y="197320"/>
                  </a:lnTo>
                  <a:lnTo>
                    <a:pt x="3662079" y="240779"/>
                  </a:lnTo>
                  <a:lnTo>
                    <a:pt x="3665638" y="285749"/>
                  </a:lnTo>
                  <a:lnTo>
                    <a:pt x="3665638" y="1519596"/>
                  </a:lnTo>
                  <a:lnTo>
                    <a:pt x="3662079" y="1564567"/>
                  </a:lnTo>
                  <a:lnTo>
                    <a:pt x="3651611" y="1608026"/>
                  </a:lnTo>
                  <a:lnTo>
                    <a:pt x="3634554" y="1649204"/>
                  </a:lnTo>
                  <a:lnTo>
                    <a:pt x="3611226" y="1687336"/>
                  </a:lnTo>
                  <a:lnTo>
                    <a:pt x="3581943" y="1721652"/>
                  </a:lnTo>
                  <a:lnTo>
                    <a:pt x="3547627" y="1750934"/>
                  </a:lnTo>
                  <a:lnTo>
                    <a:pt x="3509496" y="1774263"/>
                  </a:lnTo>
                  <a:lnTo>
                    <a:pt x="3468317" y="1791319"/>
                  </a:lnTo>
                  <a:lnTo>
                    <a:pt x="3424859" y="1801787"/>
                  </a:lnTo>
                  <a:lnTo>
                    <a:pt x="3379889" y="1805346"/>
                  </a:lnTo>
                  <a:close/>
                </a:path>
              </a:pathLst>
            </a:custGeom>
            <a:solidFill>
              <a:srgbClr val="AC26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702833" y="3632960"/>
            <a:ext cx="3586479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  <a:tabLst>
                <a:tab pos="999490" algn="l"/>
                <a:tab pos="1485900" algn="l"/>
                <a:tab pos="2414905" algn="l"/>
                <a:tab pos="2969260" algn="l"/>
              </a:tabLst>
            </a:pPr>
            <a:r>
              <a:rPr dirty="0" sz="1500" spc="-10">
                <a:solidFill>
                  <a:srgbClr val="F4E7E7"/>
                </a:solidFill>
                <a:latin typeface="Trebuchet MS"/>
                <a:cs typeface="Trebuchet MS"/>
              </a:rPr>
              <a:t>Reduce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	</a:t>
            </a:r>
            <a:r>
              <a:rPr dirty="0" sz="1500" spc="-25">
                <a:solidFill>
                  <a:srgbClr val="F4E7E7"/>
                </a:solidFill>
                <a:latin typeface="Trebuchet MS"/>
                <a:cs typeface="Trebuchet MS"/>
              </a:rPr>
              <a:t>el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	</a:t>
            </a:r>
            <a:r>
              <a:rPr dirty="0" sz="1500" spc="-10">
                <a:solidFill>
                  <a:srgbClr val="F4E7E7"/>
                </a:solidFill>
                <a:latin typeface="Trebuchet MS"/>
                <a:cs typeface="Trebuchet MS"/>
              </a:rPr>
              <a:t>rezago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	</a:t>
            </a:r>
            <a:r>
              <a:rPr dirty="0" sz="1500" spc="-25">
                <a:solidFill>
                  <a:srgbClr val="F4E7E7"/>
                </a:solidFill>
                <a:latin typeface="Trebuchet MS"/>
                <a:cs typeface="Trebuchet MS"/>
              </a:rPr>
              <a:t>de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	</a:t>
            </a:r>
            <a:r>
              <a:rPr dirty="0" sz="1500" spc="-10">
                <a:solidFill>
                  <a:srgbClr val="F4E7E7"/>
                </a:solidFill>
                <a:latin typeface="Trebuchet MS"/>
                <a:cs typeface="Trebuchet MS"/>
              </a:rPr>
              <a:t>alertas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epidemiológicas</a:t>
            </a:r>
            <a:r>
              <a:rPr dirty="0" sz="1500" spc="30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de</a:t>
            </a:r>
            <a:r>
              <a:rPr dirty="0" sz="1500" spc="30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2-4</a:t>
            </a:r>
            <a:r>
              <a:rPr dirty="0" sz="1500" spc="30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1500" spc="75">
                <a:solidFill>
                  <a:srgbClr val="F4E7E7"/>
                </a:solidFill>
                <a:latin typeface="Trebuchet MS"/>
                <a:cs typeface="Trebuchet MS"/>
              </a:rPr>
              <a:t>semanas</a:t>
            </a:r>
            <a:r>
              <a:rPr dirty="0" sz="1500" spc="30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a</a:t>
            </a:r>
            <a:r>
              <a:rPr dirty="0" sz="1500" spc="30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1500" spc="45">
                <a:solidFill>
                  <a:srgbClr val="F4E7E7"/>
                </a:solidFill>
                <a:latin typeface="Trebuchet MS"/>
                <a:cs typeface="Trebuchet MS"/>
              </a:rPr>
              <a:t>una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2833" y="4166360"/>
            <a:ext cx="3586479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ventana</a:t>
            </a:r>
            <a:r>
              <a:rPr dirty="0" sz="1500" spc="4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real</a:t>
            </a:r>
            <a:r>
              <a:rPr dirty="0" sz="1500" spc="5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de</a:t>
            </a:r>
            <a:r>
              <a:rPr dirty="0" sz="1500" spc="4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anticipación</a:t>
            </a:r>
            <a:r>
              <a:rPr dirty="0" sz="1500" spc="5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para</a:t>
            </a:r>
            <a:r>
              <a:rPr dirty="0" sz="1500" spc="4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el</a:t>
            </a:r>
            <a:r>
              <a:rPr dirty="0" sz="1500" spc="5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F4E7E7"/>
                </a:solidFill>
                <a:latin typeface="Trebuchet MS"/>
                <a:cs typeface="Trebuchet MS"/>
              </a:rPr>
              <a:t>INS,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el</a:t>
            </a:r>
            <a:r>
              <a:rPr dirty="0" sz="1500" spc="405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Ministerio</a:t>
            </a:r>
            <a:r>
              <a:rPr dirty="0" sz="1500" spc="405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de</a:t>
            </a:r>
            <a:r>
              <a:rPr dirty="0" sz="1500" spc="400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1500" spc="50">
                <a:solidFill>
                  <a:srgbClr val="F4E7E7"/>
                </a:solidFill>
                <a:latin typeface="Trebuchet MS"/>
                <a:cs typeface="Trebuchet MS"/>
              </a:rPr>
              <a:t>Salud</a:t>
            </a:r>
            <a:r>
              <a:rPr dirty="0" sz="1500" spc="405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y</a:t>
            </a:r>
            <a:r>
              <a:rPr dirty="0" sz="1500" spc="405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las</a:t>
            </a:r>
            <a:r>
              <a:rPr dirty="0" sz="1500" spc="405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1500" spc="35">
                <a:solidFill>
                  <a:srgbClr val="F4E7E7"/>
                </a:solidFill>
                <a:latin typeface="Trebuchet MS"/>
                <a:cs typeface="Trebuchet MS"/>
              </a:rPr>
              <a:t>32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secretarías</a:t>
            </a:r>
            <a:r>
              <a:rPr dirty="0" sz="1500" spc="15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F4E7E7"/>
                </a:solidFill>
                <a:latin typeface="Trebuchet MS"/>
                <a:cs typeface="Trebuchet MS"/>
              </a:rPr>
              <a:t>departamentales.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66229" y="7687902"/>
            <a:ext cx="331025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9435" algn="l"/>
                <a:tab pos="1625600" algn="l"/>
                <a:tab pos="3025140" algn="l"/>
              </a:tabLst>
            </a:pPr>
            <a:r>
              <a:rPr dirty="0" sz="1500" spc="60">
                <a:solidFill>
                  <a:srgbClr val="FFFFFF"/>
                </a:solidFill>
                <a:latin typeface="Trebuchet MS"/>
                <a:cs typeface="Trebuchet MS"/>
              </a:rPr>
              <a:t>Una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reducción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500" spc="40">
                <a:solidFill>
                  <a:srgbClr val="FFFFFF"/>
                </a:solidFill>
                <a:latin typeface="Trebuchet MS"/>
                <a:cs typeface="Trebuchet MS"/>
              </a:rPr>
              <a:t>conservadora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500" spc="-25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66229" y="7916502"/>
            <a:ext cx="3310254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  <a:tabLst>
                <a:tab pos="537845" algn="l"/>
                <a:tab pos="911860" algn="l"/>
                <a:tab pos="1118235" algn="l"/>
                <a:tab pos="1216025" algn="l"/>
                <a:tab pos="1722755" algn="l"/>
                <a:tab pos="2077720" algn="l"/>
                <a:tab pos="2255520" algn="l"/>
                <a:tab pos="2629535" algn="l"/>
                <a:tab pos="2803525" algn="l"/>
              </a:tabLst>
            </a:pPr>
            <a:r>
              <a:rPr dirty="0" sz="1500" spc="130">
                <a:solidFill>
                  <a:srgbClr val="FFFFFF"/>
                </a:solidFill>
                <a:latin typeface="Trebuchet MS"/>
                <a:cs typeface="Trebuchet MS"/>
              </a:rPr>
              <a:t>10%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500" spc="30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500" spc="-25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	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incidencia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	</a:t>
            </a:r>
            <a:r>
              <a:rPr dirty="0" sz="1500" spc="-2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500" spc="50">
                <a:solidFill>
                  <a:srgbClr val="FFFFFF"/>
                </a:solidFill>
                <a:latin typeface="Trebuchet MS"/>
                <a:cs typeface="Trebuchet MS"/>
              </a:rPr>
              <a:t>dengue 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representa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cerca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500" spc="-2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50.000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500" spc="50">
                <a:solidFill>
                  <a:srgbClr val="FFFFFF"/>
                </a:solidFill>
                <a:latin typeface="Trebuchet MS"/>
                <a:cs typeface="Trebuchet MS"/>
              </a:rPr>
              <a:t>casos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66229" y="8449902"/>
            <a:ext cx="3310254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anuales</a:t>
            </a:r>
            <a:r>
              <a:rPr dirty="0" sz="1500" spc="2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menos,</a:t>
            </a:r>
            <a:r>
              <a:rPr dirty="0" sz="1500" spc="2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Trebuchet MS"/>
                <a:cs typeface="Trebuchet MS"/>
              </a:rPr>
              <a:t>con</a:t>
            </a:r>
            <a:r>
              <a:rPr dirty="0" sz="1500" spc="2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impacto</a:t>
            </a:r>
            <a:r>
              <a:rPr dirty="0" sz="1500" spc="2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directo </a:t>
            </a:r>
            <a:r>
              <a:rPr dirty="0" sz="1500" spc="55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dirty="0" sz="1500" spc="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10">
                <a:solidFill>
                  <a:srgbClr val="FFFFFF"/>
                </a:solidFill>
                <a:latin typeface="Trebuchet MS"/>
                <a:cs typeface="Trebuchet MS"/>
              </a:rPr>
              <a:t>poblaciones</a:t>
            </a:r>
            <a:r>
              <a:rPr dirty="0" sz="1500" spc="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vulnerables.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5606" y="6049809"/>
            <a:ext cx="3680460" cy="2027555"/>
          </a:xfrm>
          <a:custGeom>
            <a:avLst/>
            <a:gdLst/>
            <a:ahLst/>
            <a:cxnLst/>
            <a:rect l="l" t="t" r="r" b="b"/>
            <a:pathLst>
              <a:path w="3680460" h="2027554">
                <a:moveTo>
                  <a:pt x="3394596" y="2027281"/>
                </a:moveTo>
                <a:lnTo>
                  <a:pt x="285749" y="2027281"/>
                </a:lnTo>
                <a:lnTo>
                  <a:pt x="240778" y="2023721"/>
                </a:lnTo>
                <a:lnTo>
                  <a:pt x="197320" y="2013254"/>
                </a:lnTo>
                <a:lnTo>
                  <a:pt x="156141" y="1996197"/>
                </a:lnTo>
                <a:lnTo>
                  <a:pt x="118010" y="1972869"/>
                </a:lnTo>
                <a:lnTo>
                  <a:pt x="83694" y="1943586"/>
                </a:lnTo>
                <a:lnTo>
                  <a:pt x="54412" y="1909270"/>
                </a:lnTo>
                <a:lnTo>
                  <a:pt x="31083" y="1871139"/>
                </a:lnTo>
                <a:lnTo>
                  <a:pt x="14026" y="1829960"/>
                </a:lnTo>
                <a:lnTo>
                  <a:pt x="3559" y="1786502"/>
                </a:lnTo>
                <a:lnTo>
                  <a:pt x="0" y="1741531"/>
                </a:lnTo>
                <a:lnTo>
                  <a:pt x="0" y="285750"/>
                </a:lnTo>
                <a:lnTo>
                  <a:pt x="3559" y="240778"/>
                </a:lnTo>
                <a:lnTo>
                  <a:pt x="14026" y="197320"/>
                </a:lnTo>
                <a:lnTo>
                  <a:pt x="31083" y="156141"/>
                </a:lnTo>
                <a:lnTo>
                  <a:pt x="54412" y="118010"/>
                </a:lnTo>
                <a:lnTo>
                  <a:pt x="83694" y="83694"/>
                </a:lnTo>
                <a:lnTo>
                  <a:pt x="118010" y="54411"/>
                </a:lnTo>
                <a:lnTo>
                  <a:pt x="156141" y="31083"/>
                </a:lnTo>
                <a:lnTo>
                  <a:pt x="197320" y="14026"/>
                </a:lnTo>
                <a:lnTo>
                  <a:pt x="240778" y="3559"/>
                </a:lnTo>
                <a:lnTo>
                  <a:pt x="285749" y="0"/>
                </a:lnTo>
                <a:lnTo>
                  <a:pt x="3394596" y="0"/>
                </a:lnTo>
                <a:lnTo>
                  <a:pt x="3439567" y="3559"/>
                </a:lnTo>
                <a:lnTo>
                  <a:pt x="3483025" y="14026"/>
                </a:lnTo>
                <a:lnTo>
                  <a:pt x="3524204" y="31083"/>
                </a:lnTo>
                <a:lnTo>
                  <a:pt x="3562335" y="54411"/>
                </a:lnTo>
                <a:lnTo>
                  <a:pt x="3596651" y="83694"/>
                </a:lnTo>
                <a:lnTo>
                  <a:pt x="3625934" y="118010"/>
                </a:lnTo>
                <a:lnTo>
                  <a:pt x="3649262" y="156141"/>
                </a:lnTo>
                <a:lnTo>
                  <a:pt x="3666319" y="197320"/>
                </a:lnTo>
                <a:lnTo>
                  <a:pt x="3676786" y="240778"/>
                </a:lnTo>
                <a:lnTo>
                  <a:pt x="3680346" y="285750"/>
                </a:lnTo>
                <a:lnTo>
                  <a:pt x="3680346" y="1741531"/>
                </a:lnTo>
                <a:lnTo>
                  <a:pt x="3676786" y="1786502"/>
                </a:lnTo>
                <a:lnTo>
                  <a:pt x="3666319" y="1829960"/>
                </a:lnTo>
                <a:lnTo>
                  <a:pt x="3649262" y="1871139"/>
                </a:lnTo>
                <a:lnTo>
                  <a:pt x="3625934" y="1909270"/>
                </a:lnTo>
                <a:lnTo>
                  <a:pt x="3596651" y="1943586"/>
                </a:lnTo>
                <a:lnTo>
                  <a:pt x="3562335" y="1972869"/>
                </a:lnTo>
                <a:lnTo>
                  <a:pt x="3524204" y="1996197"/>
                </a:lnTo>
                <a:lnTo>
                  <a:pt x="3483025" y="2013254"/>
                </a:lnTo>
                <a:lnTo>
                  <a:pt x="3439567" y="2023721"/>
                </a:lnTo>
                <a:lnTo>
                  <a:pt x="3394596" y="20272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33405" y="6218084"/>
            <a:ext cx="3324860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500">
                <a:latin typeface="Trebuchet MS"/>
                <a:cs typeface="Trebuchet MS"/>
              </a:rPr>
              <a:t>Optimización</a:t>
            </a:r>
            <a:r>
              <a:rPr dirty="0" sz="1500" spc="440">
                <a:latin typeface="Trebuchet MS"/>
                <a:cs typeface="Trebuchet MS"/>
              </a:rPr>
              <a:t>   </a:t>
            </a:r>
            <a:r>
              <a:rPr dirty="0" sz="1500">
                <a:latin typeface="Trebuchet MS"/>
                <a:cs typeface="Trebuchet MS"/>
              </a:rPr>
              <a:t>de</a:t>
            </a:r>
            <a:r>
              <a:rPr dirty="0" sz="1500" spc="440">
                <a:latin typeface="Trebuchet MS"/>
                <a:cs typeface="Trebuchet MS"/>
              </a:rPr>
              <a:t>   </a:t>
            </a:r>
            <a:r>
              <a:rPr dirty="0" sz="1500">
                <a:latin typeface="Trebuchet MS"/>
                <a:cs typeface="Trebuchet MS"/>
              </a:rPr>
              <a:t>brigadas</a:t>
            </a:r>
            <a:r>
              <a:rPr dirty="0" sz="1500" spc="445">
                <a:latin typeface="Trebuchet MS"/>
                <a:cs typeface="Trebuchet MS"/>
              </a:rPr>
              <a:t>   </a:t>
            </a:r>
            <a:r>
              <a:rPr dirty="0" sz="1500" spc="-25">
                <a:latin typeface="Trebuchet MS"/>
                <a:cs typeface="Trebuchet MS"/>
              </a:rPr>
              <a:t>de </a:t>
            </a:r>
            <a:r>
              <a:rPr dirty="0" sz="1500">
                <a:latin typeface="Trebuchet MS"/>
                <a:cs typeface="Trebuchet MS"/>
              </a:rPr>
              <a:t>fumigación,</a:t>
            </a:r>
            <a:r>
              <a:rPr dirty="0" sz="1500" spc="450">
                <a:latin typeface="Trebuchet MS"/>
                <a:cs typeface="Trebuchet MS"/>
              </a:rPr>
              <a:t> </a:t>
            </a:r>
            <a:r>
              <a:rPr dirty="0" sz="1500" spc="80">
                <a:latin typeface="Trebuchet MS"/>
                <a:cs typeface="Trebuchet MS"/>
              </a:rPr>
              <a:t>insumos</a:t>
            </a:r>
            <a:r>
              <a:rPr dirty="0" sz="1500" spc="455">
                <a:latin typeface="Trebuchet MS"/>
                <a:cs typeface="Trebuchet MS"/>
              </a:rPr>
              <a:t> </a:t>
            </a:r>
            <a:r>
              <a:rPr dirty="0" sz="1500">
                <a:latin typeface="Trebuchet MS"/>
                <a:cs typeface="Trebuchet MS"/>
              </a:rPr>
              <a:t>hospitalarios</a:t>
            </a:r>
            <a:r>
              <a:rPr dirty="0" sz="1500" spc="455">
                <a:latin typeface="Trebuchet MS"/>
                <a:cs typeface="Trebuchet MS"/>
              </a:rPr>
              <a:t> </a:t>
            </a:r>
            <a:r>
              <a:rPr dirty="0" sz="1500" spc="-50">
                <a:latin typeface="Trebuchet MS"/>
                <a:cs typeface="Trebuchet MS"/>
              </a:rPr>
              <a:t>y </a:t>
            </a:r>
            <a:r>
              <a:rPr dirty="0" sz="1500">
                <a:latin typeface="Trebuchet MS"/>
                <a:cs typeface="Trebuchet MS"/>
              </a:rPr>
              <a:t>kits</a:t>
            </a:r>
            <a:r>
              <a:rPr dirty="0" sz="1500" spc="105">
                <a:latin typeface="Trebuchet MS"/>
                <a:cs typeface="Trebuchet MS"/>
              </a:rPr>
              <a:t>  </a:t>
            </a:r>
            <a:r>
              <a:rPr dirty="0" sz="1500">
                <a:latin typeface="Trebuchet MS"/>
                <a:cs typeface="Trebuchet MS"/>
              </a:rPr>
              <a:t>de</a:t>
            </a:r>
            <a:r>
              <a:rPr dirty="0" sz="1500" spc="110">
                <a:latin typeface="Trebuchet MS"/>
                <a:cs typeface="Trebuchet MS"/>
              </a:rPr>
              <a:t>  </a:t>
            </a:r>
            <a:r>
              <a:rPr dirty="0" sz="1500">
                <a:latin typeface="Trebuchet MS"/>
                <a:cs typeface="Trebuchet MS"/>
              </a:rPr>
              <a:t>diagnóstico,</a:t>
            </a:r>
            <a:r>
              <a:rPr dirty="0" sz="1500" spc="105">
                <a:latin typeface="Trebuchet MS"/>
                <a:cs typeface="Trebuchet MS"/>
              </a:rPr>
              <a:t>  </a:t>
            </a:r>
            <a:r>
              <a:rPr dirty="0" sz="1500">
                <a:latin typeface="Trebuchet MS"/>
                <a:cs typeface="Trebuchet MS"/>
              </a:rPr>
              <a:t>focalizados</a:t>
            </a:r>
            <a:r>
              <a:rPr dirty="0" sz="1500" spc="110">
                <a:latin typeface="Trebuchet MS"/>
                <a:cs typeface="Trebuchet MS"/>
              </a:rPr>
              <a:t>  </a:t>
            </a:r>
            <a:r>
              <a:rPr dirty="0" sz="1500" spc="30">
                <a:latin typeface="Trebuchet MS"/>
                <a:cs typeface="Trebuchet MS"/>
              </a:rPr>
              <a:t>en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3405" y="7018184"/>
            <a:ext cx="3324860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500">
                <a:latin typeface="Trebuchet MS"/>
                <a:cs typeface="Trebuchet MS"/>
              </a:rPr>
              <a:t>las</a:t>
            </a:r>
            <a:r>
              <a:rPr dirty="0" sz="1500" spc="285">
                <a:latin typeface="Trebuchet MS"/>
                <a:cs typeface="Trebuchet MS"/>
              </a:rPr>
              <a:t> </a:t>
            </a:r>
            <a:r>
              <a:rPr dirty="0" sz="1500" spc="55">
                <a:latin typeface="Trebuchet MS"/>
                <a:cs typeface="Trebuchet MS"/>
              </a:rPr>
              <a:t>zonas</a:t>
            </a:r>
            <a:r>
              <a:rPr dirty="0" sz="1500" spc="285">
                <a:latin typeface="Trebuchet MS"/>
                <a:cs typeface="Trebuchet MS"/>
              </a:rPr>
              <a:t> </a:t>
            </a:r>
            <a:r>
              <a:rPr dirty="0" sz="1500">
                <a:latin typeface="Trebuchet MS"/>
                <a:cs typeface="Trebuchet MS"/>
              </a:rPr>
              <a:t>de</a:t>
            </a:r>
            <a:r>
              <a:rPr dirty="0" sz="1500" spc="285">
                <a:latin typeface="Trebuchet MS"/>
                <a:cs typeface="Trebuchet MS"/>
              </a:rPr>
              <a:t> </a:t>
            </a:r>
            <a:r>
              <a:rPr dirty="0" sz="1500" spc="55">
                <a:latin typeface="Trebuchet MS"/>
                <a:cs typeface="Trebuchet MS"/>
              </a:rPr>
              <a:t>mayor</a:t>
            </a:r>
            <a:r>
              <a:rPr dirty="0" sz="1500" spc="285">
                <a:latin typeface="Trebuchet MS"/>
                <a:cs typeface="Trebuchet MS"/>
              </a:rPr>
              <a:t> </a:t>
            </a:r>
            <a:r>
              <a:rPr dirty="0" sz="1500">
                <a:latin typeface="Trebuchet MS"/>
                <a:cs typeface="Trebuchet MS"/>
              </a:rPr>
              <a:t>riesgo</a:t>
            </a:r>
            <a:r>
              <a:rPr dirty="0" sz="1500" spc="285">
                <a:latin typeface="Trebuchet MS"/>
                <a:cs typeface="Trebuchet MS"/>
              </a:rPr>
              <a:t> </a:t>
            </a:r>
            <a:r>
              <a:rPr dirty="0" sz="1500" spc="-10">
                <a:latin typeface="Trebuchet MS"/>
                <a:cs typeface="Trebuchet MS"/>
              </a:rPr>
              <a:t>predicho </a:t>
            </a:r>
            <a:r>
              <a:rPr dirty="0" sz="1500" spc="55">
                <a:latin typeface="Trebuchet MS"/>
                <a:cs typeface="Trebuchet MS"/>
              </a:rPr>
              <a:t>en</a:t>
            </a:r>
            <a:r>
              <a:rPr dirty="0" sz="1500" spc="434">
                <a:latin typeface="Trebuchet MS"/>
                <a:cs typeface="Trebuchet MS"/>
              </a:rPr>
              <a:t>   </a:t>
            </a:r>
            <a:r>
              <a:rPr dirty="0" sz="1500">
                <a:latin typeface="Trebuchet MS"/>
                <a:cs typeface="Trebuchet MS"/>
              </a:rPr>
              <a:t>vez</a:t>
            </a:r>
            <a:r>
              <a:rPr dirty="0" sz="1500" spc="434">
                <a:latin typeface="Trebuchet MS"/>
                <a:cs typeface="Trebuchet MS"/>
              </a:rPr>
              <a:t>   </a:t>
            </a:r>
            <a:r>
              <a:rPr dirty="0" sz="1500">
                <a:latin typeface="Trebuchet MS"/>
                <a:cs typeface="Trebuchet MS"/>
              </a:rPr>
              <a:t>de</a:t>
            </a:r>
            <a:r>
              <a:rPr dirty="0" sz="1500" spc="434">
                <a:latin typeface="Trebuchet MS"/>
                <a:cs typeface="Trebuchet MS"/>
              </a:rPr>
              <a:t>   </a:t>
            </a:r>
            <a:r>
              <a:rPr dirty="0" sz="1500" spc="70">
                <a:latin typeface="Trebuchet MS"/>
                <a:cs typeface="Trebuchet MS"/>
              </a:rPr>
              <a:t>una</a:t>
            </a:r>
            <a:r>
              <a:rPr dirty="0" sz="1500" spc="440">
                <a:latin typeface="Trebuchet MS"/>
                <a:cs typeface="Trebuchet MS"/>
              </a:rPr>
              <a:t>   </a:t>
            </a:r>
            <a:r>
              <a:rPr dirty="0" sz="1500" spc="-10">
                <a:latin typeface="Trebuchet MS"/>
                <a:cs typeface="Trebuchet MS"/>
              </a:rPr>
              <a:t>respuesta </a:t>
            </a:r>
            <a:r>
              <a:rPr dirty="0" sz="1500">
                <a:latin typeface="Trebuchet MS"/>
                <a:cs typeface="Trebuchet MS"/>
              </a:rPr>
              <a:t>generalizada</a:t>
            </a:r>
            <a:r>
              <a:rPr dirty="0" sz="1500" spc="105">
                <a:latin typeface="Trebuchet MS"/>
                <a:cs typeface="Trebuchet MS"/>
              </a:rPr>
              <a:t> </a:t>
            </a:r>
            <a:r>
              <a:rPr dirty="0" sz="1500">
                <a:latin typeface="Trebuchet MS"/>
                <a:cs typeface="Trebuchet MS"/>
              </a:rPr>
              <a:t>y</a:t>
            </a:r>
            <a:r>
              <a:rPr dirty="0" sz="1500" spc="110">
                <a:latin typeface="Trebuchet MS"/>
                <a:cs typeface="Trebuchet MS"/>
              </a:rPr>
              <a:t> </a:t>
            </a:r>
            <a:r>
              <a:rPr dirty="0" sz="1500" spc="-10">
                <a:latin typeface="Trebuchet MS"/>
                <a:cs typeface="Trebuchet MS"/>
              </a:rPr>
              <a:t>tardía.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091381" y="4344975"/>
            <a:ext cx="3676015" cy="2291080"/>
          </a:xfrm>
          <a:custGeom>
            <a:avLst/>
            <a:gdLst/>
            <a:ahLst/>
            <a:cxnLst/>
            <a:rect l="l" t="t" r="r" b="b"/>
            <a:pathLst>
              <a:path w="3676015" h="2291079">
                <a:moveTo>
                  <a:pt x="3429060" y="2290883"/>
                </a:moveTo>
                <a:lnTo>
                  <a:pt x="246610" y="2290883"/>
                </a:lnTo>
                <a:lnTo>
                  <a:pt x="240778" y="2290421"/>
                </a:lnTo>
                <a:lnTo>
                  <a:pt x="197320" y="2279954"/>
                </a:lnTo>
                <a:lnTo>
                  <a:pt x="156141" y="2262897"/>
                </a:lnTo>
                <a:lnTo>
                  <a:pt x="118010" y="2239569"/>
                </a:lnTo>
                <a:lnTo>
                  <a:pt x="83695" y="2210287"/>
                </a:lnTo>
                <a:lnTo>
                  <a:pt x="54412" y="2175971"/>
                </a:lnTo>
                <a:lnTo>
                  <a:pt x="31084" y="2137839"/>
                </a:lnTo>
                <a:lnTo>
                  <a:pt x="14027" y="2096661"/>
                </a:lnTo>
                <a:lnTo>
                  <a:pt x="3559" y="2053202"/>
                </a:lnTo>
                <a:lnTo>
                  <a:pt x="0" y="2008231"/>
                </a:lnTo>
                <a:lnTo>
                  <a:pt x="0" y="285750"/>
                </a:lnTo>
                <a:lnTo>
                  <a:pt x="3559" y="240779"/>
                </a:lnTo>
                <a:lnTo>
                  <a:pt x="14027" y="197320"/>
                </a:lnTo>
                <a:lnTo>
                  <a:pt x="31084" y="156141"/>
                </a:lnTo>
                <a:lnTo>
                  <a:pt x="54412" y="118010"/>
                </a:lnTo>
                <a:lnTo>
                  <a:pt x="83695" y="83694"/>
                </a:lnTo>
                <a:lnTo>
                  <a:pt x="118010" y="54412"/>
                </a:lnTo>
                <a:lnTo>
                  <a:pt x="156141" y="31083"/>
                </a:lnTo>
                <a:lnTo>
                  <a:pt x="197320" y="14026"/>
                </a:lnTo>
                <a:lnTo>
                  <a:pt x="240778" y="3559"/>
                </a:lnTo>
                <a:lnTo>
                  <a:pt x="285750" y="0"/>
                </a:lnTo>
                <a:lnTo>
                  <a:pt x="3389920" y="0"/>
                </a:lnTo>
                <a:lnTo>
                  <a:pt x="3434891" y="3559"/>
                </a:lnTo>
                <a:lnTo>
                  <a:pt x="3478350" y="14026"/>
                </a:lnTo>
                <a:lnTo>
                  <a:pt x="3519529" y="31083"/>
                </a:lnTo>
                <a:lnTo>
                  <a:pt x="3557660" y="54412"/>
                </a:lnTo>
                <a:lnTo>
                  <a:pt x="3591977" y="83694"/>
                </a:lnTo>
                <a:lnTo>
                  <a:pt x="3621259" y="118010"/>
                </a:lnTo>
                <a:lnTo>
                  <a:pt x="3644587" y="156141"/>
                </a:lnTo>
                <a:lnTo>
                  <a:pt x="3661644" y="197320"/>
                </a:lnTo>
                <a:lnTo>
                  <a:pt x="3672111" y="240779"/>
                </a:lnTo>
                <a:lnTo>
                  <a:pt x="3675670" y="285750"/>
                </a:lnTo>
                <a:lnTo>
                  <a:pt x="3675670" y="2008231"/>
                </a:lnTo>
                <a:lnTo>
                  <a:pt x="3672111" y="2053202"/>
                </a:lnTo>
                <a:lnTo>
                  <a:pt x="3661644" y="2096661"/>
                </a:lnTo>
                <a:lnTo>
                  <a:pt x="3644587" y="2137839"/>
                </a:lnTo>
                <a:lnTo>
                  <a:pt x="3621259" y="2175971"/>
                </a:lnTo>
                <a:lnTo>
                  <a:pt x="3591977" y="2210287"/>
                </a:lnTo>
                <a:lnTo>
                  <a:pt x="3557660" y="2239569"/>
                </a:lnTo>
                <a:lnTo>
                  <a:pt x="3519529" y="2262897"/>
                </a:lnTo>
                <a:lnTo>
                  <a:pt x="3478350" y="2279954"/>
                </a:lnTo>
                <a:lnTo>
                  <a:pt x="3434891" y="2290421"/>
                </a:lnTo>
                <a:lnTo>
                  <a:pt x="3429060" y="22908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4269183" y="4513250"/>
            <a:ext cx="3320415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500">
                <a:latin typeface="Trebuchet MS"/>
                <a:cs typeface="Trebuchet MS"/>
              </a:rPr>
              <a:t>Herramienta</a:t>
            </a:r>
            <a:r>
              <a:rPr dirty="0" sz="1500" spc="70">
                <a:latin typeface="Trebuchet MS"/>
                <a:cs typeface="Trebuchet MS"/>
              </a:rPr>
              <a:t>  </a:t>
            </a:r>
            <a:r>
              <a:rPr dirty="0" sz="1500">
                <a:latin typeface="Trebuchet MS"/>
                <a:cs typeface="Trebuchet MS"/>
              </a:rPr>
              <a:t>directamente</a:t>
            </a:r>
            <a:r>
              <a:rPr dirty="0" sz="1500" spc="70">
                <a:latin typeface="Trebuchet MS"/>
                <a:cs typeface="Trebuchet MS"/>
              </a:rPr>
              <a:t>  </a:t>
            </a:r>
            <a:r>
              <a:rPr dirty="0" sz="1500" spc="-10">
                <a:latin typeface="Trebuchet MS"/>
                <a:cs typeface="Trebuchet MS"/>
              </a:rPr>
              <a:t>utilizable </a:t>
            </a:r>
            <a:r>
              <a:rPr dirty="0" sz="1500" spc="65">
                <a:latin typeface="Trebuchet MS"/>
                <a:cs typeface="Trebuchet MS"/>
              </a:rPr>
              <a:t>por</a:t>
            </a:r>
            <a:r>
              <a:rPr dirty="0" sz="1500" spc="320">
                <a:latin typeface="Trebuchet MS"/>
                <a:cs typeface="Trebuchet MS"/>
              </a:rPr>
              <a:t> </a:t>
            </a:r>
            <a:r>
              <a:rPr dirty="0" sz="1500">
                <a:latin typeface="Trebuchet MS"/>
                <a:cs typeface="Trebuchet MS"/>
              </a:rPr>
              <a:t>el</a:t>
            </a:r>
            <a:r>
              <a:rPr dirty="0" sz="1500" spc="320">
                <a:latin typeface="Trebuchet MS"/>
                <a:cs typeface="Trebuchet MS"/>
              </a:rPr>
              <a:t> </a:t>
            </a:r>
            <a:r>
              <a:rPr dirty="0" sz="1500">
                <a:latin typeface="Trebuchet MS"/>
                <a:cs typeface="Trebuchet MS"/>
              </a:rPr>
              <a:t>INS,</a:t>
            </a:r>
            <a:r>
              <a:rPr dirty="0" sz="1500" spc="320">
                <a:latin typeface="Trebuchet MS"/>
                <a:cs typeface="Trebuchet MS"/>
              </a:rPr>
              <a:t> </a:t>
            </a:r>
            <a:r>
              <a:rPr dirty="0" sz="1500">
                <a:latin typeface="Trebuchet MS"/>
                <a:cs typeface="Trebuchet MS"/>
              </a:rPr>
              <a:t>el</a:t>
            </a:r>
            <a:r>
              <a:rPr dirty="0" sz="1500" spc="320">
                <a:latin typeface="Trebuchet MS"/>
                <a:cs typeface="Trebuchet MS"/>
              </a:rPr>
              <a:t> </a:t>
            </a:r>
            <a:r>
              <a:rPr dirty="0" sz="1500">
                <a:latin typeface="Trebuchet MS"/>
                <a:cs typeface="Trebuchet MS"/>
              </a:rPr>
              <a:t>Ministerio</a:t>
            </a:r>
            <a:r>
              <a:rPr dirty="0" sz="1500" spc="325">
                <a:latin typeface="Trebuchet MS"/>
                <a:cs typeface="Trebuchet MS"/>
              </a:rPr>
              <a:t> </a:t>
            </a:r>
            <a:r>
              <a:rPr dirty="0" sz="1500">
                <a:latin typeface="Trebuchet MS"/>
                <a:cs typeface="Trebuchet MS"/>
              </a:rPr>
              <a:t>de</a:t>
            </a:r>
            <a:r>
              <a:rPr dirty="0" sz="1500" spc="320">
                <a:latin typeface="Trebuchet MS"/>
                <a:cs typeface="Trebuchet MS"/>
              </a:rPr>
              <a:t> </a:t>
            </a:r>
            <a:r>
              <a:rPr dirty="0" sz="1500" spc="50">
                <a:latin typeface="Trebuchet MS"/>
                <a:cs typeface="Trebuchet MS"/>
              </a:rPr>
              <a:t>Salud</a:t>
            </a:r>
            <a:r>
              <a:rPr dirty="0" sz="1500" spc="320">
                <a:latin typeface="Trebuchet MS"/>
                <a:cs typeface="Trebuchet MS"/>
              </a:rPr>
              <a:t> </a:t>
            </a:r>
            <a:r>
              <a:rPr dirty="0" sz="1500" spc="-50">
                <a:latin typeface="Trebuchet MS"/>
                <a:cs typeface="Trebuchet MS"/>
              </a:rPr>
              <a:t>y </a:t>
            </a:r>
            <a:r>
              <a:rPr dirty="0" sz="1500">
                <a:latin typeface="Trebuchet MS"/>
                <a:cs typeface="Trebuchet MS"/>
              </a:rPr>
              <a:t>las</a:t>
            </a:r>
            <a:r>
              <a:rPr dirty="0" sz="1500" spc="50">
                <a:latin typeface="Trebuchet MS"/>
                <a:cs typeface="Trebuchet MS"/>
              </a:rPr>
              <a:t>  </a:t>
            </a:r>
            <a:r>
              <a:rPr dirty="0" sz="1500" spc="60">
                <a:latin typeface="Trebuchet MS"/>
                <a:cs typeface="Trebuchet MS"/>
              </a:rPr>
              <a:t>32</a:t>
            </a:r>
            <a:r>
              <a:rPr dirty="0" sz="1500" spc="50">
                <a:latin typeface="Trebuchet MS"/>
                <a:cs typeface="Trebuchet MS"/>
              </a:rPr>
              <a:t>  </a:t>
            </a:r>
            <a:r>
              <a:rPr dirty="0" sz="1500">
                <a:latin typeface="Trebuchet MS"/>
                <a:cs typeface="Trebuchet MS"/>
              </a:rPr>
              <a:t>secretarías</a:t>
            </a:r>
            <a:r>
              <a:rPr dirty="0" sz="1500" spc="50">
                <a:latin typeface="Trebuchet MS"/>
                <a:cs typeface="Trebuchet MS"/>
              </a:rPr>
              <a:t>  </a:t>
            </a:r>
            <a:r>
              <a:rPr dirty="0" sz="1500" spc="-10">
                <a:latin typeface="Trebuchet MS"/>
                <a:cs typeface="Trebuchet MS"/>
              </a:rPr>
              <a:t>departamentales </a:t>
            </a:r>
            <a:r>
              <a:rPr dirty="0" sz="1500">
                <a:latin typeface="Trebuchet MS"/>
                <a:cs typeface="Trebuchet MS"/>
              </a:rPr>
              <a:t>sin</a:t>
            </a:r>
            <a:r>
              <a:rPr dirty="0" sz="1500" spc="330">
                <a:latin typeface="Trebuchet MS"/>
                <a:cs typeface="Trebuchet MS"/>
              </a:rPr>
              <a:t>    </a:t>
            </a:r>
            <a:r>
              <a:rPr dirty="0" sz="1500">
                <a:latin typeface="Trebuchet MS"/>
                <a:cs typeface="Trebuchet MS"/>
              </a:rPr>
              <a:t>desarrollo</a:t>
            </a:r>
            <a:r>
              <a:rPr dirty="0" sz="1500" spc="335">
                <a:latin typeface="Trebuchet MS"/>
                <a:cs typeface="Trebuchet MS"/>
              </a:rPr>
              <a:t>    </a:t>
            </a:r>
            <a:r>
              <a:rPr dirty="0" sz="1500">
                <a:latin typeface="Trebuchet MS"/>
                <a:cs typeface="Trebuchet MS"/>
              </a:rPr>
              <a:t>adicional;</a:t>
            </a:r>
            <a:r>
              <a:rPr dirty="0" sz="1500" spc="330">
                <a:latin typeface="Trebuchet MS"/>
                <a:cs typeface="Trebuchet MS"/>
              </a:rPr>
              <a:t>    </a:t>
            </a:r>
            <a:r>
              <a:rPr dirty="0" sz="1500" spc="-25">
                <a:latin typeface="Trebuchet MS"/>
                <a:cs typeface="Trebuchet MS"/>
              </a:rPr>
              <a:t>el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269183" y="5580050"/>
            <a:ext cx="3320415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500" spc="65">
                <a:latin typeface="Trebuchet MS"/>
                <a:cs typeface="Trebuchet MS"/>
              </a:rPr>
              <a:t>dashboard</a:t>
            </a:r>
            <a:r>
              <a:rPr dirty="0" sz="1500" spc="480">
                <a:latin typeface="Trebuchet MS"/>
                <a:cs typeface="Trebuchet MS"/>
              </a:rPr>
              <a:t>   </a:t>
            </a:r>
            <a:r>
              <a:rPr dirty="0" sz="1500">
                <a:latin typeface="Trebuchet MS"/>
                <a:cs typeface="Trebuchet MS"/>
              </a:rPr>
              <a:t>Power</a:t>
            </a:r>
            <a:r>
              <a:rPr dirty="0" sz="1500" spc="480">
                <a:latin typeface="Trebuchet MS"/>
                <a:cs typeface="Trebuchet MS"/>
              </a:rPr>
              <a:t>   </a:t>
            </a:r>
            <a:r>
              <a:rPr dirty="0" sz="1500" spc="55">
                <a:latin typeface="Trebuchet MS"/>
                <a:cs typeface="Trebuchet MS"/>
              </a:rPr>
              <a:t>BI</a:t>
            </a:r>
            <a:r>
              <a:rPr dirty="0" sz="1500" spc="480">
                <a:latin typeface="Trebuchet MS"/>
                <a:cs typeface="Trebuchet MS"/>
              </a:rPr>
              <a:t>   </a:t>
            </a:r>
            <a:r>
              <a:rPr dirty="0" sz="1500" spc="45">
                <a:latin typeface="Trebuchet MS"/>
                <a:cs typeface="Trebuchet MS"/>
              </a:rPr>
              <a:t>puede </a:t>
            </a:r>
            <a:r>
              <a:rPr dirty="0" sz="1500">
                <a:latin typeface="Trebuchet MS"/>
                <a:cs typeface="Trebuchet MS"/>
              </a:rPr>
              <a:t>publicarse</a:t>
            </a:r>
            <a:r>
              <a:rPr dirty="0" sz="1500" spc="395">
                <a:latin typeface="Trebuchet MS"/>
                <a:cs typeface="Trebuchet MS"/>
              </a:rPr>
              <a:t> </a:t>
            </a:r>
            <a:r>
              <a:rPr dirty="0" sz="1500" spc="55">
                <a:latin typeface="Trebuchet MS"/>
                <a:cs typeface="Trebuchet MS"/>
              </a:rPr>
              <a:t>en</a:t>
            </a:r>
            <a:r>
              <a:rPr dirty="0" sz="1500" spc="395">
                <a:latin typeface="Trebuchet MS"/>
                <a:cs typeface="Trebuchet MS"/>
              </a:rPr>
              <a:t> </a:t>
            </a:r>
            <a:r>
              <a:rPr dirty="0" sz="1500">
                <a:latin typeface="Trebuchet MS"/>
                <a:cs typeface="Trebuchet MS"/>
              </a:rPr>
              <a:t>Power</a:t>
            </a:r>
            <a:r>
              <a:rPr dirty="0" sz="1500" spc="395">
                <a:latin typeface="Trebuchet MS"/>
                <a:cs typeface="Trebuchet MS"/>
              </a:rPr>
              <a:t> </a:t>
            </a:r>
            <a:r>
              <a:rPr dirty="0" sz="1500" spc="55">
                <a:latin typeface="Trebuchet MS"/>
                <a:cs typeface="Trebuchet MS"/>
              </a:rPr>
              <a:t>BI</a:t>
            </a:r>
            <a:r>
              <a:rPr dirty="0" sz="1500" spc="395">
                <a:latin typeface="Trebuchet MS"/>
                <a:cs typeface="Trebuchet MS"/>
              </a:rPr>
              <a:t> </a:t>
            </a:r>
            <a:r>
              <a:rPr dirty="0" sz="1500">
                <a:latin typeface="Trebuchet MS"/>
                <a:cs typeface="Trebuchet MS"/>
              </a:rPr>
              <a:t>Service</a:t>
            </a:r>
            <a:r>
              <a:rPr dirty="0" sz="1500" spc="400">
                <a:latin typeface="Trebuchet MS"/>
                <a:cs typeface="Trebuchet MS"/>
              </a:rPr>
              <a:t> </a:t>
            </a:r>
            <a:r>
              <a:rPr dirty="0" sz="1500" spc="30">
                <a:latin typeface="Trebuchet MS"/>
                <a:cs typeface="Trebuchet MS"/>
              </a:rPr>
              <a:t>con </a:t>
            </a:r>
            <a:r>
              <a:rPr dirty="0" sz="1500">
                <a:latin typeface="Trebuchet MS"/>
                <a:cs typeface="Trebuchet MS"/>
              </a:rPr>
              <a:t>credenciales</a:t>
            </a:r>
            <a:r>
              <a:rPr dirty="0" sz="1500" spc="185">
                <a:latin typeface="Trebuchet MS"/>
                <a:cs typeface="Trebuchet MS"/>
              </a:rPr>
              <a:t> </a:t>
            </a:r>
            <a:r>
              <a:rPr dirty="0" sz="1500" spc="-10">
                <a:latin typeface="Trebuchet MS"/>
                <a:cs typeface="Trebuchet MS"/>
              </a:rPr>
              <a:t>institucionales.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269878" y="6943835"/>
            <a:ext cx="3665220" cy="1494155"/>
          </a:xfrm>
          <a:custGeom>
            <a:avLst/>
            <a:gdLst/>
            <a:ahLst/>
            <a:cxnLst/>
            <a:rect l="l" t="t" r="r" b="b"/>
            <a:pathLst>
              <a:path w="3665219" h="1494154">
                <a:moveTo>
                  <a:pt x="3379888" y="1493881"/>
                </a:moveTo>
                <a:lnTo>
                  <a:pt x="285750" y="1493881"/>
                </a:lnTo>
                <a:lnTo>
                  <a:pt x="240779" y="1490321"/>
                </a:lnTo>
                <a:lnTo>
                  <a:pt x="197320" y="1479854"/>
                </a:lnTo>
                <a:lnTo>
                  <a:pt x="156142" y="1462797"/>
                </a:lnTo>
                <a:lnTo>
                  <a:pt x="118010" y="1439469"/>
                </a:lnTo>
                <a:lnTo>
                  <a:pt x="83694" y="1410187"/>
                </a:lnTo>
                <a:lnTo>
                  <a:pt x="54412" y="1375870"/>
                </a:lnTo>
                <a:lnTo>
                  <a:pt x="31083" y="1337739"/>
                </a:lnTo>
                <a:lnTo>
                  <a:pt x="14026" y="1296561"/>
                </a:lnTo>
                <a:lnTo>
                  <a:pt x="3559" y="1253102"/>
                </a:lnTo>
                <a:lnTo>
                  <a:pt x="0" y="1208131"/>
                </a:lnTo>
                <a:lnTo>
                  <a:pt x="0" y="285749"/>
                </a:lnTo>
                <a:lnTo>
                  <a:pt x="3559" y="240779"/>
                </a:lnTo>
                <a:lnTo>
                  <a:pt x="14026" y="197320"/>
                </a:lnTo>
                <a:lnTo>
                  <a:pt x="31083" y="156141"/>
                </a:lnTo>
                <a:lnTo>
                  <a:pt x="54412" y="118010"/>
                </a:lnTo>
                <a:lnTo>
                  <a:pt x="83694" y="83694"/>
                </a:lnTo>
                <a:lnTo>
                  <a:pt x="118010" y="54412"/>
                </a:lnTo>
                <a:lnTo>
                  <a:pt x="156142" y="31083"/>
                </a:lnTo>
                <a:lnTo>
                  <a:pt x="197320" y="14026"/>
                </a:lnTo>
                <a:lnTo>
                  <a:pt x="240779" y="3559"/>
                </a:lnTo>
                <a:lnTo>
                  <a:pt x="285750" y="0"/>
                </a:lnTo>
                <a:lnTo>
                  <a:pt x="3379888" y="0"/>
                </a:lnTo>
                <a:lnTo>
                  <a:pt x="3424860" y="3559"/>
                </a:lnTo>
                <a:lnTo>
                  <a:pt x="3468318" y="14026"/>
                </a:lnTo>
                <a:lnTo>
                  <a:pt x="3509497" y="31083"/>
                </a:lnTo>
                <a:lnTo>
                  <a:pt x="3547628" y="54412"/>
                </a:lnTo>
                <a:lnTo>
                  <a:pt x="3581943" y="83694"/>
                </a:lnTo>
                <a:lnTo>
                  <a:pt x="3611226" y="118010"/>
                </a:lnTo>
                <a:lnTo>
                  <a:pt x="3634555" y="156141"/>
                </a:lnTo>
                <a:lnTo>
                  <a:pt x="3651611" y="197320"/>
                </a:lnTo>
                <a:lnTo>
                  <a:pt x="3662079" y="240779"/>
                </a:lnTo>
                <a:lnTo>
                  <a:pt x="3664677" y="273602"/>
                </a:lnTo>
                <a:lnTo>
                  <a:pt x="3664677" y="1220279"/>
                </a:lnTo>
                <a:lnTo>
                  <a:pt x="3651611" y="1296561"/>
                </a:lnTo>
                <a:lnTo>
                  <a:pt x="3634555" y="1337739"/>
                </a:lnTo>
                <a:lnTo>
                  <a:pt x="3611226" y="1375870"/>
                </a:lnTo>
                <a:lnTo>
                  <a:pt x="3581943" y="1410187"/>
                </a:lnTo>
                <a:lnTo>
                  <a:pt x="3547628" y="1439469"/>
                </a:lnTo>
                <a:lnTo>
                  <a:pt x="3509497" y="1462797"/>
                </a:lnTo>
                <a:lnTo>
                  <a:pt x="3468318" y="1479854"/>
                </a:lnTo>
                <a:lnTo>
                  <a:pt x="3424860" y="1490321"/>
                </a:lnTo>
                <a:lnTo>
                  <a:pt x="3379888" y="1493881"/>
                </a:lnTo>
                <a:close/>
              </a:path>
            </a:pathLst>
          </a:custGeom>
          <a:solidFill>
            <a:srgbClr val="F4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1447678" y="7245459"/>
            <a:ext cx="3310254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500" spc="50">
                <a:solidFill>
                  <a:srgbClr val="F4E7E7"/>
                </a:solidFill>
                <a:latin typeface="Trebuchet MS"/>
                <a:cs typeface="Trebuchet MS"/>
              </a:rPr>
              <a:t>Costo</a:t>
            </a:r>
            <a:r>
              <a:rPr dirty="0" sz="1500" spc="60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de</a:t>
            </a:r>
            <a:r>
              <a:rPr dirty="0" sz="1500" spc="60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stack</a:t>
            </a:r>
            <a:r>
              <a:rPr dirty="0" sz="1500" spc="65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tecnológico:</a:t>
            </a:r>
            <a:r>
              <a:rPr dirty="0" sz="1500" spc="60">
                <a:solidFill>
                  <a:srgbClr val="F4E7E7"/>
                </a:solidFill>
                <a:latin typeface="Trebuchet MS"/>
                <a:cs typeface="Trebuchet MS"/>
              </a:rPr>
              <a:t>  $0</a:t>
            </a:r>
            <a:r>
              <a:rPr dirty="0" sz="1500" spc="60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1500" spc="345">
                <a:solidFill>
                  <a:srgbClr val="F4E7E7"/>
                </a:solidFill>
                <a:latin typeface="Trebuchet MS"/>
                <a:cs typeface="Trebuchet MS"/>
              </a:rPr>
              <a:t>—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reduce</a:t>
            </a:r>
            <a:r>
              <a:rPr dirty="0" sz="1500" spc="445">
                <a:solidFill>
                  <a:srgbClr val="F4E7E7"/>
                </a:solidFill>
                <a:latin typeface="Trebuchet MS"/>
                <a:cs typeface="Trebuchet MS"/>
              </a:rPr>
              <a:t>  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cualquier</a:t>
            </a:r>
            <a:r>
              <a:rPr dirty="0" sz="1500" spc="450">
                <a:solidFill>
                  <a:srgbClr val="F4E7E7"/>
                </a:solidFill>
                <a:latin typeface="Trebuchet MS"/>
                <a:cs typeface="Trebuchet MS"/>
              </a:rPr>
              <a:t>   </a:t>
            </a:r>
            <a:r>
              <a:rPr dirty="0" sz="1500">
                <a:solidFill>
                  <a:srgbClr val="F4E7E7"/>
                </a:solidFill>
                <a:latin typeface="Trebuchet MS"/>
                <a:cs typeface="Trebuchet MS"/>
              </a:rPr>
              <a:t>barrera</a:t>
            </a:r>
            <a:r>
              <a:rPr dirty="0" sz="1500" spc="450">
                <a:solidFill>
                  <a:srgbClr val="F4E7E7"/>
                </a:solidFill>
                <a:latin typeface="Trebuchet MS"/>
                <a:cs typeface="Trebuchet MS"/>
              </a:rPr>
              <a:t>   </a:t>
            </a:r>
            <a:r>
              <a:rPr dirty="0" sz="1500" spc="-25">
                <a:solidFill>
                  <a:srgbClr val="F4E7E7"/>
                </a:solidFill>
                <a:latin typeface="Trebuchet MS"/>
                <a:cs typeface="Trebuchet MS"/>
              </a:rPr>
              <a:t>de </a:t>
            </a:r>
            <a:r>
              <a:rPr dirty="0" sz="1500" spc="50">
                <a:solidFill>
                  <a:srgbClr val="F4E7E7"/>
                </a:solidFill>
                <a:latin typeface="Trebuchet MS"/>
                <a:cs typeface="Trebuchet MS"/>
              </a:rPr>
              <a:t>adopción</a:t>
            </a:r>
            <a:r>
              <a:rPr dirty="0" sz="1500" spc="-4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F4E7E7"/>
                </a:solidFill>
                <a:latin typeface="Trebuchet MS"/>
                <a:cs typeface="Trebuchet MS"/>
              </a:rPr>
              <a:t>institucional.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863604" y="2555220"/>
            <a:ext cx="3902075" cy="2558415"/>
          </a:xfrm>
          <a:custGeom>
            <a:avLst/>
            <a:gdLst/>
            <a:ahLst/>
            <a:cxnLst/>
            <a:rect l="l" t="t" r="r" b="b"/>
            <a:pathLst>
              <a:path w="3902075" h="2558415">
                <a:moveTo>
                  <a:pt x="3646442" y="2558256"/>
                </a:moveTo>
                <a:lnTo>
                  <a:pt x="255113" y="2558256"/>
                </a:lnTo>
                <a:lnTo>
                  <a:pt x="240779" y="2557121"/>
                </a:lnTo>
                <a:lnTo>
                  <a:pt x="197320" y="2546654"/>
                </a:lnTo>
                <a:lnTo>
                  <a:pt x="156142" y="2529597"/>
                </a:lnTo>
                <a:lnTo>
                  <a:pt x="118010" y="2506269"/>
                </a:lnTo>
                <a:lnTo>
                  <a:pt x="83694" y="2476987"/>
                </a:lnTo>
                <a:lnTo>
                  <a:pt x="54412" y="2442670"/>
                </a:lnTo>
                <a:lnTo>
                  <a:pt x="31083" y="2404539"/>
                </a:lnTo>
                <a:lnTo>
                  <a:pt x="14027" y="2363361"/>
                </a:lnTo>
                <a:lnTo>
                  <a:pt x="3559" y="2319902"/>
                </a:lnTo>
                <a:lnTo>
                  <a:pt x="0" y="2274931"/>
                </a:lnTo>
                <a:lnTo>
                  <a:pt x="0" y="285750"/>
                </a:lnTo>
                <a:lnTo>
                  <a:pt x="3559" y="240779"/>
                </a:lnTo>
                <a:lnTo>
                  <a:pt x="14027" y="197320"/>
                </a:lnTo>
                <a:lnTo>
                  <a:pt x="31083" y="156141"/>
                </a:lnTo>
                <a:lnTo>
                  <a:pt x="54412" y="118010"/>
                </a:lnTo>
                <a:lnTo>
                  <a:pt x="83694" y="83694"/>
                </a:lnTo>
                <a:lnTo>
                  <a:pt x="118010" y="54412"/>
                </a:lnTo>
                <a:lnTo>
                  <a:pt x="156142" y="31083"/>
                </a:lnTo>
                <a:lnTo>
                  <a:pt x="197320" y="14026"/>
                </a:lnTo>
                <a:lnTo>
                  <a:pt x="240779" y="3559"/>
                </a:lnTo>
                <a:lnTo>
                  <a:pt x="285750" y="0"/>
                </a:lnTo>
                <a:lnTo>
                  <a:pt x="3615805" y="0"/>
                </a:lnTo>
                <a:lnTo>
                  <a:pt x="3660776" y="3559"/>
                </a:lnTo>
                <a:lnTo>
                  <a:pt x="3704234" y="14026"/>
                </a:lnTo>
                <a:lnTo>
                  <a:pt x="3745413" y="31083"/>
                </a:lnTo>
                <a:lnTo>
                  <a:pt x="3783544" y="54412"/>
                </a:lnTo>
                <a:lnTo>
                  <a:pt x="3817860" y="83694"/>
                </a:lnTo>
                <a:lnTo>
                  <a:pt x="3847142" y="118010"/>
                </a:lnTo>
                <a:lnTo>
                  <a:pt x="3870471" y="156141"/>
                </a:lnTo>
                <a:lnTo>
                  <a:pt x="3887528" y="197320"/>
                </a:lnTo>
                <a:lnTo>
                  <a:pt x="3897995" y="240779"/>
                </a:lnTo>
                <a:lnTo>
                  <a:pt x="3901554" y="285750"/>
                </a:lnTo>
                <a:lnTo>
                  <a:pt x="3901554" y="2274931"/>
                </a:lnTo>
                <a:lnTo>
                  <a:pt x="3897995" y="2319902"/>
                </a:lnTo>
                <a:lnTo>
                  <a:pt x="3887528" y="2363361"/>
                </a:lnTo>
                <a:lnTo>
                  <a:pt x="3870471" y="2404539"/>
                </a:lnTo>
                <a:lnTo>
                  <a:pt x="3847142" y="2442670"/>
                </a:lnTo>
                <a:lnTo>
                  <a:pt x="3817860" y="2476987"/>
                </a:lnTo>
                <a:lnTo>
                  <a:pt x="3783544" y="2506269"/>
                </a:lnTo>
                <a:lnTo>
                  <a:pt x="3745413" y="2529597"/>
                </a:lnTo>
                <a:lnTo>
                  <a:pt x="3704234" y="2546654"/>
                </a:lnTo>
                <a:lnTo>
                  <a:pt x="3660776" y="2557121"/>
                </a:lnTo>
                <a:lnTo>
                  <a:pt x="3646442" y="2558256"/>
                </a:lnTo>
                <a:close/>
              </a:path>
            </a:pathLst>
          </a:custGeom>
          <a:solidFill>
            <a:srgbClr val="AC2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0041403" y="2723495"/>
            <a:ext cx="354647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  <a:tabLst>
                <a:tab pos="919480" algn="l"/>
                <a:tab pos="1049655" algn="l"/>
                <a:tab pos="1351280" algn="l"/>
                <a:tab pos="2295525" algn="l"/>
                <a:tab pos="2743200" algn="l"/>
                <a:tab pos="3067050" algn="l"/>
              </a:tabLst>
            </a:pP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Escalable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	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horizontalmente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500" spc="-5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otros eventos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500" spc="-2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SIVIGILA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(leptospirosis,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41403" y="3294995"/>
            <a:ext cx="35464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2395" algn="l"/>
                <a:tab pos="2278380" algn="l"/>
                <a:tab pos="2574925" algn="l"/>
              </a:tabLst>
            </a:pP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leishmaniasis,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hepatitis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500" spc="-25">
                <a:solidFill>
                  <a:srgbClr val="FFFFFF"/>
                </a:solidFill>
                <a:latin typeface="Trebuchet MS"/>
                <a:cs typeface="Trebuchet MS"/>
              </a:rPr>
              <a:t>A,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	COVID-</a:t>
            </a:r>
            <a:r>
              <a:rPr dirty="0" sz="1500" spc="-20">
                <a:solidFill>
                  <a:srgbClr val="FFFFFF"/>
                </a:solidFill>
                <a:latin typeface="Trebuchet MS"/>
                <a:cs typeface="Trebuchet MS"/>
              </a:rPr>
              <a:t>19),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041403" y="3523595"/>
            <a:ext cx="354647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verticalmente</a:t>
            </a:r>
            <a:r>
              <a:rPr dirty="0" sz="1500" spc="1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al</a:t>
            </a:r>
            <a:r>
              <a:rPr dirty="0" sz="1500" spc="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Trebuchet MS"/>
                <a:cs typeface="Trebuchet MS"/>
              </a:rPr>
              <a:t>volumen</a:t>
            </a:r>
            <a:r>
              <a:rPr dirty="0" sz="1500" spc="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completo</a:t>
            </a:r>
            <a:r>
              <a:rPr dirty="0" sz="1500" spc="1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Trebuchet MS"/>
                <a:cs typeface="Trebuchet MS"/>
              </a:rPr>
              <a:t>del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dirty="0" sz="15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lake</a:t>
            </a:r>
            <a:r>
              <a:rPr dirty="0" sz="15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dirty="0" sz="15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Trebuchet MS"/>
                <a:cs typeface="Trebuchet MS"/>
              </a:rPr>
              <a:t>INS</a:t>
            </a:r>
            <a:r>
              <a:rPr dirty="0" sz="15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(arquitectura</a:t>
            </a:r>
            <a:r>
              <a:rPr dirty="0" sz="15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Spark),</a:t>
            </a:r>
            <a:r>
              <a:rPr dirty="0" sz="15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041403" y="4056995"/>
            <a:ext cx="3546475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regionalmente</a:t>
            </a:r>
            <a:r>
              <a:rPr dirty="0" sz="1500" spc="42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500" spc="425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otros</a:t>
            </a:r>
            <a:r>
              <a:rPr dirty="0" sz="1500" spc="425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países</a:t>
            </a:r>
            <a:r>
              <a:rPr dirty="0" sz="1500" spc="425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dirty="0" sz="1500" spc="30">
                <a:solidFill>
                  <a:srgbClr val="FFFFFF"/>
                </a:solidFill>
                <a:latin typeface="Trebuchet MS"/>
                <a:cs typeface="Trebuchet MS"/>
              </a:rPr>
              <a:t>con </a:t>
            </a:r>
            <a:r>
              <a:rPr dirty="0" sz="1500" spc="50">
                <a:solidFill>
                  <a:srgbClr val="FFFFFF"/>
                </a:solidFill>
                <a:latin typeface="Trebuchet MS"/>
                <a:cs typeface="Trebuchet MS"/>
              </a:rPr>
              <a:t>sistemas</a:t>
            </a:r>
            <a:r>
              <a:rPr dirty="0" sz="1500" spc="4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500" spc="4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vigilancia</a:t>
            </a:r>
            <a:r>
              <a:rPr dirty="0" sz="1500" spc="4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similares</a:t>
            </a:r>
            <a:r>
              <a:rPr dirty="0" sz="1500" spc="4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(Perú,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Ecuador,</a:t>
            </a:r>
            <a:r>
              <a:rPr dirty="0" sz="1500" spc="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Brasil).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940864" y="5543550"/>
            <a:ext cx="3307715" cy="1227455"/>
          </a:xfrm>
          <a:custGeom>
            <a:avLst/>
            <a:gdLst/>
            <a:ahLst/>
            <a:cxnLst/>
            <a:rect l="l" t="t" r="r" b="b"/>
            <a:pathLst>
              <a:path w="3307715" h="1227454">
                <a:moveTo>
                  <a:pt x="3022939" y="1227181"/>
                </a:moveTo>
                <a:lnTo>
                  <a:pt x="285750" y="1227181"/>
                </a:lnTo>
                <a:lnTo>
                  <a:pt x="240779" y="1223622"/>
                </a:lnTo>
                <a:lnTo>
                  <a:pt x="197320" y="1213154"/>
                </a:lnTo>
                <a:lnTo>
                  <a:pt x="156142" y="1196097"/>
                </a:lnTo>
                <a:lnTo>
                  <a:pt x="118010" y="1172769"/>
                </a:lnTo>
                <a:lnTo>
                  <a:pt x="83694" y="1143487"/>
                </a:lnTo>
                <a:lnTo>
                  <a:pt x="54412" y="1109171"/>
                </a:lnTo>
                <a:lnTo>
                  <a:pt x="31083" y="1071039"/>
                </a:lnTo>
                <a:lnTo>
                  <a:pt x="14026" y="1029861"/>
                </a:lnTo>
                <a:lnTo>
                  <a:pt x="3559" y="986402"/>
                </a:lnTo>
                <a:lnTo>
                  <a:pt x="0" y="941431"/>
                </a:lnTo>
                <a:lnTo>
                  <a:pt x="0" y="285750"/>
                </a:lnTo>
                <a:lnTo>
                  <a:pt x="3559" y="240779"/>
                </a:lnTo>
                <a:lnTo>
                  <a:pt x="14026" y="197320"/>
                </a:lnTo>
                <a:lnTo>
                  <a:pt x="31083" y="156142"/>
                </a:lnTo>
                <a:lnTo>
                  <a:pt x="54412" y="118010"/>
                </a:lnTo>
                <a:lnTo>
                  <a:pt x="83694" y="83694"/>
                </a:lnTo>
                <a:lnTo>
                  <a:pt x="118010" y="54412"/>
                </a:lnTo>
                <a:lnTo>
                  <a:pt x="156142" y="31083"/>
                </a:lnTo>
                <a:lnTo>
                  <a:pt x="197320" y="14026"/>
                </a:lnTo>
                <a:lnTo>
                  <a:pt x="240779" y="3559"/>
                </a:lnTo>
                <a:lnTo>
                  <a:pt x="285750" y="0"/>
                </a:lnTo>
                <a:lnTo>
                  <a:pt x="3022939" y="0"/>
                </a:lnTo>
                <a:lnTo>
                  <a:pt x="3067910" y="3559"/>
                </a:lnTo>
                <a:lnTo>
                  <a:pt x="3111368" y="14026"/>
                </a:lnTo>
                <a:lnTo>
                  <a:pt x="3152547" y="31083"/>
                </a:lnTo>
                <a:lnTo>
                  <a:pt x="3190678" y="54412"/>
                </a:lnTo>
                <a:lnTo>
                  <a:pt x="3224994" y="83694"/>
                </a:lnTo>
                <a:lnTo>
                  <a:pt x="3254276" y="118010"/>
                </a:lnTo>
                <a:lnTo>
                  <a:pt x="3277605" y="156142"/>
                </a:lnTo>
                <a:lnTo>
                  <a:pt x="3294662" y="197320"/>
                </a:lnTo>
                <a:lnTo>
                  <a:pt x="3305129" y="240779"/>
                </a:lnTo>
                <a:lnTo>
                  <a:pt x="3307637" y="272457"/>
                </a:lnTo>
                <a:lnTo>
                  <a:pt x="3307637" y="954724"/>
                </a:lnTo>
                <a:lnTo>
                  <a:pt x="3294662" y="1029861"/>
                </a:lnTo>
                <a:lnTo>
                  <a:pt x="3277605" y="1071039"/>
                </a:lnTo>
                <a:lnTo>
                  <a:pt x="3254276" y="1109171"/>
                </a:lnTo>
                <a:lnTo>
                  <a:pt x="3224994" y="1143487"/>
                </a:lnTo>
                <a:lnTo>
                  <a:pt x="3190678" y="1172769"/>
                </a:lnTo>
                <a:lnTo>
                  <a:pt x="3152547" y="1196097"/>
                </a:lnTo>
                <a:lnTo>
                  <a:pt x="3111368" y="1213154"/>
                </a:lnTo>
                <a:lnTo>
                  <a:pt x="3067910" y="1223622"/>
                </a:lnTo>
                <a:lnTo>
                  <a:pt x="3022939" y="12271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118663" y="5711824"/>
            <a:ext cx="2953385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500">
                <a:latin typeface="Arial Black"/>
                <a:cs typeface="Arial Black"/>
              </a:rPr>
              <a:t>Ahorro</a:t>
            </a:r>
            <a:r>
              <a:rPr dirty="0" sz="1500" spc="-70">
                <a:latin typeface="Arial Black"/>
                <a:cs typeface="Arial Black"/>
              </a:rPr>
              <a:t> </a:t>
            </a:r>
            <a:r>
              <a:rPr dirty="0" sz="1500" spc="-50">
                <a:latin typeface="Arial Black"/>
                <a:cs typeface="Arial Black"/>
              </a:rPr>
              <a:t>hospitalario</a:t>
            </a:r>
            <a:r>
              <a:rPr dirty="0" sz="1500" spc="-65">
                <a:latin typeface="Arial Black"/>
                <a:cs typeface="Arial Black"/>
              </a:rPr>
              <a:t> </a:t>
            </a:r>
            <a:r>
              <a:rPr dirty="0" sz="1500" spc="-70">
                <a:latin typeface="Arial Black"/>
                <a:cs typeface="Arial Black"/>
              </a:rPr>
              <a:t>estimado: </a:t>
            </a:r>
            <a:r>
              <a:rPr dirty="0" sz="1500" spc="85">
                <a:latin typeface="Trebuchet MS"/>
                <a:cs typeface="Trebuchet MS"/>
              </a:rPr>
              <a:t>más</a:t>
            </a:r>
            <a:r>
              <a:rPr dirty="0" sz="1500" spc="405">
                <a:latin typeface="Trebuchet MS"/>
                <a:cs typeface="Trebuchet MS"/>
              </a:rPr>
              <a:t> </a:t>
            </a:r>
            <a:r>
              <a:rPr dirty="0" sz="1500">
                <a:latin typeface="Trebuchet MS"/>
                <a:cs typeface="Trebuchet MS"/>
              </a:rPr>
              <a:t>de</a:t>
            </a:r>
            <a:r>
              <a:rPr dirty="0" sz="1500" spc="409">
                <a:latin typeface="Trebuchet MS"/>
                <a:cs typeface="Trebuchet MS"/>
              </a:rPr>
              <a:t> </a:t>
            </a:r>
            <a:r>
              <a:rPr dirty="0" sz="1500" spc="80">
                <a:latin typeface="Trebuchet MS"/>
                <a:cs typeface="Trebuchet MS"/>
              </a:rPr>
              <a:t>COP</a:t>
            </a:r>
            <a:r>
              <a:rPr dirty="0" sz="1500" spc="409">
                <a:latin typeface="Trebuchet MS"/>
                <a:cs typeface="Trebuchet MS"/>
              </a:rPr>
              <a:t> </a:t>
            </a:r>
            <a:r>
              <a:rPr dirty="0" sz="1500">
                <a:latin typeface="Trebuchet MS"/>
                <a:cs typeface="Trebuchet MS"/>
              </a:rPr>
              <a:t>$125.000</a:t>
            </a:r>
            <a:r>
              <a:rPr dirty="0" sz="1500" spc="409">
                <a:latin typeface="Trebuchet MS"/>
                <a:cs typeface="Trebuchet MS"/>
              </a:rPr>
              <a:t> </a:t>
            </a:r>
            <a:r>
              <a:rPr dirty="0" sz="1500" spc="-10">
                <a:latin typeface="Trebuchet MS"/>
                <a:cs typeface="Trebuchet MS"/>
              </a:rPr>
              <a:t>millones anuales.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8842" y="3320979"/>
            <a:ext cx="417893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90" b="1">
                <a:solidFill>
                  <a:srgbClr val="F4E7E7"/>
                </a:solidFill>
                <a:latin typeface="Arial"/>
                <a:cs typeface="Arial"/>
              </a:rPr>
              <a:t>REPOSITORIO</a:t>
            </a:r>
            <a:r>
              <a:rPr dirty="0" sz="2800" spc="-25" b="1">
                <a:solidFill>
                  <a:srgbClr val="F4E7E7"/>
                </a:solidFill>
                <a:latin typeface="Arial"/>
                <a:cs typeface="Arial"/>
              </a:rPr>
              <a:t> </a:t>
            </a:r>
            <a:r>
              <a:rPr dirty="0" sz="2800" spc="80" b="1">
                <a:solidFill>
                  <a:srgbClr val="F4E7E7"/>
                </a:solidFill>
                <a:latin typeface="Arial"/>
                <a:cs typeface="Arial"/>
              </a:rPr>
              <a:t>GITHUB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68232" y="6170633"/>
            <a:ext cx="4755515" cy="963294"/>
          </a:xfrm>
          <a:custGeom>
            <a:avLst/>
            <a:gdLst/>
            <a:ahLst/>
            <a:cxnLst/>
            <a:rect l="l" t="t" r="r" b="b"/>
            <a:pathLst>
              <a:path w="4755515" h="963295">
                <a:moveTo>
                  <a:pt x="4279883" y="963066"/>
                </a:moveTo>
                <a:lnTo>
                  <a:pt x="476250" y="963066"/>
                </a:lnTo>
                <a:lnTo>
                  <a:pt x="427556" y="960607"/>
                </a:lnTo>
                <a:lnTo>
                  <a:pt x="380269" y="953390"/>
                </a:lnTo>
                <a:lnTo>
                  <a:pt x="334627" y="941655"/>
                </a:lnTo>
                <a:lnTo>
                  <a:pt x="290872" y="925640"/>
                </a:lnTo>
                <a:lnTo>
                  <a:pt x="249241" y="905585"/>
                </a:lnTo>
                <a:lnTo>
                  <a:pt x="209974" y="881730"/>
                </a:lnTo>
                <a:lnTo>
                  <a:pt x="173310" y="854314"/>
                </a:lnTo>
                <a:lnTo>
                  <a:pt x="139490" y="823576"/>
                </a:lnTo>
                <a:lnTo>
                  <a:pt x="108752" y="789755"/>
                </a:lnTo>
                <a:lnTo>
                  <a:pt x="81336" y="753092"/>
                </a:lnTo>
                <a:lnTo>
                  <a:pt x="57480" y="713825"/>
                </a:lnTo>
                <a:lnTo>
                  <a:pt x="37426" y="672194"/>
                </a:lnTo>
                <a:lnTo>
                  <a:pt x="21411" y="628438"/>
                </a:lnTo>
                <a:lnTo>
                  <a:pt x="9675" y="582797"/>
                </a:lnTo>
                <a:lnTo>
                  <a:pt x="2458" y="535510"/>
                </a:lnTo>
                <a:lnTo>
                  <a:pt x="0" y="486816"/>
                </a:lnTo>
                <a:lnTo>
                  <a:pt x="0" y="476249"/>
                </a:lnTo>
                <a:lnTo>
                  <a:pt x="2458" y="427555"/>
                </a:lnTo>
                <a:lnTo>
                  <a:pt x="9675" y="380268"/>
                </a:lnTo>
                <a:lnTo>
                  <a:pt x="21411" y="334627"/>
                </a:lnTo>
                <a:lnTo>
                  <a:pt x="37426" y="290871"/>
                </a:lnTo>
                <a:lnTo>
                  <a:pt x="57480" y="249240"/>
                </a:lnTo>
                <a:lnTo>
                  <a:pt x="81336" y="209974"/>
                </a:lnTo>
                <a:lnTo>
                  <a:pt x="108752" y="173310"/>
                </a:lnTo>
                <a:lnTo>
                  <a:pt x="139490" y="139490"/>
                </a:lnTo>
                <a:lnTo>
                  <a:pt x="173310" y="108752"/>
                </a:lnTo>
                <a:lnTo>
                  <a:pt x="209974" y="81336"/>
                </a:lnTo>
                <a:lnTo>
                  <a:pt x="249241" y="57480"/>
                </a:lnTo>
                <a:lnTo>
                  <a:pt x="290872" y="37426"/>
                </a:lnTo>
                <a:lnTo>
                  <a:pt x="334627" y="21411"/>
                </a:lnTo>
                <a:lnTo>
                  <a:pt x="380269" y="9675"/>
                </a:lnTo>
                <a:lnTo>
                  <a:pt x="427556" y="2459"/>
                </a:lnTo>
                <a:lnTo>
                  <a:pt x="476250" y="0"/>
                </a:lnTo>
                <a:lnTo>
                  <a:pt x="4279883" y="0"/>
                </a:lnTo>
                <a:lnTo>
                  <a:pt x="4328576" y="2459"/>
                </a:lnTo>
                <a:lnTo>
                  <a:pt x="4375863" y="9675"/>
                </a:lnTo>
                <a:lnTo>
                  <a:pt x="4421505" y="21411"/>
                </a:lnTo>
                <a:lnTo>
                  <a:pt x="4465260" y="37426"/>
                </a:lnTo>
                <a:lnTo>
                  <a:pt x="4506891" y="57480"/>
                </a:lnTo>
                <a:lnTo>
                  <a:pt x="4546158" y="81336"/>
                </a:lnTo>
                <a:lnTo>
                  <a:pt x="4582822" y="108752"/>
                </a:lnTo>
                <a:lnTo>
                  <a:pt x="4616642" y="139490"/>
                </a:lnTo>
                <a:lnTo>
                  <a:pt x="4647380" y="173310"/>
                </a:lnTo>
                <a:lnTo>
                  <a:pt x="4674796" y="209974"/>
                </a:lnTo>
                <a:lnTo>
                  <a:pt x="4698652" y="249240"/>
                </a:lnTo>
                <a:lnTo>
                  <a:pt x="4718706" y="290871"/>
                </a:lnTo>
                <a:lnTo>
                  <a:pt x="4734721" y="334627"/>
                </a:lnTo>
                <a:lnTo>
                  <a:pt x="4746457" y="380268"/>
                </a:lnTo>
                <a:lnTo>
                  <a:pt x="4753674" y="427555"/>
                </a:lnTo>
                <a:lnTo>
                  <a:pt x="4755139" y="456581"/>
                </a:lnTo>
                <a:lnTo>
                  <a:pt x="4755139" y="506484"/>
                </a:lnTo>
                <a:lnTo>
                  <a:pt x="4746457" y="582797"/>
                </a:lnTo>
                <a:lnTo>
                  <a:pt x="4734721" y="628438"/>
                </a:lnTo>
                <a:lnTo>
                  <a:pt x="4718706" y="672194"/>
                </a:lnTo>
                <a:lnTo>
                  <a:pt x="4698652" y="713825"/>
                </a:lnTo>
                <a:lnTo>
                  <a:pt x="4674796" y="753092"/>
                </a:lnTo>
                <a:lnTo>
                  <a:pt x="4647380" y="789755"/>
                </a:lnTo>
                <a:lnTo>
                  <a:pt x="4616642" y="823576"/>
                </a:lnTo>
                <a:lnTo>
                  <a:pt x="4582822" y="854314"/>
                </a:lnTo>
                <a:lnTo>
                  <a:pt x="4546158" y="881730"/>
                </a:lnTo>
                <a:lnTo>
                  <a:pt x="4506891" y="905585"/>
                </a:lnTo>
                <a:lnTo>
                  <a:pt x="4465260" y="925640"/>
                </a:lnTo>
                <a:lnTo>
                  <a:pt x="4421505" y="941655"/>
                </a:lnTo>
                <a:lnTo>
                  <a:pt x="4375863" y="953390"/>
                </a:lnTo>
                <a:lnTo>
                  <a:pt x="4328576" y="960607"/>
                </a:lnTo>
                <a:lnTo>
                  <a:pt x="4279883" y="963066"/>
                </a:lnTo>
                <a:close/>
              </a:path>
            </a:pathLst>
          </a:custGeom>
          <a:solidFill>
            <a:srgbClr val="F4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599350" y="6373864"/>
            <a:ext cx="12941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45" b="1">
                <a:solidFill>
                  <a:srgbClr val="F4E7E7"/>
                </a:solidFill>
                <a:latin typeface="Arial"/>
                <a:cs typeface="Arial"/>
              </a:rPr>
              <a:t>STACK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206918" y="6691052"/>
            <a:ext cx="3764915" cy="963294"/>
          </a:xfrm>
          <a:custGeom>
            <a:avLst/>
            <a:gdLst/>
            <a:ahLst/>
            <a:cxnLst/>
            <a:rect l="l" t="t" r="r" b="b"/>
            <a:pathLst>
              <a:path w="3764915" h="963295">
                <a:moveTo>
                  <a:pt x="3288468" y="963065"/>
                </a:moveTo>
                <a:lnTo>
                  <a:pt x="476250" y="963065"/>
                </a:lnTo>
                <a:lnTo>
                  <a:pt x="427556" y="960607"/>
                </a:lnTo>
                <a:lnTo>
                  <a:pt x="380269" y="953390"/>
                </a:lnTo>
                <a:lnTo>
                  <a:pt x="334628" y="941654"/>
                </a:lnTo>
                <a:lnTo>
                  <a:pt x="290872" y="925639"/>
                </a:lnTo>
                <a:lnTo>
                  <a:pt x="249241" y="905585"/>
                </a:lnTo>
                <a:lnTo>
                  <a:pt x="209974" y="881730"/>
                </a:lnTo>
                <a:lnTo>
                  <a:pt x="173310" y="854313"/>
                </a:lnTo>
                <a:lnTo>
                  <a:pt x="139490" y="823575"/>
                </a:lnTo>
                <a:lnTo>
                  <a:pt x="108752" y="789755"/>
                </a:lnTo>
                <a:lnTo>
                  <a:pt x="81336" y="753092"/>
                </a:lnTo>
                <a:lnTo>
                  <a:pt x="57480" y="713825"/>
                </a:lnTo>
                <a:lnTo>
                  <a:pt x="37426" y="672194"/>
                </a:lnTo>
                <a:lnTo>
                  <a:pt x="21411" y="628438"/>
                </a:lnTo>
                <a:lnTo>
                  <a:pt x="9675" y="582797"/>
                </a:lnTo>
                <a:lnTo>
                  <a:pt x="2458" y="535509"/>
                </a:lnTo>
                <a:lnTo>
                  <a:pt x="0" y="486815"/>
                </a:lnTo>
                <a:lnTo>
                  <a:pt x="0" y="476249"/>
                </a:lnTo>
                <a:lnTo>
                  <a:pt x="2458" y="427556"/>
                </a:lnTo>
                <a:lnTo>
                  <a:pt x="9675" y="380269"/>
                </a:lnTo>
                <a:lnTo>
                  <a:pt x="21411" y="334627"/>
                </a:lnTo>
                <a:lnTo>
                  <a:pt x="37426" y="290872"/>
                </a:lnTo>
                <a:lnTo>
                  <a:pt x="57480" y="249241"/>
                </a:lnTo>
                <a:lnTo>
                  <a:pt x="81336" y="209974"/>
                </a:lnTo>
                <a:lnTo>
                  <a:pt x="108752" y="173310"/>
                </a:lnTo>
                <a:lnTo>
                  <a:pt x="139490" y="139490"/>
                </a:lnTo>
                <a:lnTo>
                  <a:pt x="173310" y="108752"/>
                </a:lnTo>
                <a:lnTo>
                  <a:pt x="209974" y="81336"/>
                </a:lnTo>
                <a:lnTo>
                  <a:pt x="249241" y="57480"/>
                </a:lnTo>
                <a:lnTo>
                  <a:pt x="290872" y="37426"/>
                </a:lnTo>
                <a:lnTo>
                  <a:pt x="334628" y="21411"/>
                </a:lnTo>
                <a:lnTo>
                  <a:pt x="380269" y="9675"/>
                </a:lnTo>
                <a:lnTo>
                  <a:pt x="427556" y="2458"/>
                </a:lnTo>
                <a:lnTo>
                  <a:pt x="476250" y="0"/>
                </a:lnTo>
                <a:lnTo>
                  <a:pt x="3288468" y="0"/>
                </a:lnTo>
                <a:lnTo>
                  <a:pt x="3337162" y="2458"/>
                </a:lnTo>
                <a:lnTo>
                  <a:pt x="3384449" y="9675"/>
                </a:lnTo>
                <a:lnTo>
                  <a:pt x="3430090" y="21411"/>
                </a:lnTo>
                <a:lnTo>
                  <a:pt x="3473846" y="37426"/>
                </a:lnTo>
                <a:lnTo>
                  <a:pt x="3515477" y="57480"/>
                </a:lnTo>
                <a:lnTo>
                  <a:pt x="3554744" y="81336"/>
                </a:lnTo>
                <a:lnTo>
                  <a:pt x="3591407" y="108752"/>
                </a:lnTo>
                <a:lnTo>
                  <a:pt x="3625228" y="139490"/>
                </a:lnTo>
                <a:lnTo>
                  <a:pt x="3655966" y="173310"/>
                </a:lnTo>
                <a:lnTo>
                  <a:pt x="3683382" y="209974"/>
                </a:lnTo>
                <a:lnTo>
                  <a:pt x="3707237" y="249241"/>
                </a:lnTo>
                <a:lnTo>
                  <a:pt x="3727292" y="290872"/>
                </a:lnTo>
                <a:lnTo>
                  <a:pt x="3743307" y="334627"/>
                </a:lnTo>
                <a:lnTo>
                  <a:pt x="3755042" y="380269"/>
                </a:lnTo>
                <a:lnTo>
                  <a:pt x="3762259" y="427556"/>
                </a:lnTo>
                <a:lnTo>
                  <a:pt x="3764718" y="476249"/>
                </a:lnTo>
                <a:lnTo>
                  <a:pt x="3764718" y="486815"/>
                </a:lnTo>
                <a:lnTo>
                  <a:pt x="3762259" y="535509"/>
                </a:lnTo>
                <a:lnTo>
                  <a:pt x="3755042" y="582797"/>
                </a:lnTo>
                <a:lnTo>
                  <a:pt x="3743307" y="628438"/>
                </a:lnTo>
                <a:lnTo>
                  <a:pt x="3727292" y="672194"/>
                </a:lnTo>
                <a:lnTo>
                  <a:pt x="3707237" y="713825"/>
                </a:lnTo>
                <a:lnTo>
                  <a:pt x="3683382" y="753092"/>
                </a:lnTo>
                <a:lnTo>
                  <a:pt x="3655966" y="789755"/>
                </a:lnTo>
                <a:lnTo>
                  <a:pt x="3625228" y="823575"/>
                </a:lnTo>
                <a:lnTo>
                  <a:pt x="3591407" y="854313"/>
                </a:lnTo>
                <a:lnTo>
                  <a:pt x="3554744" y="881730"/>
                </a:lnTo>
                <a:lnTo>
                  <a:pt x="3515477" y="905585"/>
                </a:lnTo>
                <a:lnTo>
                  <a:pt x="3473846" y="925639"/>
                </a:lnTo>
                <a:lnTo>
                  <a:pt x="3430090" y="941654"/>
                </a:lnTo>
                <a:lnTo>
                  <a:pt x="3384449" y="953390"/>
                </a:lnTo>
                <a:lnTo>
                  <a:pt x="3337162" y="960607"/>
                </a:lnTo>
                <a:lnTo>
                  <a:pt x="3288468" y="963065"/>
                </a:lnTo>
                <a:close/>
              </a:path>
            </a:pathLst>
          </a:custGeom>
          <a:solidFill>
            <a:srgbClr val="F4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848018" y="6894284"/>
            <a:ext cx="24828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4E7E7"/>
                </a:solidFill>
                <a:latin typeface="Arial"/>
                <a:cs typeface="Arial"/>
              </a:rPr>
              <a:t>ESTRUCTURA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7187788" y="-25686"/>
            <a:ext cx="57067060" cy="2902175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871990" y="190346"/>
            <a:ext cx="6544309" cy="2627630"/>
          </a:xfrm>
          <a:prstGeom prst="rect"/>
        </p:spPr>
        <p:txBody>
          <a:bodyPr wrap="square" lIns="0" tIns="695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75"/>
              </a:spcBef>
            </a:pPr>
            <a:r>
              <a:rPr dirty="0" spc="85"/>
              <a:t>Repositorio</a:t>
            </a:r>
          </a:p>
          <a:p>
            <a:pPr algn="ctr" marR="236220">
              <a:lnSpc>
                <a:spcPct val="100000"/>
              </a:lnSpc>
              <a:spcBef>
                <a:spcPts val="1430"/>
              </a:spcBef>
            </a:pPr>
            <a:r>
              <a:rPr dirty="0" sz="2400" spc="85" b="0">
                <a:latin typeface="Trebuchet MS"/>
                <a:cs typeface="Trebuchet MS"/>
              </a:rPr>
              <a:t>Recursos</a:t>
            </a:r>
            <a:r>
              <a:rPr dirty="0" sz="2400" spc="-100" b="0">
                <a:latin typeface="Trebuchet MS"/>
                <a:cs typeface="Trebuchet MS"/>
              </a:rPr>
              <a:t> </a:t>
            </a:r>
            <a:r>
              <a:rPr dirty="0" sz="2400" spc="65" b="0">
                <a:latin typeface="Trebuchet MS"/>
                <a:cs typeface="Trebuchet MS"/>
              </a:rPr>
              <a:t>para</a:t>
            </a:r>
            <a:r>
              <a:rPr dirty="0" sz="2400" spc="-95" b="0">
                <a:latin typeface="Trebuchet MS"/>
                <a:cs typeface="Trebuchet MS"/>
              </a:rPr>
              <a:t> </a:t>
            </a:r>
            <a:r>
              <a:rPr dirty="0" sz="2400" spc="45" b="0">
                <a:latin typeface="Trebuchet MS"/>
                <a:cs typeface="Trebuchet MS"/>
              </a:rPr>
              <a:t>revisión</a:t>
            </a:r>
            <a:r>
              <a:rPr dirty="0" sz="2400" spc="-95" b="0">
                <a:latin typeface="Trebuchet MS"/>
                <a:cs typeface="Trebuchet MS"/>
              </a:rPr>
              <a:t> </a:t>
            </a:r>
            <a:r>
              <a:rPr dirty="0" sz="2400" spc="-10" b="0">
                <a:latin typeface="Trebuchet MS"/>
                <a:cs typeface="Trebuchet MS"/>
              </a:rPr>
              <a:t>técnica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235474" y="3880475"/>
            <a:ext cx="4755515" cy="963294"/>
          </a:xfrm>
          <a:custGeom>
            <a:avLst/>
            <a:gdLst/>
            <a:ahLst/>
            <a:cxnLst/>
            <a:rect l="l" t="t" r="r" b="b"/>
            <a:pathLst>
              <a:path w="4755515" h="963295">
                <a:moveTo>
                  <a:pt x="4279883" y="963066"/>
                </a:moveTo>
                <a:lnTo>
                  <a:pt x="476250" y="963066"/>
                </a:lnTo>
                <a:lnTo>
                  <a:pt x="427556" y="960607"/>
                </a:lnTo>
                <a:lnTo>
                  <a:pt x="380269" y="953390"/>
                </a:lnTo>
                <a:lnTo>
                  <a:pt x="334627" y="941655"/>
                </a:lnTo>
                <a:lnTo>
                  <a:pt x="290872" y="925640"/>
                </a:lnTo>
                <a:lnTo>
                  <a:pt x="249241" y="905585"/>
                </a:lnTo>
                <a:lnTo>
                  <a:pt x="209974" y="881730"/>
                </a:lnTo>
                <a:lnTo>
                  <a:pt x="173310" y="854314"/>
                </a:lnTo>
                <a:lnTo>
                  <a:pt x="139490" y="823576"/>
                </a:lnTo>
                <a:lnTo>
                  <a:pt x="108752" y="789755"/>
                </a:lnTo>
                <a:lnTo>
                  <a:pt x="81336" y="753092"/>
                </a:lnTo>
                <a:lnTo>
                  <a:pt x="57480" y="713825"/>
                </a:lnTo>
                <a:lnTo>
                  <a:pt x="37426" y="672194"/>
                </a:lnTo>
                <a:lnTo>
                  <a:pt x="21411" y="628438"/>
                </a:lnTo>
                <a:lnTo>
                  <a:pt x="9675" y="582797"/>
                </a:lnTo>
                <a:lnTo>
                  <a:pt x="2458" y="535510"/>
                </a:lnTo>
                <a:lnTo>
                  <a:pt x="0" y="486816"/>
                </a:lnTo>
                <a:lnTo>
                  <a:pt x="0" y="476250"/>
                </a:lnTo>
                <a:lnTo>
                  <a:pt x="2458" y="427556"/>
                </a:lnTo>
                <a:lnTo>
                  <a:pt x="9675" y="380269"/>
                </a:lnTo>
                <a:lnTo>
                  <a:pt x="21411" y="334627"/>
                </a:lnTo>
                <a:lnTo>
                  <a:pt x="37426" y="290871"/>
                </a:lnTo>
                <a:lnTo>
                  <a:pt x="57480" y="249240"/>
                </a:lnTo>
                <a:lnTo>
                  <a:pt x="81336" y="209974"/>
                </a:lnTo>
                <a:lnTo>
                  <a:pt x="108752" y="173310"/>
                </a:lnTo>
                <a:lnTo>
                  <a:pt x="139490" y="139490"/>
                </a:lnTo>
                <a:lnTo>
                  <a:pt x="173310" y="108752"/>
                </a:lnTo>
                <a:lnTo>
                  <a:pt x="209974" y="81336"/>
                </a:lnTo>
                <a:lnTo>
                  <a:pt x="249241" y="57480"/>
                </a:lnTo>
                <a:lnTo>
                  <a:pt x="290872" y="37426"/>
                </a:lnTo>
                <a:lnTo>
                  <a:pt x="334627" y="21411"/>
                </a:lnTo>
                <a:lnTo>
                  <a:pt x="380269" y="9675"/>
                </a:lnTo>
                <a:lnTo>
                  <a:pt x="427556" y="2458"/>
                </a:lnTo>
                <a:lnTo>
                  <a:pt x="476250" y="0"/>
                </a:lnTo>
                <a:lnTo>
                  <a:pt x="4279883" y="0"/>
                </a:lnTo>
                <a:lnTo>
                  <a:pt x="4328577" y="2458"/>
                </a:lnTo>
                <a:lnTo>
                  <a:pt x="4375864" y="9675"/>
                </a:lnTo>
                <a:lnTo>
                  <a:pt x="4421505" y="21411"/>
                </a:lnTo>
                <a:lnTo>
                  <a:pt x="4465261" y="37426"/>
                </a:lnTo>
                <a:lnTo>
                  <a:pt x="4506892" y="57480"/>
                </a:lnTo>
                <a:lnTo>
                  <a:pt x="4546159" y="81336"/>
                </a:lnTo>
                <a:lnTo>
                  <a:pt x="4582822" y="108752"/>
                </a:lnTo>
                <a:lnTo>
                  <a:pt x="4616642" y="139490"/>
                </a:lnTo>
                <a:lnTo>
                  <a:pt x="4647380" y="173310"/>
                </a:lnTo>
                <a:lnTo>
                  <a:pt x="4674797" y="209974"/>
                </a:lnTo>
                <a:lnTo>
                  <a:pt x="4698652" y="249240"/>
                </a:lnTo>
                <a:lnTo>
                  <a:pt x="4718707" y="290871"/>
                </a:lnTo>
                <a:lnTo>
                  <a:pt x="4734721" y="334627"/>
                </a:lnTo>
                <a:lnTo>
                  <a:pt x="4746457" y="380269"/>
                </a:lnTo>
                <a:lnTo>
                  <a:pt x="4753674" y="427556"/>
                </a:lnTo>
                <a:lnTo>
                  <a:pt x="4755139" y="456577"/>
                </a:lnTo>
                <a:lnTo>
                  <a:pt x="4755139" y="506489"/>
                </a:lnTo>
                <a:lnTo>
                  <a:pt x="4746457" y="582797"/>
                </a:lnTo>
                <a:lnTo>
                  <a:pt x="4734721" y="628438"/>
                </a:lnTo>
                <a:lnTo>
                  <a:pt x="4718707" y="672194"/>
                </a:lnTo>
                <a:lnTo>
                  <a:pt x="4698652" y="713825"/>
                </a:lnTo>
                <a:lnTo>
                  <a:pt x="4674797" y="753092"/>
                </a:lnTo>
                <a:lnTo>
                  <a:pt x="4647380" y="789755"/>
                </a:lnTo>
                <a:lnTo>
                  <a:pt x="4616642" y="823576"/>
                </a:lnTo>
                <a:lnTo>
                  <a:pt x="4582822" y="854314"/>
                </a:lnTo>
                <a:lnTo>
                  <a:pt x="4546159" y="881730"/>
                </a:lnTo>
                <a:lnTo>
                  <a:pt x="4506892" y="905585"/>
                </a:lnTo>
                <a:lnTo>
                  <a:pt x="4465261" y="925640"/>
                </a:lnTo>
                <a:lnTo>
                  <a:pt x="4421505" y="941655"/>
                </a:lnTo>
                <a:lnTo>
                  <a:pt x="4375864" y="953390"/>
                </a:lnTo>
                <a:lnTo>
                  <a:pt x="4328577" y="960607"/>
                </a:lnTo>
                <a:lnTo>
                  <a:pt x="4279883" y="963066"/>
                </a:lnTo>
                <a:close/>
              </a:path>
            </a:pathLst>
          </a:custGeom>
          <a:solidFill>
            <a:srgbClr val="F4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664025" y="4083707"/>
            <a:ext cx="18992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70" b="1">
                <a:solidFill>
                  <a:srgbClr val="F4E7E7"/>
                </a:solidFill>
                <a:latin typeface="Arial"/>
                <a:cs typeface="Arial"/>
              </a:rPr>
              <a:t>LICENCIA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02588" y="4413559"/>
            <a:ext cx="4929505" cy="927100"/>
          </a:xfrm>
          <a:custGeom>
            <a:avLst/>
            <a:gdLst/>
            <a:ahLst/>
            <a:cxnLst/>
            <a:rect l="l" t="t" r="r" b="b"/>
            <a:pathLst>
              <a:path w="4929505" h="927100">
                <a:moveTo>
                  <a:pt x="4645536" y="926539"/>
                </a:moveTo>
                <a:lnTo>
                  <a:pt x="285750" y="926539"/>
                </a:lnTo>
                <a:lnTo>
                  <a:pt x="240779" y="922979"/>
                </a:lnTo>
                <a:lnTo>
                  <a:pt x="197320" y="912512"/>
                </a:lnTo>
                <a:lnTo>
                  <a:pt x="156141" y="895456"/>
                </a:lnTo>
                <a:lnTo>
                  <a:pt x="118010" y="872127"/>
                </a:lnTo>
                <a:lnTo>
                  <a:pt x="83694" y="842845"/>
                </a:lnTo>
                <a:lnTo>
                  <a:pt x="54412" y="808529"/>
                </a:lnTo>
                <a:lnTo>
                  <a:pt x="31083" y="770397"/>
                </a:lnTo>
                <a:lnTo>
                  <a:pt x="14026" y="729219"/>
                </a:lnTo>
                <a:lnTo>
                  <a:pt x="3559" y="685760"/>
                </a:lnTo>
                <a:lnTo>
                  <a:pt x="0" y="640789"/>
                </a:lnTo>
                <a:lnTo>
                  <a:pt x="0" y="285750"/>
                </a:lnTo>
                <a:lnTo>
                  <a:pt x="3559" y="240779"/>
                </a:lnTo>
                <a:lnTo>
                  <a:pt x="14026" y="197320"/>
                </a:lnTo>
                <a:lnTo>
                  <a:pt x="31083" y="156141"/>
                </a:lnTo>
                <a:lnTo>
                  <a:pt x="54412" y="118010"/>
                </a:lnTo>
                <a:lnTo>
                  <a:pt x="83694" y="83694"/>
                </a:lnTo>
                <a:lnTo>
                  <a:pt x="118010" y="54412"/>
                </a:lnTo>
                <a:lnTo>
                  <a:pt x="156141" y="31083"/>
                </a:lnTo>
                <a:lnTo>
                  <a:pt x="197320" y="14026"/>
                </a:lnTo>
                <a:lnTo>
                  <a:pt x="240779" y="3559"/>
                </a:lnTo>
                <a:lnTo>
                  <a:pt x="285750" y="0"/>
                </a:lnTo>
                <a:lnTo>
                  <a:pt x="4645536" y="0"/>
                </a:lnTo>
                <a:lnTo>
                  <a:pt x="4690507" y="3559"/>
                </a:lnTo>
                <a:lnTo>
                  <a:pt x="4733966" y="14026"/>
                </a:lnTo>
                <a:lnTo>
                  <a:pt x="4775144" y="31083"/>
                </a:lnTo>
                <a:lnTo>
                  <a:pt x="4813275" y="54412"/>
                </a:lnTo>
                <a:lnTo>
                  <a:pt x="4847592" y="83694"/>
                </a:lnTo>
                <a:lnTo>
                  <a:pt x="4876874" y="118010"/>
                </a:lnTo>
                <a:lnTo>
                  <a:pt x="4900202" y="156141"/>
                </a:lnTo>
                <a:lnTo>
                  <a:pt x="4917259" y="197320"/>
                </a:lnTo>
                <a:lnTo>
                  <a:pt x="4927726" y="240779"/>
                </a:lnTo>
                <a:lnTo>
                  <a:pt x="4929479" y="262916"/>
                </a:lnTo>
                <a:lnTo>
                  <a:pt x="4929479" y="663623"/>
                </a:lnTo>
                <a:lnTo>
                  <a:pt x="4917259" y="729219"/>
                </a:lnTo>
                <a:lnTo>
                  <a:pt x="4900202" y="770397"/>
                </a:lnTo>
                <a:lnTo>
                  <a:pt x="4876874" y="808529"/>
                </a:lnTo>
                <a:lnTo>
                  <a:pt x="4847592" y="842845"/>
                </a:lnTo>
                <a:lnTo>
                  <a:pt x="4813275" y="872127"/>
                </a:lnTo>
                <a:lnTo>
                  <a:pt x="4775144" y="895456"/>
                </a:lnTo>
                <a:lnTo>
                  <a:pt x="4733966" y="912512"/>
                </a:lnTo>
                <a:lnTo>
                  <a:pt x="4690507" y="922979"/>
                </a:lnTo>
                <a:lnTo>
                  <a:pt x="4645536" y="926539"/>
                </a:lnTo>
                <a:close/>
              </a:path>
            </a:pathLst>
          </a:custGeom>
          <a:solidFill>
            <a:srgbClr val="F4E7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580388" y="4715184"/>
            <a:ext cx="45707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  <a:hlinkClick r:id="rId3"/>
              </a:rPr>
              <a:t>https://github.com/Nicolas-</a:t>
            </a:r>
            <a:r>
              <a:rPr dirty="0" sz="1800" spc="-10">
                <a:latin typeface="Trebuchet MS"/>
                <a:cs typeface="Trebuchet MS"/>
                <a:hlinkClick r:id="rId3"/>
              </a:rPr>
              <a:t>12000/ECOS.git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235474" y="5071826"/>
            <a:ext cx="4930140" cy="1065530"/>
          </a:xfrm>
          <a:custGeom>
            <a:avLst/>
            <a:gdLst/>
            <a:ahLst/>
            <a:cxnLst/>
            <a:rect l="l" t="t" r="r" b="b"/>
            <a:pathLst>
              <a:path w="4930140" h="1065529">
                <a:moveTo>
                  <a:pt x="4645537" y="1064947"/>
                </a:moveTo>
                <a:lnTo>
                  <a:pt x="285750" y="1064947"/>
                </a:lnTo>
                <a:lnTo>
                  <a:pt x="240779" y="1061387"/>
                </a:lnTo>
                <a:lnTo>
                  <a:pt x="197320" y="1050920"/>
                </a:lnTo>
                <a:lnTo>
                  <a:pt x="156142" y="1033863"/>
                </a:lnTo>
                <a:lnTo>
                  <a:pt x="118010" y="1010535"/>
                </a:lnTo>
                <a:lnTo>
                  <a:pt x="83694" y="981253"/>
                </a:lnTo>
                <a:lnTo>
                  <a:pt x="54412" y="946936"/>
                </a:lnTo>
                <a:lnTo>
                  <a:pt x="31083" y="908805"/>
                </a:lnTo>
                <a:lnTo>
                  <a:pt x="14026" y="867626"/>
                </a:lnTo>
                <a:lnTo>
                  <a:pt x="3559" y="824168"/>
                </a:lnTo>
                <a:lnTo>
                  <a:pt x="0" y="779197"/>
                </a:lnTo>
                <a:lnTo>
                  <a:pt x="0" y="285750"/>
                </a:lnTo>
                <a:lnTo>
                  <a:pt x="3559" y="240779"/>
                </a:lnTo>
                <a:lnTo>
                  <a:pt x="14026" y="197320"/>
                </a:lnTo>
                <a:lnTo>
                  <a:pt x="31083" y="156141"/>
                </a:lnTo>
                <a:lnTo>
                  <a:pt x="54412" y="118010"/>
                </a:lnTo>
                <a:lnTo>
                  <a:pt x="83694" y="83694"/>
                </a:lnTo>
                <a:lnTo>
                  <a:pt x="118010" y="54412"/>
                </a:lnTo>
                <a:lnTo>
                  <a:pt x="156142" y="31083"/>
                </a:lnTo>
                <a:lnTo>
                  <a:pt x="197320" y="14026"/>
                </a:lnTo>
                <a:lnTo>
                  <a:pt x="240779" y="3559"/>
                </a:lnTo>
                <a:lnTo>
                  <a:pt x="285750" y="0"/>
                </a:lnTo>
                <a:lnTo>
                  <a:pt x="4645537" y="0"/>
                </a:lnTo>
                <a:lnTo>
                  <a:pt x="4690508" y="3559"/>
                </a:lnTo>
                <a:lnTo>
                  <a:pt x="4733966" y="14026"/>
                </a:lnTo>
                <a:lnTo>
                  <a:pt x="4775145" y="31083"/>
                </a:lnTo>
                <a:lnTo>
                  <a:pt x="4813276" y="54412"/>
                </a:lnTo>
                <a:lnTo>
                  <a:pt x="4847592" y="83694"/>
                </a:lnTo>
                <a:lnTo>
                  <a:pt x="4876875" y="118010"/>
                </a:lnTo>
                <a:lnTo>
                  <a:pt x="4900203" y="156141"/>
                </a:lnTo>
                <a:lnTo>
                  <a:pt x="4917260" y="197320"/>
                </a:lnTo>
                <a:lnTo>
                  <a:pt x="4927727" y="240779"/>
                </a:lnTo>
                <a:lnTo>
                  <a:pt x="4929541" y="263688"/>
                </a:lnTo>
                <a:lnTo>
                  <a:pt x="4929541" y="801258"/>
                </a:lnTo>
                <a:lnTo>
                  <a:pt x="4917260" y="867626"/>
                </a:lnTo>
                <a:lnTo>
                  <a:pt x="4900203" y="908805"/>
                </a:lnTo>
                <a:lnTo>
                  <a:pt x="4876875" y="946936"/>
                </a:lnTo>
                <a:lnTo>
                  <a:pt x="4847592" y="981253"/>
                </a:lnTo>
                <a:lnTo>
                  <a:pt x="4813276" y="1010535"/>
                </a:lnTo>
                <a:lnTo>
                  <a:pt x="4775145" y="1033863"/>
                </a:lnTo>
                <a:lnTo>
                  <a:pt x="4733966" y="1050920"/>
                </a:lnTo>
                <a:lnTo>
                  <a:pt x="4690508" y="1061387"/>
                </a:lnTo>
                <a:lnTo>
                  <a:pt x="4645537" y="1064947"/>
                </a:lnTo>
                <a:close/>
              </a:path>
            </a:pathLst>
          </a:custGeom>
          <a:solidFill>
            <a:srgbClr val="F4E7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413273" y="5247721"/>
            <a:ext cx="4024629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 spc="90">
                <a:latin typeface="Trebuchet MS"/>
                <a:cs typeface="Trebuchet MS"/>
              </a:rPr>
              <a:t>MIT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459">
                <a:latin typeface="Trebuchet MS"/>
                <a:cs typeface="Trebuchet MS"/>
              </a:rPr>
              <a:t>—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50">
                <a:latin typeface="Trebuchet MS"/>
                <a:cs typeface="Trebuchet MS"/>
              </a:rPr>
              <a:t>código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abierto,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reutilizable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50">
                <a:latin typeface="Trebuchet MS"/>
                <a:cs typeface="Trebuchet MS"/>
              </a:rPr>
              <a:t>por </a:t>
            </a:r>
            <a:r>
              <a:rPr dirty="0" sz="1800">
                <a:latin typeface="Trebuchet MS"/>
                <a:cs typeface="Trebuchet MS"/>
              </a:rPr>
              <a:t>entidades</a:t>
            </a:r>
            <a:r>
              <a:rPr dirty="0" sz="1800" spc="31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públicas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87971" y="7314674"/>
            <a:ext cx="5316220" cy="2637155"/>
          </a:xfrm>
          <a:custGeom>
            <a:avLst/>
            <a:gdLst/>
            <a:ahLst/>
            <a:cxnLst/>
            <a:rect l="l" t="t" r="r" b="b"/>
            <a:pathLst>
              <a:path w="5316220" h="2637154">
                <a:moveTo>
                  <a:pt x="5030903" y="2636572"/>
                </a:moveTo>
                <a:lnTo>
                  <a:pt x="285750" y="2636572"/>
                </a:lnTo>
                <a:lnTo>
                  <a:pt x="240779" y="2633012"/>
                </a:lnTo>
                <a:lnTo>
                  <a:pt x="197320" y="2622545"/>
                </a:lnTo>
                <a:lnTo>
                  <a:pt x="156141" y="2605488"/>
                </a:lnTo>
                <a:lnTo>
                  <a:pt x="118010" y="2582160"/>
                </a:lnTo>
                <a:lnTo>
                  <a:pt x="83694" y="2552877"/>
                </a:lnTo>
                <a:lnTo>
                  <a:pt x="54412" y="2518561"/>
                </a:lnTo>
                <a:lnTo>
                  <a:pt x="31083" y="2480430"/>
                </a:lnTo>
                <a:lnTo>
                  <a:pt x="14026" y="2439251"/>
                </a:lnTo>
                <a:lnTo>
                  <a:pt x="3559" y="2395793"/>
                </a:lnTo>
                <a:lnTo>
                  <a:pt x="0" y="2350822"/>
                </a:lnTo>
                <a:lnTo>
                  <a:pt x="0" y="285750"/>
                </a:lnTo>
                <a:lnTo>
                  <a:pt x="3559" y="240779"/>
                </a:lnTo>
                <a:lnTo>
                  <a:pt x="14026" y="197320"/>
                </a:lnTo>
                <a:lnTo>
                  <a:pt x="31083" y="156141"/>
                </a:lnTo>
                <a:lnTo>
                  <a:pt x="54412" y="118010"/>
                </a:lnTo>
                <a:lnTo>
                  <a:pt x="83694" y="83694"/>
                </a:lnTo>
                <a:lnTo>
                  <a:pt x="118010" y="54412"/>
                </a:lnTo>
                <a:lnTo>
                  <a:pt x="156141" y="31083"/>
                </a:lnTo>
                <a:lnTo>
                  <a:pt x="197320" y="14026"/>
                </a:lnTo>
                <a:lnTo>
                  <a:pt x="240779" y="3559"/>
                </a:lnTo>
                <a:lnTo>
                  <a:pt x="285750" y="0"/>
                </a:lnTo>
                <a:lnTo>
                  <a:pt x="5030903" y="0"/>
                </a:lnTo>
                <a:lnTo>
                  <a:pt x="5075874" y="3559"/>
                </a:lnTo>
                <a:lnTo>
                  <a:pt x="5119332" y="14026"/>
                </a:lnTo>
                <a:lnTo>
                  <a:pt x="5160511" y="31083"/>
                </a:lnTo>
                <a:lnTo>
                  <a:pt x="5198642" y="54412"/>
                </a:lnTo>
                <a:lnTo>
                  <a:pt x="5232958" y="83694"/>
                </a:lnTo>
                <a:lnTo>
                  <a:pt x="5262240" y="118010"/>
                </a:lnTo>
                <a:lnTo>
                  <a:pt x="5285569" y="156141"/>
                </a:lnTo>
                <a:lnTo>
                  <a:pt x="5302625" y="197320"/>
                </a:lnTo>
                <a:lnTo>
                  <a:pt x="5313093" y="240779"/>
                </a:lnTo>
                <a:lnTo>
                  <a:pt x="5315945" y="276813"/>
                </a:lnTo>
                <a:lnTo>
                  <a:pt x="5315945" y="2359758"/>
                </a:lnTo>
                <a:lnTo>
                  <a:pt x="5302625" y="2439251"/>
                </a:lnTo>
                <a:lnTo>
                  <a:pt x="5285569" y="2480430"/>
                </a:lnTo>
                <a:lnTo>
                  <a:pt x="5262240" y="2518561"/>
                </a:lnTo>
                <a:lnTo>
                  <a:pt x="5232958" y="2552877"/>
                </a:lnTo>
                <a:lnTo>
                  <a:pt x="5198642" y="2582160"/>
                </a:lnTo>
                <a:lnTo>
                  <a:pt x="5160511" y="2605488"/>
                </a:lnTo>
                <a:lnTo>
                  <a:pt x="5119332" y="2622545"/>
                </a:lnTo>
                <a:lnTo>
                  <a:pt x="5075874" y="2633012"/>
                </a:lnTo>
                <a:lnTo>
                  <a:pt x="5030903" y="2636572"/>
                </a:lnTo>
                <a:close/>
              </a:path>
            </a:pathLst>
          </a:custGeom>
          <a:solidFill>
            <a:srgbClr val="F4E7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765771" y="7490569"/>
            <a:ext cx="4762500" cy="2225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FastAPI</a:t>
            </a:r>
            <a:r>
              <a:rPr dirty="0" sz="1800" spc="10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+</a:t>
            </a:r>
            <a:r>
              <a:rPr dirty="0" sz="1800" spc="10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Python</a:t>
            </a:r>
            <a:r>
              <a:rPr dirty="0" sz="1800" spc="10">
                <a:latin typeface="Trebuchet MS"/>
                <a:cs typeface="Trebuchet MS"/>
              </a:rPr>
              <a:t> </a:t>
            </a:r>
            <a:r>
              <a:rPr dirty="0" sz="1800" spc="-30">
                <a:latin typeface="Trebuchet MS"/>
                <a:cs typeface="Trebuchet MS"/>
              </a:rPr>
              <a:t>3.11,</a:t>
            </a:r>
            <a:r>
              <a:rPr dirty="0" sz="1800" spc="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PySpark,</a:t>
            </a:r>
            <a:r>
              <a:rPr dirty="0" sz="1800" spc="1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Prophet, </a:t>
            </a:r>
            <a:r>
              <a:rPr dirty="0" sz="1800">
                <a:latin typeface="Trebuchet MS"/>
                <a:cs typeface="Trebuchet MS"/>
              </a:rPr>
              <a:t>XGBoost,</a:t>
            </a:r>
            <a:r>
              <a:rPr dirty="0" sz="1800" spc="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SHAP,</a:t>
            </a:r>
            <a:r>
              <a:rPr dirty="0" sz="1800" spc="50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LangChain</a:t>
            </a:r>
            <a:r>
              <a:rPr dirty="0" sz="1800" spc="50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+</a:t>
            </a:r>
            <a:r>
              <a:rPr dirty="0" sz="1800" spc="50">
                <a:latin typeface="Trebuchet MS"/>
                <a:cs typeface="Trebuchet MS"/>
              </a:rPr>
              <a:t> </a:t>
            </a:r>
            <a:r>
              <a:rPr dirty="0" sz="1800" spc="100">
                <a:latin typeface="Trebuchet MS"/>
                <a:cs typeface="Trebuchet MS"/>
              </a:rPr>
              <a:t>ChromaDB</a:t>
            </a:r>
            <a:r>
              <a:rPr dirty="0" sz="1800" spc="55">
                <a:latin typeface="Trebuchet MS"/>
                <a:cs typeface="Trebuchet MS"/>
              </a:rPr>
              <a:t> </a:t>
            </a:r>
            <a:r>
              <a:rPr dirty="0" sz="1800" spc="25">
                <a:latin typeface="Trebuchet MS"/>
                <a:cs typeface="Trebuchet MS"/>
              </a:rPr>
              <a:t>+ </a:t>
            </a:r>
            <a:r>
              <a:rPr dirty="0" sz="1800" spc="85">
                <a:latin typeface="Trebuchet MS"/>
                <a:cs typeface="Trebuchet MS"/>
              </a:rPr>
              <a:t>Groq</a:t>
            </a:r>
            <a:r>
              <a:rPr dirty="0" sz="1800" spc="-75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(RAG),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Power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BI</a:t>
            </a:r>
            <a:r>
              <a:rPr dirty="0" sz="1800" spc="-75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+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Next.js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15</a:t>
            </a:r>
            <a:r>
              <a:rPr dirty="0" sz="1800" spc="-75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+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Tailwind, </a:t>
            </a:r>
            <a:r>
              <a:rPr dirty="0" sz="1800" spc="60">
                <a:latin typeface="Trebuchet MS"/>
                <a:cs typeface="Trebuchet MS"/>
              </a:rPr>
              <a:t>spaCy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+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scikit-learn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(NLP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de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noticias), </a:t>
            </a:r>
            <a:r>
              <a:rPr dirty="0" sz="1800" spc="-20">
                <a:latin typeface="Trebuchet MS"/>
                <a:cs typeface="Trebuchet MS"/>
              </a:rPr>
              <a:t>Kepler.gl/Deck.gl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(mapas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de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movilidad), </a:t>
            </a:r>
            <a:r>
              <a:rPr dirty="0" sz="1800" spc="70">
                <a:latin typeface="Trebuchet MS"/>
                <a:cs typeface="Trebuchet MS"/>
              </a:rPr>
              <a:t>PostgreSQL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+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Parquet,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60">
                <a:latin typeface="Trebuchet MS"/>
                <a:cs typeface="Trebuchet MS"/>
              </a:rPr>
              <a:t>Docker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+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45">
                <a:latin typeface="Trebuchet MS"/>
                <a:cs typeface="Trebuchet MS"/>
              </a:rPr>
              <a:t>GitHub </a:t>
            </a:r>
            <a:r>
              <a:rPr dirty="0" sz="1800" spc="-10">
                <a:latin typeface="Trebuchet MS"/>
                <a:cs typeface="Trebuchet MS"/>
              </a:rPr>
              <a:t>Actions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623633" y="7882718"/>
            <a:ext cx="4928870" cy="1694180"/>
          </a:xfrm>
          <a:custGeom>
            <a:avLst/>
            <a:gdLst/>
            <a:ahLst/>
            <a:cxnLst/>
            <a:rect l="l" t="t" r="r" b="b"/>
            <a:pathLst>
              <a:path w="4928869" h="1694179">
                <a:moveTo>
                  <a:pt x="4645536" y="1693597"/>
                </a:moveTo>
                <a:lnTo>
                  <a:pt x="285750" y="1693597"/>
                </a:lnTo>
                <a:lnTo>
                  <a:pt x="240779" y="1690037"/>
                </a:lnTo>
                <a:lnTo>
                  <a:pt x="197320" y="1679570"/>
                </a:lnTo>
                <a:lnTo>
                  <a:pt x="156142" y="1662513"/>
                </a:lnTo>
                <a:lnTo>
                  <a:pt x="118010" y="1639185"/>
                </a:lnTo>
                <a:lnTo>
                  <a:pt x="83694" y="1609902"/>
                </a:lnTo>
                <a:lnTo>
                  <a:pt x="54412" y="1575586"/>
                </a:lnTo>
                <a:lnTo>
                  <a:pt x="31083" y="1537455"/>
                </a:lnTo>
                <a:lnTo>
                  <a:pt x="14027" y="1496276"/>
                </a:lnTo>
                <a:lnTo>
                  <a:pt x="3559" y="1452818"/>
                </a:lnTo>
                <a:lnTo>
                  <a:pt x="0" y="1407847"/>
                </a:lnTo>
                <a:lnTo>
                  <a:pt x="0" y="285750"/>
                </a:lnTo>
                <a:lnTo>
                  <a:pt x="3559" y="240779"/>
                </a:lnTo>
                <a:lnTo>
                  <a:pt x="14027" y="197320"/>
                </a:lnTo>
                <a:lnTo>
                  <a:pt x="31083" y="156141"/>
                </a:lnTo>
                <a:lnTo>
                  <a:pt x="54412" y="118010"/>
                </a:lnTo>
                <a:lnTo>
                  <a:pt x="83694" y="83694"/>
                </a:lnTo>
                <a:lnTo>
                  <a:pt x="118010" y="54412"/>
                </a:lnTo>
                <a:lnTo>
                  <a:pt x="156142" y="31083"/>
                </a:lnTo>
                <a:lnTo>
                  <a:pt x="197320" y="14026"/>
                </a:lnTo>
                <a:lnTo>
                  <a:pt x="240779" y="3559"/>
                </a:lnTo>
                <a:lnTo>
                  <a:pt x="285750" y="0"/>
                </a:lnTo>
                <a:lnTo>
                  <a:pt x="4645536" y="0"/>
                </a:lnTo>
                <a:lnTo>
                  <a:pt x="4690507" y="3559"/>
                </a:lnTo>
                <a:lnTo>
                  <a:pt x="4733966" y="14026"/>
                </a:lnTo>
                <a:lnTo>
                  <a:pt x="4775145" y="31083"/>
                </a:lnTo>
                <a:lnTo>
                  <a:pt x="4813276" y="54412"/>
                </a:lnTo>
                <a:lnTo>
                  <a:pt x="4847592" y="83694"/>
                </a:lnTo>
                <a:lnTo>
                  <a:pt x="4876874" y="118010"/>
                </a:lnTo>
                <a:lnTo>
                  <a:pt x="4900202" y="156141"/>
                </a:lnTo>
                <a:lnTo>
                  <a:pt x="4917259" y="197320"/>
                </a:lnTo>
                <a:lnTo>
                  <a:pt x="4927726" y="240779"/>
                </a:lnTo>
                <a:lnTo>
                  <a:pt x="4928632" y="252225"/>
                </a:lnTo>
                <a:lnTo>
                  <a:pt x="4928632" y="1441371"/>
                </a:lnTo>
                <a:lnTo>
                  <a:pt x="4917259" y="1496276"/>
                </a:lnTo>
                <a:lnTo>
                  <a:pt x="4900202" y="1537455"/>
                </a:lnTo>
                <a:lnTo>
                  <a:pt x="4876874" y="1575586"/>
                </a:lnTo>
                <a:lnTo>
                  <a:pt x="4847592" y="1609902"/>
                </a:lnTo>
                <a:lnTo>
                  <a:pt x="4813276" y="1639185"/>
                </a:lnTo>
                <a:lnTo>
                  <a:pt x="4775145" y="1662513"/>
                </a:lnTo>
                <a:lnTo>
                  <a:pt x="4733966" y="1679570"/>
                </a:lnTo>
                <a:lnTo>
                  <a:pt x="4690507" y="1690037"/>
                </a:lnTo>
                <a:lnTo>
                  <a:pt x="4645536" y="1693597"/>
                </a:lnTo>
                <a:close/>
              </a:path>
            </a:pathLst>
          </a:custGeom>
          <a:solidFill>
            <a:srgbClr val="F4E7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1801433" y="8058613"/>
            <a:ext cx="4352925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Estructura</a:t>
            </a:r>
            <a:r>
              <a:rPr dirty="0" sz="1800" spc="114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documentada</a:t>
            </a:r>
            <a:r>
              <a:rPr dirty="0" sz="1800" spc="114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bajo </a:t>
            </a:r>
            <a:r>
              <a:rPr dirty="0" sz="1800" spc="10">
                <a:latin typeface="Trebuchet MS"/>
                <a:cs typeface="Trebuchet MS"/>
              </a:rPr>
              <a:t>metodología</a:t>
            </a:r>
            <a:r>
              <a:rPr dirty="0" sz="1800" spc="80">
                <a:latin typeface="Trebuchet MS"/>
                <a:cs typeface="Trebuchet MS"/>
              </a:rPr>
              <a:t> </a:t>
            </a:r>
            <a:r>
              <a:rPr dirty="0" sz="1800" spc="65">
                <a:latin typeface="Trebuchet MS"/>
                <a:cs typeface="Trebuchet MS"/>
              </a:rPr>
              <a:t>CRISP-</a:t>
            </a:r>
            <a:r>
              <a:rPr dirty="0" sz="1800" spc="85">
                <a:latin typeface="Trebuchet MS"/>
                <a:cs typeface="Trebuchet MS"/>
              </a:rPr>
              <a:t>ML</a:t>
            </a:r>
            <a:r>
              <a:rPr dirty="0" sz="1800" spc="80">
                <a:latin typeface="Trebuchet MS"/>
                <a:cs typeface="Trebuchet MS"/>
              </a:rPr>
              <a:t> </a:t>
            </a:r>
            <a:r>
              <a:rPr dirty="0" sz="1800" spc="50">
                <a:latin typeface="Trebuchet MS"/>
                <a:cs typeface="Trebuchet MS"/>
              </a:rPr>
              <a:t>(comprensión</a:t>
            </a:r>
            <a:r>
              <a:rPr dirty="0" sz="1800" spc="8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del </a:t>
            </a:r>
            <a:r>
              <a:rPr dirty="0" sz="1800">
                <a:latin typeface="Trebuchet MS"/>
                <a:cs typeface="Trebuchet MS"/>
              </a:rPr>
              <a:t>negocio,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de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los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datos,</a:t>
            </a:r>
            <a:r>
              <a:rPr dirty="0" sz="1800" spc="-10">
                <a:latin typeface="Trebuchet MS"/>
                <a:cs typeface="Trebuchet MS"/>
              </a:rPr>
              <a:t> preparación, </a:t>
            </a:r>
            <a:r>
              <a:rPr dirty="0" sz="1800">
                <a:latin typeface="Trebuchet MS"/>
                <a:cs typeface="Trebuchet MS"/>
              </a:rPr>
              <a:t>modelado,</a:t>
            </a:r>
            <a:r>
              <a:rPr dirty="0" sz="1800" spc="1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evaluación</a:t>
            </a:r>
            <a:r>
              <a:rPr dirty="0" sz="1800" spc="1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y</a:t>
            </a:r>
            <a:r>
              <a:rPr dirty="0" sz="1800" spc="13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despliegue).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928110">
              <a:lnSpc>
                <a:spcPct val="100000"/>
              </a:lnSpc>
              <a:spcBef>
                <a:spcPts val="100"/>
              </a:spcBef>
            </a:pPr>
            <a:r>
              <a:rPr dirty="0" spc="229"/>
              <a:t>Cierre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0429" y="2673472"/>
            <a:ext cx="656717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204">
                <a:solidFill>
                  <a:srgbClr val="F4E7E7"/>
                </a:solidFill>
                <a:latin typeface="Arial Black"/>
                <a:cs typeface="Arial Black"/>
              </a:rPr>
              <a:t>Valor</a:t>
            </a:r>
            <a:r>
              <a:rPr dirty="0" sz="3500" spc="-229">
                <a:solidFill>
                  <a:srgbClr val="F4E7E7"/>
                </a:solidFill>
                <a:latin typeface="Arial Black"/>
                <a:cs typeface="Arial Black"/>
              </a:rPr>
              <a:t> </a:t>
            </a:r>
            <a:r>
              <a:rPr dirty="0" sz="3500" spc="-175">
                <a:solidFill>
                  <a:srgbClr val="F4E7E7"/>
                </a:solidFill>
                <a:latin typeface="Arial Black"/>
                <a:cs typeface="Arial Black"/>
              </a:rPr>
              <a:t>diferencial</a:t>
            </a:r>
            <a:r>
              <a:rPr dirty="0" sz="3500" spc="-225">
                <a:solidFill>
                  <a:srgbClr val="F4E7E7"/>
                </a:solidFill>
                <a:latin typeface="Arial Black"/>
                <a:cs typeface="Arial Black"/>
              </a:rPr>
              <a:t> </a:t>
            </a:r>
            <a:r>
              <a:rPr dirty="0" sz="3500" spc="-185">
                <a:solidFill>
                  <a:srgbClr val="F4E7E7"/>
                </a:solidFill>
                <a:latin typeface="Arial Black"/>
                <a:cs typeface="Arial Black"/>
              </a:rPr>
              <a:t>del</a:t>
            </a:r>
            <a:r>
              <a:rPr dirty="0" sz="3500" spc="-225">
                <a:solidFill>
                  <a:srgbClr val="F4E7E7"/>
                </a:solidFill>
                <a:latin typeface="Arial Black"/>
                <a:cs typeface="Arial Black"/>
              </a:rPr>
              <a:t> </a:t>
            </a:r>
            <a:r>
              <a:rPr dirty="0" sz="3500" spc="-140">
                <a:solidFill>
                  <a:srgbClr val="F4E7E7"/>
                </a:solidFill>
                <a:latin typeface="Arial Black"/>
                <a:cs typeface="Arial Black"/>
              </a:rPr>
              <a:t>proyecto</a:t>
            </a:r>
            <a:endParaRPr sz="35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18563" y="4378107"/>
            <a:ext cx="14944725" cy="18789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700"/>
              </a:lnSpc>
              <a:spcBef>
                <a:spcPts val="100"/>
              </a:spcBef>
            </a:pPr>
            <a:r>
              <a:rPr dirty="0" sz="2650" spc="135">
                <a:solidFill>
                  <a:srgbClr val="F4E7E7"/>
                </a:solidFill>
                <a:latin typeface="Trebuchet MS"/>
                <a:cs typeface="Trebuchet MS"/>
              </a:rPr>
              <a:t>ECOS</a:t>
            </a:r>
            <a:r>
              <a:rPr dirty="0" sz="2650" spc="175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2650" spc="170">
                <a:solidFill>
                  <a:srgbClr val="F4E7E7"/>
                </a:solidFill>
                <a:latin typeface="Trebuchet MS"/>
                <a:cs typeface="Trebuchet MS"/>
              </a:rPr>
              <a:t>no</a:t>
            </a:r>
            <a:r>
              <a:rPr dirty="0" sz="2650" spc="185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2650" spc="110">
                <a:solidFill>
                  <a:srgbClr val="F4E7E7"/>
                </a:solidFill>
                <a:latin typeface="Trebuchet MS"/>
                <a:cs typeface="Trebuchet MS"/>
              </a:rPr>
              <a:t>es</a:t>
            </a:r>
            <a:r>
              <a:rPr dirty="0" sz="2650" spc="185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2650" spc="170">
                <a:solidFill>
                  <a:srgbClr val="F4E7E7"/>
                </a:solidFill>
                <a:latin typeface="Trebuchet MS"/>
                <a:cs typeface="Trebuchet MS"/>
              </a:rPr>
              <a:t>un</a:t>
            </a:r>
            <a:r>
              <a:rPr dirty="0" sz="2650" spc="185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2650" spc="135">
                <a:solidFill>
                  <a:srgbClr val="F4E7E7"/>
                </a:solidFill>
                <a:latin typeface="Trebuchet MS"/>
                <a:cs typeface="Trebuchet MS"/>
              </a:rPr>
              <a:t>dashboard</a:t>
            </a:r>
            <a:r>
              <a:rPr dirty="0" sz="2650" spc="185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2650">
                <a:solidFill>
                  <a:srgbClr val="F4E7E7"/>
                </a:solidFill>
                <a:latin typeface="Trebuchet MS"/>
                <a:cs typeface="Trebuchet MS"/>
              </a:rPr>
              <a:t>descriptivo</a:t>
            </a:r>
            <a:r>
              <a:rPr dirty="0" sz="2650" spc="185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2650" spc="65">
                <a:solidFill>
                  <a:srgbClr val="F4E7E7"/>
                </a:solidFill>
                <a:latin typeface="Trebuchet MS"/>
                <a:cs typeface="Trebuchet MS"/>
              </a:rPr>
              <a:t>más:</a:t>
            </a:r>
            <a:r>
              <a:rPr dirty="0" sz="2650" spc="185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2650" spc="100">
                <a:solidFill>
                  <a:srgbClr val="F4E7E7"/>
                </a:solidFill>
                <a:latin typeface="Trebuchet MS"/>
                <a:cs typeface="Trebuchet MS"/>
              </a:rPr>
              <a:t>combina</a:t>
            </a:r>
            <a:r>
              <a:rPr dirty="0" sz="2650" spc="185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2650">
                <a:solidFill>
                  <a:srgbClr val="F4E7E7"/>
                </a:solidFill>
                <a:latin typeface="Trebuchet MS"/>
                <a:cs typeface="Trebuchet MS"/>
              </a:rPr>
              <a:t>predicción</a:t>
            </a:r>
            <a:r>
              <a:rPr dirty="0" sz="2650" spc="190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2650" spc="50">
                <a:solidFill>
                  <a:srgbClr val="F4E7E7"/>
                </a:solidFill>
                <a:latin typeface="Trebuchet MS"/>
                <a:cs typeface="Trebuchet MS"/>
              </a:rPr>
              <a:t>(Prophet</a:t>
            </a:r>
            <a:r>
              <a:rPr dirty="0" sz="2650" spc="185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2650" spc="120">
                <a:solidFill>
                  <a:srgbClr val="F4E7E7"/>
                </a:solidFill>
                <a:latin typeface="Trebuchet MS"/>
                <a:cs typeface="Trebuchet MS"/>
              </a:rPr>
              <a:t>+</a:t>
            </a:r>
            <a:r>
              <a:rPr dirty="0" sz="2650" spc="185">
                <a:solidFill>
                  <a:srgbClr val="F4E7E7"/>
                </a:solidFill>
                <a:latin typeface="Trebuchet MS"/>
                <a:cs typeface="Trebuchet MS"/>
              </a:rPr>
              <a:t>  </a:t>
            </a:r>
            <a:r>
              <a:rPr dirty="0" sz="2650" spc="-10">
                <a:solidFill>
                  <a:srgbClr val="F4E7E7"/>
                </a:solidFill>
                <a:latin typeface="Trebuchet MS"/>
                <a:cs typeface="Trebuchet MS"/>
              </a:rPr>
              <a:t>XGBoost), </a:t>
            </a:r>
            <a:r>
              <a:rPr dirty="0" sz="2650">
                <a:solidFill>
                  <a:srgbClr val="F4E7E7"/>
                </a:solidFill>
                <a:latin typeface="Trebuchet MS"/>
                <a:cs typeface="Trebuchet MS"/>
              </a:rPr>
              <a:t>explicabilidad</a:t>
            </a:r>
            <a:r>
              <a:rPr dirty="0" sz="2650" spc="8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>
                <a:solidFill>
                  <a:srgbClr val="F4E7E7"/>
                </a:solidFill>
                <a:latin typeface="Trebuchet MS"/>
                <a:cs typeface="Trebuchet MS"/>
              </a:rPr>
              <a:t>(SHAP)</a:t>
            </a:r>
            <a:r>
              <a:rPr dirty="0" sz="2650" spc="8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>
                <a:solidFill>
                  <a:srgbClr val="F4E7E7"/>
                </a:solidFill>
                <a:latin typeface="Trebuchet MS"/>
                <a:cs typeface="Trebuchet MS"/>
              </a:rPr>
              <a:t>y</a:t>
            </a:r>
            <a:r>
              <a:rPr dirty="0" sz="2650" spc="8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85">
                <a:solidFill>
                  <a:srgbClr val="F4E7E7"/>
                </a:solidFill>
                <a:latin typeface="Trebuchet MS"/>
                <a:cs typeface="Trebuchet MS"/>
              </a:rPr>
              <a:t>señales</a:t>
            </a:r>
            <a:r>
              <a:rPr dirty="0" sz="2650" spc="8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95">
                <a:solidFill>
                  <a:srgbClr val="F4E7E7"/>
                </a:solidFill>
                <a:latin typeface="Trebuchet MS"/>
                <a:cs typeface="Trebuchet MS"/>
              </a:rPr>
              <a:t>tempranas</a:t>
            </a:r>
            <a:r>
              <a:rPr dirty="0" sz="2650" spc="8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85">
                <a:solidFill>
                  <a:srgbClr val="F4E7E7"/>
                </a:solidFill>
                <a:latin typeface="Trebuchet MS"/>
                <a:cs typeface="Trebuchet MS"/>
              </a:rPr>
              <a:t>de</a:t>
            </a:r>
            <a:r>
              <a:rPr dirty="0" sz="2650" spc="80">
                <a:solidFill>
                  <a:srgbClr val="F4E7E7"/>
                </a:solidFill>
                <a:latin typeface="Trebuchet MS"/>
                <a:cs typeface="Trebuchet MS"/>
              </a:rPr>
              <a:t> comportamiento</a:t>
            </a:r>
            <a:r>
              <a:rPr dirty="0" sz="2650" spc="8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>
                <a:solidFill>
                  <a:srgbClr val="F4E7E7"/>
                </a:solidFill>
                <a:latin typeface="Trebuchet MS"/>
                <a:cs typeface="Trebuchet MS"/>
              </a:rPr>
              <a:t>social</a:t>
            </a:r>
            <a:r>
              <a:rPr dirty="0" sz="2650" spc="8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>
                <a:solidFill>
                  <a:srgbClr val="F4E7E7"/>
                </a:solidFill>
                <a:latin typeface="Trebuchet MS"/>
                <a:cs typeface="Trebuchet MS"/>
              </a:rPr>
              <a:t>(Google</a:t>
            </a:r>
            <a:r>
              <a:rPr dirty="0" sz="2650" spc="80">
                <a:solidFill>
                  <a:srgbClr val="F4E7E7"/>
                </a:solidFill>
                <a:latin typeface="Trebuchet MS"/>
                <a:cs typeface="Trebuchet MS"/>
              </a:rPr>
              <a:t> Trends </a:t>
            </a:r>
            <a:r>
              <a:rPr dirty="0" sz="2650" spc="120">
                <a:solidFill>
                  <a:srgbClr val="F4E7E7"/>
                </a:solidFill>
                <a:latin typeface="Trebuchet MS"/>
                <a:cs typeface="Trebuchet MS"/>
              </a:rPr>
              <a:t>+</a:t>
            </a:r>
            <a:r>
              <a:rPr dirty="0" sz="2650" spc="8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100">
                <a:solidFill>
                  <a:srgbClr val="F4E7E7"/>
                </a:solidFill>
                <a:latin typeface="Trebuchet MS"/>
                <a:cs typeface="Trebuchet MS"/>
              </a:rPr>
              <a:t>medios </a:t>
            </a:r>
            <a:r>
              <a:rPr dirty="0" sz="2650">
                <a:solidFill>
                  <a:srgbClr val="F4E7E7"/>
                </a:solidFill>
                <a:latin typeface="Trebuchet MS"/>
                <a:cs typeface="Trebuchet MS"/>
              </a:rPr>
              <a:t>regionales)</a:t>
            </a:r>
            <a:r>
              <a:rPr dirty="0" sz="2650" spc="64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114">
                <a:solidFill>
                  <a:srgbClr val="F4E7E7"/>
                </a:solidFill>
                <a:latin typeface="Trebuchet MS"/>
                <a:cs typeface="Trebuchet MS"/>
              </a:rPr>
              <a:t>que</a:t>
            </a:r>
            <a:r>
              <a:rPr dirty="0" sz="2650" spc="65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125">
                <a:solidFill>
                  <a:srgbClr val="F4E7E7"/>
                </a:solidFill>
                <a:latin typeface="Trebuchet MS"/>
                <a:cs typeface="Trebuchet MS"/>
              </a:rPr>
              <a:t>hoy</a:t>
            </a:r>
            <a:r>
              <a:rPr dirty="0" sz="2650" spc="65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65">
                <a:solidFill>
                  <a:srgbClr val="F4E7E7"/>
                </a:solidFill>
                <a:latin typeface="Trebuchet MS"/>
                <a:cs typeface="Trebuchet MS"/>
              </a:rPr>
              <a:t>nadie</a:t>
            </a:r>
            <a:r>
              <a:rPr dirty="0" sz="2650" spc="65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>
                <a:solidFill>
                  <a:srgbClr val="F4E7E7"/>
                </a:solidFill>
                <a:latin typeface="Trebuchet MS"/>
                <a:cs typeface="Trebuchet MS"/>
              </a:rPr>
              <a:t>está</a:t>
            </a:r>
            <a:r>
              <a:rPr dirty="0" sz="2650" spc="65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75">
                <a:solidFill>
                  <a:srgbClr val="F4E7E7"/>
                </a:solidFill>
                <a:latin typeface="Trebuchet MS"/>
                <a:cs typeface="Trebuchet MS"/>
              </a:rPr>
              <a:t>integrando</a:t>
            </a:r>
            <a:r>
              <a:rPr dirty="0" sz="2650" spc="65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90">
                <a:solidFill>
                  <a:srgbClr val="F4E7E7"/>
                </a:solidFill>
                <a:latin typeface="Trebuchet MS"/>
                <a:cs typeface="Trebuchet MS"/>
              </a:rPr>
              <a:t>para</a:t>
            </a:r>
            <a:r>
              <a:rPr dirty="0" sz="2650" spc="65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>
                <a:solidFill>
                  <a:srgbClr val="F4E7E7"/>
                </a:solidFill>
                <a:latin typeface="Trebuchet MS"/>
                <a:cs typeface="Trebuchet MS"/>
              </a:rPr>
              <a:t>la</a:t>
            </a:r>
            <a:r>
              <a:rPr dirty="0" sz="2650" spc="65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>
                <a:solidFill>
                  <a:srgbClr val="F4E7E7"/>
                </a:solidFill>
                <a:latin typeface="Trebuchet MS"/>
                <a:cs typeface="Trebuchet MS"/>
              </a:rPr>
              <a:t>vigilancia</a:t>
            </a:r>
            <a:r>
              <a:rPr dirty="0" sz="2650" spc="65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50">
                <a:solidFill>
                  <a:srgbClr val="F4E7E7"/>
                </a:solidFill>
                <a:latin typeface="Trebuchet MS"/>
                <a:cs typeface="Trebuchet MS"/>
              </a:rPr>
              <a:t>epidemiológica</a:t>
            </a:r>
            <a:r>
              <a:rPr dirty="0" sz="2650" spc="65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100">
                <a:solidFill>
                  <a:srgbClr val="F4E7E7"/>
                </a:solidFill>
                <a:latin typeface="Trebuchet MS"/>
                <a:cs typeface="Trebuchet MS"/>
              </a:rPr>
              <a:t>en</a:t>
            </a:r>
            <a:r>
              <a:rPr dirty="0" sz="2650" spc="65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-10">
                <a:solidFill>
                  <a:srgbClr val="F4E7E7"/>
                </a:solidFill>
                <a:latin typeface="Trebuchet MS"/>
                <a:cs typeface="Trebuchet MS"/>
              </a:rPr>
              <a:t>Colombia. </a:t>
            </a:r>
            <a:r>
              <a:rPr dirty="0" sz="2650">
                <a:solidFill>
                  <a:srgbClr val="F4E7E7"/>
                </a:solidFill>
                <a:latin typeface="Trebuchet MS"/>
                <a:cs typeface="Trebuchet MS"/>
              </a:rPr>
              <a:t>Convierte</a:t>
            </a:r>
            <a:r>
              <a:rPr dirty="0" sz="2650" spc="-4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85">
                <a:solidFill>
                  <a:srgbClr val="F4E7E7"/>
                </a:solidFill>
                <a:latin typeface="Trebuchet MS"/>
                <a:cs typeface="Trebuchet MS"/>
              </a:rPr>
              <a:t>datos</a:t>
            </a:r>
            <a:r>
              <a:rPr dirty="0" sz="2650" spc="-3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70">
                <a:solidFill>
                  <a:srgbClr val="F4E7E7"/>
                </a:solidFill>
                <a:latin typeface="Trebuchet MS"/>
                <a:cs typeface="Trebuchet MS"/>
              </a:rPr>
              <a:t>públicos</a:t>
            </a:r>
            <a:r>
              <a:rPr dirty="0" sz="2650" spc="-4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50">
                <a:solidFill>
                  <a:srgbClr val="F4E7E7"/>
                </a:solidFill>
                <a:latin typeface="Trebuchet MS"/>
                <a:cs typeface="Trebuchet MS"/>
              </a:rPr>
              <a:t>ya</a:t>
            </a:r>
            <a:r>
              <a:rPr dirty="0" sz="2650" spc="-3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>
                <a:solidFill>
                  <a:srgbClr val="F4E7E7"/>
                </a:solidFill>
                <a:latin typeface="Trebuchet MS"/>
                <a:cs typeface="Trebuchet MS"/>
              </a:rPr>
              <a:t>existentes</a:t>
            </a:r>
            <a:r>
              <a:rPr dirty="0" sz="2650" spc="-3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100">
                <a:solidFill>
                  <a:srgbClr val="F4E7E7"/>
                </a:solidFill>
                <a:latin typeface="Trebuchet MS"/>
                <a:cs typeface="Trebuchet MS"/>
              </a:rPr>
              <a:t>en</a:t>
            </a:r>
            <a:r>
              <a:rPr dirty="0" sz="2650" spc="-4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140">
                <a:solidFill>
                  <a:srgbClr val="F4E7E7"/>
                </a:solidFill>
                <a:latin typeface="Trebuchet MS"/>
                <a:cs typeface="Trebuchet MS"/>
              </a:rPr>
              <a:t>una</a:t>
            </a:r>
            <a:r>
              <a:rPr dirty="0" sz="2650" spc="-3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65">
                <a:solidFill>
                  <a:srgbClr val="F4E7E7"/>
                </a:solidFill>
                <a:latin typeface="Trebuchet MS"/>
                <a:cs typeface="Trebuchet MS"/>
              </a:rPr>
              <a:t>ventana</a:t>
            </a:r>
            <a:r>
              <a:rPr dirty="0" sz="2650" spc="-3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>
                <a:solidFill>
                  <a:srgbClr val="F4E7E7"/>
                </a:solidFill>
                <a:latin typeface="Trebuchet MS"/>
                <a:cs typeface="Trebuchet MS"/>
              </a:rPr>
              <a:t>real</a:t>
            </a:r>
            <a:r>
              <a:rPr dirty="0" sz="2650" spc="-4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85">
                <a:solidFill>
                  <a:srgbClr val="F4E7E7"/>
                </a:solidFill>
                <a:latin typeface="Trebuchet MS"/>
                <a:cs typeface="Trebuchet MS"/>
              </a:rPr>
              <a:t>de</a:t>
            </a:r>
            <a:r>
              <a:rPr dirty="0" sz="2650" spc="-3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120">
                <a:solidFill>
                  <a:srgbClr val="F4E7E7"/>
                </a:solidFill>
                <a:latin typeface="Trebuchet MS"/>
                <a:cs typeface="Trebuchet MS"/>
              </a:rPr>
              <a:t>2</a:t>
            </a:r>
            <a:r>
              <a:rPr dirty="0" sz="2650" spc="-3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80">
                <a:solidFill>
                  <a:srgbClr val="F4E7E7"/>
                </a:solidFill>
                <a:latin typeface="Trebuchet MS"/>
                <a:cs typeface="Trebuchet MS"/>
              </a:rPr>
              <a:t>a</a:t>
            </a:r>
            <a:r>
              <a:rPr dirty="0" sz="2650" spc="-4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120">
                <a:solidFill>
                  <a:srgbClr val="F4E7E7"/>
                </a:solidFill>
                <a:latin typeface="Trebuchet MS"/>
                <a:cs typeface="Trebuchet MS"/>
              </a:rPr>
              <a:t>4</a:t>
            </a:r>
            <a:r>
              <a:rPr dirty="0" sz="2650" spc="-3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140">
                <a:solidFill>
                  <a:srgbClr val="F4E7E7"/>
                </a:solidFill>
                <a:latin typeface="Trebuchet MS"/>
                <a:cs typeface="Trebuchet MS"/>
              </a:rPr>
              <a:t>semanas</a:t>
            </a:r>
            <a:r>
              <a:rPr dirty="0" sz="2650" spc="-40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90">
                <a:solidFill>
                  <a:srgbClr val="F4E7E7"/>
                </a:solidFill>
                <a:latin typeface="Trebuchet MS"/>
                <a:cs typeface="Trebuchet MS"/>
              </a:rPr>
              <a:t>para</a:t>
            </a:r>
            <a:r>
              <a:rPr dirty="0" sz="2650" spc="-3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>
                <a:solidFill>
                  <a:srgbClr val="F4E7E7"/>
                </a:solidFill>
                <a:latin typeface="Trebuchet MS"/>
                <a:cs typeface="Trebuchet MS"/>
              </a:rPr>
              <a:t>salvar</a:t>
            </a:r>
            <a:r>
              <a:rPr dirty="0" sz="2650" spc="-35">
                <a:solidFill>
                  <a:srgbClr val="F4E7E7"/>
                </a:solidFill>
                <a:latin typeface="Trebuchet MS"/>
                <a:cs typeface="Trebuchet MS"/>
              </a:rPr>
              <a:t> </a:t>
            </a:r>
            <a:r>
              <a:rPr dirty="0" sz="2650" spc="-10">
                <a:solidFill>
                  <a:srgbClr val="F4E7E7"/>
                </a:solidFill>
                <a:latin typeface="Trebuchet MS"/>
                <a:cs typeface="Trebuchet MS"/>
              </a:rPr>
              <a:t>vidas.</a:t>
            </a:r>
            <a:endParaRPr sz="26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63389" y="7362766"/>
            <a:ext cx="6961505" cy="732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600" spc="-45" b="1">
                <a:solidFill>
                  <a:srgbClr val="F4E7E7"/>
                </a:solidFill>
                <a:latin typeface="Tahoma"/>
                <a:cs typeface="Tahoma"/>
              </a:rPr>
              <a:t>¡Gracias</a:t>
            </a:r>
            <a:r>
              <a:rPr dirty="0" sz="4600" spc="-90" b="1">
                <a:solidFill>
                  <a:srgbClr val="F4E7E7"/>
                </a:solidFill>
                <a:latin typeface="Tahoma"/>
                <a:cs typeface="Tahoma"/>
              </a:rPr>
              <a:t> </a:t>
            </a:r>
            <a:r>
              <a:rPr dirty="0" sz="4600" b="1">
                <a:solidFill>
                  <a:srgbClr val="F4E7E7"/>
                </a:solidFill>
                <a:latin typeface="Tahoma"/>
                <a:cs typeface="Tahoma"/>
              </a:rPr>
              <a:t>por</a:t>
            </a:r>
            <a:r>
              <a:rPr dirty="0" sz="4600" spc="-85" b="1">
                <a:solidFill>
                  <a:srgbClr val="F4E7E7"/>
                </a:solidFill>
                <a:latin typeface="Tahoma"/>
                <a:cs typeface="Tahoma"/>
              </a:rPr>
              <a:t> </a:t>
            </a:r>
            <a:r>
              <a:rPr dirty="0" sz="4600" spc="-254" b="1">
                <a:solidFill>
                  <a:srgbClr val="F4E7E7"/>
                </a:solidFill>
                <a:latin typeface="Tahoma"/>
                <a:cs typeface="Tahoma"/>
              </a:rPr>
              <a:t>su</a:t>
            </a:r>
            <a:r>
              <a:rPr dirty="0" sz="4600" spc="-85" b="1">
                <a:solidFill>
                  <a:srgbClr val="F4E7E7"/>
                </a:solidFill>
                <a:latin typeface="Tahoma"/>
                <a:cs typeface="Tahoma"/>
              </a:rPr>
              <a:t> </a:t>
            </a:r>
            <a:r>
              <a:rPr dirty="0" sz="4600" spc="-175" b="1">
                <a:solidFill>
                  <a:srgbClr val="F4E7E7"/>
                </a:solidFill>
                <a:latin typeface="Tahoma"/>
                <a:cs typeface="Tahoma"/>
              </a:rPr>
              <a:t>atención!</a:t>
            </a:r>
            <a:endParaRPr sz="4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Mavi</dc:creator>
  <cp:keywords>DAHPTM6KglU,BAHI8qzJX1Y</cp:keywords>
  <dc:title>Presentation: ECOS - Early Control and Observation System </dc:title>
  <dcterms:created xsi:type="dcterms:W3CDTF">2026-07-14T02:58:01Z</dcterms:created>
  <dcterms:modified xsi:type="dcterms:W3CDTF">2026-07-14T02:58:01Z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2026-07-14T00:00:00Z</vt:filetime>
  </property>
  <property fmtid="{D5CDD505-2E9C-101B-9397-08002B2CF9AE}" pid="3" name="Creator">
    <vt:lpwstr>Canva</vt:lpwstr>
  </property>
  <property fmtid="{D5CDD505-2E9C-101B-9397-08002B2CF9AE}" pid="4" name="LastSaved">
    <vt:filetime>2026-07-14T00:00:00Z</vt:filetime>
  </property>
  <property fmtid="{D5CDD505-2E9C-101B-9397-08002B2CF9AE}" pid="5" name="Producer">
    <vt:lpwstr>Canva</vt:lpwstr>
  </property>
</Properties>
</file>